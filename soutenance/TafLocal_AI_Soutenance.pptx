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19"/>
  </p:notesMasterIdLst>
  <p:sldIdLst>
    <p:sldId id="263" r:id="rId2"/>
    <p:sldId id="264" r:id="rId3"/>
    <p:sldId id="256" r:id="rId4"/>
    <p:sldId id="257" r:id="rId5"/>
    <p:sldId id="266" r:id="rId6"/>
    <p:sldId id="258" r:id="rId7"/>
    <p:sldId id="273" r:id="rId8"/>
    <p:sldId id="274" r:id="rId24"/>
    <p:sldId id="275" r:id="rId25"/>
    <p:sldId id="259" r:id="rId9"/>
    <p:sldId id="272" r:id="rId10"/>
    <p:sldId id="267" r:id="rId11"/>
    <p:sldId id="268" r:id="rId12"/>
    <p:sldId id="271" r:id="rId13"/>
    <p:sldId id="269" r:id="rId14"/>
    <p:sldId id="270" r:id="rId15"/>
    <p:sldId id="260" r:id="rId16"/>
    <p:sldId id="277" r:id="rId27"/>
    <p:sldId id="276" r:id="rId26"/>
    <p:sldId id="261"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FFFF"/>
    <a:srgbClr val="DFF5FC"/>
    <a:srgbClr val="BFEAF9"/>
    <a:srgbClr val="7CB5E0"/>
    <a:srgbClr val="17B0E4"/>
    <a:srgbClr val="2E83C3"/>
    <a:srgbClr val="97D2FF"/>
    <a:srgbClr val="0096C7"/>
    <a:srgbClr val="48C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3" autoAdjust="0"/>
    <p:restoredTop sz="94280" autoAdjust="0"/>
  </p:normalViewPr>
  <p:slideViewPr>
    <p:cSldViewPr snapToGrid="0">
      <p:cViewPr varScale="1">
        <p:scale>
          <a:sx n="74" d="100"/>
          <a:sy n="74" d="100"/>
        </p:scale>
        <p:origin x="708" y="-162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66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9.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B4C8C-A5CC-423B-8A68-1BE91A94AE94}" type="datetimeFigureOut">
              <a:rPr lang="en-US" smtClean="0"/>
              <a:t>9/23/2023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AAC0E-F555-4AF8-99D0-E66724A63304}" type="slidenum">
              <a:rPr lang="en-US" smtClean="0"/>
              <a:t>‹N°›</a:t>
            </a:fld>
            <a:endParaRPr lang="en-US"/>
          </a:p>
        </p:txBody>
      </p:sp>
    </p:spTree>
    <p:extLst>
      <p:ext uri="{BB962C8B-B14F-4D97-AF65-F5344CB8AC3E}">
        <p14:creationId xmlns:p14="http://schemas.microsoft.com/office/powerpoint/2010/main" val="123835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de titre – environ 0:52]</a:t>
            </a:r>
          </a:p>
          <a:p>
            <a:r>
              <a:t>Mesdames et Messieurs les membres du jury, bonjour. Je m'appelle KOUOTOU NJOYA Thierry Rollin, étudiant en niveau trois, option Génie Logiciel, à l'Institut Africain d'Informatique. J'ai l'honneur de vous présenter mon travail de fin de stage, réalisé du premier juillet au trente septembre 2026 chez LANX Entreprise. Il porte sur la conception et la réalisation d'une plateforme intelligente de recrutement et d'employabilité basée sur l'intelligence artificielle, que nous avons appelée TafLocal AI. Ce travail a été encadré, sur le plan académique, par Monsieur TCHAKOUTIO Ludovic, et sur le plan professionnel, par Monsieur KAMGANG Arold. Je les remercie, ainsi que vous, pour votre présence.</a:t>
            </a:r>
          </a:p>
        </p:txBody>
      </p:sp>
      <p:sp>
        <p:nvSpPr>
          <p:cNvPr id="4" name="Slide Number Placeholder 3"/>
          <p:cNvSpPr>
            <a:spLocks noGrp="1"/>
          </p:cNvSpPr>
          <p:nvPr>
            <p:ph type="sldNum" sz="quarter" idx="5"/>
          </p:nvPr>
        </p:nvSpPr>
        <p:spPr/>
        <p:txBody>
          <a:bodyPr/>
          <a:lstStyle/>
          <a:p>
            <a:fld id="{954AAC0E-F555-4AF8-99D0-E66724A63304}" type="slidenum">
              <a:rPr lang="en-US" smtClean="0"/>
              <a:t>1</a:t>
            </a:fld>
            <a:endParaRPr lang="en-US"/>
          </a:p>
        </p:txBody>
      </p:sp>
    </p:spTree>
    <p:extLst>
      <p:ext uri="{BB962C8B-B14F-4D97-AF65-F5344CB8AC3E}">
        <p14:creationId xmlns:p14="http://schemas.microsoft.com/office/powerpoint/2010/main" val="3652450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[Contexte – environ 1:05]</a:t>
            </a:r>
          </a:p>
          <a:p>
            <a:r>
              <a:t>Parlons maintenant du contexte. Au Cameroun, de nombreux jeunes sortent chaque année des écoles avec de réelles compétences. Pourtant, selon l'enquête EESI3 de l'Institut National de la Statistique, plus de huit emplois sur dix relèvent du secteur informel, environ sept actifs sur dix sont en sous-emploi, et seulement trente-neuf pour cent des jeunes de quinze à trente-quatre ans ont un emploi. De leur côté, les entreprises reçoivent beaucoup de candidatures peu adaptées à leurs besoins. Le problème n'est donc pas seulement le manque d'offres : c'est aussi le manque d'accompagnement des candidats. Beaucoup ne savent pas mettre en valeur leur CV, postulent à des offres qui ne leur correspondent pas, et arrivent mal préparés aux entretiens. Les recruteurs, eux, perdent un temps précieux à trier les dossiers.</a:t>
            </a:r>
          </a:p>
        </p:txBody>
      </p:sp>
      <p:sp>
        <p:nvSpPr>
          <p:cNvPr id="4" name="Slide Number Placeholder 3"/>
          <p:cNvSpPr>
            <a:spLocks noGrp="1"/>
          </p:cNvSpPr>
          <p:nvPr>
            <p:ph type="sldNum" sz="quarter" idx="10"/>
          </p:nvPr>
        </p:nvSpPr>
        <p:spPr/>
        <p:txBody>
          <a:bodyPr/>
          <a:lstStyle/>
          <a:p>
            <a:fld id="{954AAC0E-F555-4AF8-99D0-E66724A63304}" type="slidenum">
              <a:rPr lang="en-US" smtClean="0"/>
              <a:t>4</a:t>
            </a:fld>
            <a:endParaRPr lang="en-US"/>
          </a:p>
        </p:txBody>
      </p:sp>
    </p:spTree>
    <p:extLst>
      <p:ext uri="{BB962C8B-B14F-4D97-AF65-F5344CB8AC3E}">
        <p14:creationId xmlns:p14="http://schemas.microsoft.com/office/powerpoint/2010/main" val="4129780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[Remerciements – environ 0:10]</a:t>
            </a:r>
          </a:p>
          <a:p>
            <a:r>
              <a:t>Je vous remercie pour votre attention. Je reste à votre disposition pour répondre à vos questions et recevoir vos remarques.</a:t>
            </a:r>
          </a:p>
        </p:txBody>
      </p:sp>
      <p:sp>
        <p:nvSpPr>
          <p:cNvPr id="4" name="Slide Number Placeholder 3"/>
          <p:cNvSpPr>
            <a:spLocks noGrp="1"/>
          </p:cNvSpPr>
          <p:nvPr>
            <p:ph type="sldNum" sz="quarter" idx="5"/>
          </p:nvPr>
        </p:nvSpPr>
        <p:spPr/>
        <p:txBody>
          <a:bodyPr/>
          <a:lstStyle/>
          <a:p>
            <a:fld id="{954AAC0E-F555-4AF8-99D0-E66724A63304}" type="slidenum">
              <a:rPr lang="en-US" smtClean="0"/>
              <a:t>17</a:t>
            </a:fld>
            <a:endParaRPr lang="en-US"/>
          </a:p>
        </p:txBody>
      </p:sp>
    </p:spTree>
    <p:extLst>
      <p:ext uri="{BB962C8B-B14F-4D97-AF65-F5344CB8AC3E}">
        <p14:creationId xmlns:p14="http://schemas.microsoft.com/office/powerpoint/2010/main" val="759010627"/>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 environ 0:30]</a:t>
            </a:r>
          </a:p>
          <a:p>
            <a:r>
              <a:t>Pour vous présenter ce travail, j'ai organisé mon exposé en six étapes. Je commencerai par une courte introduction sur la structure d'accueil. Ensuite, je présenterai le contexte et la problématique, puis la solution proposée. Je passerai à la méthodologie de conception, avant de montrer les tests et les résultats. Enfin, je terminerai par la conclusion et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LANX Entreprise – environ 0:59]</a:t>
            </a:r>
          </a:p>
          <a:p>
            <a:r>
              <a:t>Mon stage s'est déroulé chez LANX Entreprise, une start-up créée en avril 2024, dont la devise est « Façonner l'Idéal ». Elle se situe à environ deux cents mètres du carrefour Acacias, à Yaoundé. Comme le montre l'organigramme, la Direction générale coordonne un secrétariat général, une direction administrative et financière, et une direction technique. J'ai été accueilli le premier jour par le directeur général, puis confié à mon encadrant professionnel, qui m'a présenté les projets en cours et m'a attribué ce thème. J'ai travaillé au département informatique, au sein de la direction technique. LANX propose plusieurs services : le développement web et mobile, le génie civil, les installations électriques, les formations certifiantes, ainsi que la robotique.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[Problématique – environ 0:41]</a:t>
            </a:r>
          </a:p>
          <a:p>
            <a:r>
              <a:t>Les plateformes existantes, comme LinkedIn, Indeed, Jobberman ou Talent point com, publient des offres, mais accompagnent peu les candidats. Elles analysent rarement le CV, recommandent parfois des offres peu adaptées, et ne préparent pas aux entretiens. Les fonctions avancées sont souvent payantes, et peu pensées pour un débutant sans expérience. D'où notre question centrale : comment concevoir une plateforme intelligente qui aide les jeunes diplômés à valoriser leur profil, à trouver les bonnes offres, et à se préparer aux entretiens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de solution – environ 0:41]</a:t>
            </a:r>
          </a:p>
          <a:p>
            <a:r>
              <a:t>Pour répondre à cette question, nous avons conçu TafLocal AI. C'est une plateforme web de recrutement et d'employabilité, assistée par une intelligence artificielle entièrement interne. Elle s'adresse à deux publics. D'un côté, les chercheurs d'emploi et les étudiants, qui veulent trouver un emploi ou un stage et s'y préparer. De l'autre, les entreprises et les recruteurs, qui veulent publier des offres et recevoir des candidatures plus pertinentes. Un administrateur vérifie aussi chaque entreprise, grâce à son numéro RCCM, avant toute activité.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[Fonctionnalités clés – environ 0:46]</a:t>
            </a:r>
          </a:p>
          <a:p>
            <a:r>
              <a:t>La plateforme repose sur quatre fonctionnalités principales. Premièrement, l'analyse de CV : le candidat dépose son CV, et l'IA détecte ses compétences, ses points forts et ce qui lui manque. Deuxièmement, le matching intelligent : chaque offre reçoit un score de compatibilité avec le profil, accompagné d'une explication. Troisièmement, la lettre de motivation : elle est générée à partir du profil et de l'offre, puis le candidat peut la modifier. Quatrièmement, la simulation d'entretien : l'IA pose des questions adaptées au poste, évalue chaque réponse, et donne des conseils pour progresser.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IA – environ 1:26]</a:t>
            </a:r>
          </a:p>
          <a:p>
            <a:r>
              <a:t>Le cœur du projet est le module d'intelligence artificielle. Son premier point fort : il est cent pour cent interne. Il n'utilise aucune API externe et aucune clé payante, ce qui protège les données des utilisateurs. Il s'appuie sur un référentiel de cent cinquante-huit compétences avec leurs synonymes. Le score de compatibilité, de zéro à cent, combine cinq critères : les compétences comptent pour quarante-cinq pour cent, l'expérience pour vingt pour cent, la proximité du vocabulaire pour quinze pour cent, puis la localisation et la formation pour dix pour cent chacune. Si un critère n'est pas renseigné, il est exclu, et son poids est réparti sur les autres. Chaque score est toujours expliqué en français. Pour la simulation d'entretien, chaque réponse est notée selon cinq critères : les mots-clés attendus, la pertinence, la structure selon la méthode STAR, c'est-à-dire Situation, Tâche, Action, Résultat, la présence d'exemples concrets, et la longueur. Enfin, les scores sont gardés en mémoire, et recalculés automatiquement dès que le profil, le CV ou l'offre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[Planification et coût – environ 0:36]</a:t>
            </a:r>
          </a:p>
          <a:p>
            <a:r>
              <a:t>Le projet a été planifié sur douze semaines, comme le montre ce diagramme de Gantt : étude de l'existant, conception, développement du frontend, du backend et du module IA, puis tests et déploiement. L'équipe prévue compte six intervenants : un chef de projet, quatre développeurs et un testeur. Le coût total estimé s'élève à dix millions trois cent quinze mille cinq cents francs CFA, imprévus de quinze pour cent compris.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d'analyse – environ 0:41]</a:t>
            </a:r>
          </a:p>
          <a:p>
            <a:r>
              <a:t>Passons à la méthodologie. Après une comparaison avec la méthode MERISE, nous avons choisi le langage UML, parce qu'il relie les données et les traitements, et qu'il est adapté aux systèmes orientés objet. Nous l'avons associé au processus 2TUP, ou processus en Y. Il sépare la branche fonctionnelle, c'est-à-dire les besoins, et la branche technique, c'est-à-dire l'architecture, avant de les réunir lors de la réalisation. Cette démarche itérative nous a permis de valider chaque étape avant de passer à la suivante.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[Diagramme de cas d'utilisation – environ 0:30]</a:t>
            </a:r>
          </a:p>
          <a:p>
            <a:r>
              <a:t>Voici le diagramme de cas d'utilisation global. Il montre les acteurs du système : le visiteur, le candidat, le recruteur et l'administrateur, ainsi que le module IA. Le candidat gère son profil, dépose son CV et postule. Le recruteur publie des offres, gère les candidatures et planifie les entretiens. L'administrateur supervise la plateforme. Toutes ces actions passent par l'authentification.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[Diagramme de séquence – environ 0:23]</a:t>
            </a:r>
          </a:p>
          <a:p>
            <a:r>
              <a:t>Ce diagramme de séquence décrit le cas « planifier un entretien ». Le recruteur consulte les candidats présélectionnés. Si la liste est vide, le système l'informe. Sinon, il choisit un candidat, remplit le formulaire, et le système vérifie les champs, enregistre l'entretien, puis confirme l'envoi.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[Diagramme d'activité – environ 0:18]</a:t>
            </a:r>
          </a:p>
          <a:p>
            <a:r>
              <a:t>Le diagramme d'activité détaille le cas « sélectionner une candidature ». On y voit les actions de chaque acteur dans son couloir, les vérifications réalisées par le système, et le chemin suivi en cas d'erreur.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[Diagramme de classe – environ 0:22]</a:t>
            </a:r>
          </a:p>
          <a:p>
            <a:r>
              <a:t>Le diagramme de classes présente la structure du système. On retrouve la classe Utilisateur, spécialisée en Candidat, Recruteur et Administrateur. Autour d'elles, on trouve les classes CV, Offre, Candidature, Entretien, Entreprise, Notification, ainsi que les classes de l'IA, comme Analyse IA et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 environ 0:48]</a:t>
            </a:r>
          </a:p>
          <a:p>
            <a:r>
              <a:t>Côté architecture, la plateforme suit un modèle client-serveur, en trois couches. La couche présentation est développée avec React et TypeScript. La couche métier utilise Django REST Framework, et contient le module IA. La couche données repose sur PostgreSQL. Le diagramme de déploiement, à gauche, montre le navigateur, le serveur d'application, le serveur de base de données et le serveur d'e-mails. Le diagramme de composants, à droite, montre comment ces parties communiquent. Les CV et les certificats des entreprises sont conservés dans un espace privé du serveur, et toutes les données restent sur notre propre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[Outils utilisés – environ 0:28]</a:t>
            </a:r>
          </a:p>
          <a:p>
            <a:r>
              <a:t>Pour réaliser ce projet, nous avons utilisé React, TypeScript, Vite et Tailwind CSS pour l'interface. Django REST Framework et Python pour le serveur et l'intelligence artificielle. PostgreSQL pour la base de données. Et enfin Git et GitHub pour gérer les versions du code. L'authentification est sécurisée par des jetons JWT, stockés dans des cookies protégés.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 environ 1:27]</a:t>
            </a:r>
          </a:p>
          <a:p>
            <a:r>
              <a:t>Je vous propose maintenant une courte démonstration de l'application. Je me connecte d'abord en tant que candidat. J'arrive sur le tableau de bord, avec les offres à la une et leur score de compatibilité. Je dépose mon CV : en quelques secondes, l'IA me donne un score, les compétences détectées, celles qui me manquent, et des recommandations. Je consulte ensuite les offres recommandées, classées par compatibilité, avec une explication pour chacune. Je postule à une offre, et je génère une lettre de motivation adaptée, que je peux modifier. Puis je lance une simulation d'entretien : je réponds aux questions, et j'obtiens un score global, mes points forts et des conseils. Enfin, côté entreprise, le recruteur crée une offre d'emploi ou de stage. La plateforme lui suggère même les compétences requises à partir de la description. Il voit ensuite les candidatures reçues, classées à titre indicatif par compatibilité, télécharge les CV et met à jour leur statut ; le candidat est alors notifié. L'administrateur, lui, valide les entreprises et suit les statistiques.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[Résultats des tests – environ 0:46]</a:t>
            </a:r>
          </a:p>
          <a:p>
            <a:r>
              <a:t>Pour vérifier la qualité de la plateforme, nous avons mené deux types de tests. D'abord, onze tests fonctionnels, de la création de compte jusqu'à la déconnexion : tous ont réussi. Ensuite, une suite de cent quatre-vingt-quinze tests automatisés, écrite avec pytest. Elle couvre le module IA, l'API, les permissions et la sécurité. Les cent quatre-vingt-quinze tests passent. Les quatre fonctions d'IA sont donc validées : l'analyse de CV, le calcul de compatibilité, la lettre de motivation et la simulation d'entretien. Ces résultats confirment que la plateforme répond au cahier des charges.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[Aperçu de l'application – environ 0:22]</a:t>
            </a:r>
          </a:p>
          <a:p>
            <a:r>
              <a:t>Voici quelques écrans de l'application. En haut, le tableau de bord du candidat, et le résultat de l'analyse de son CV. En bas, le bilan d'une simulation d'entretien, et la liste des candidatures reçues par l'entreprise. L'interface est moderne, claire et facile à utiliser.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et perspectives – environ 1:07]</a:t>
            </a:r>
          </a:p>
          <a:p>
            <a:r>
              <a:t>Pour conclure, nous avons conçu et réalisé TafLocal AI, une plateforme qui rapproche les jeunes diplômés des recruteurs grâce à une intelligence artificielle cent pour cent interne. Elle analyse les CV, calcule la compatibilité avec les offres, génère des lettres de motivation et prépare aux entretiens. Ce stage m'a permis de mettre en pratique mes trois années de formation, en analyse, en conception, en développement web, en bases de données et en intelligence artificielle. Il m'a aussi appris la rigueur, le travail en équipe et la discipline du monde professionnel. Plusieurs perspectives restent ouvertes : des entretiens à distance par visioconférence, des recommandations par apprentissage automatique, une application mobile, et des tableaux de bord plus complets. À terme, TafLocal AI pourrait devenir une solution durable au Cameroun, puis ailleurs en Afrique.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399748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295893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3391136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2B11E0-F6F3-407F-9638-AC6FC76E49AD}"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129526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2B11E0-F6F3-407F-9638-AC6FC76E49AD}" type="datetimeFigureOut">
              <a:rPr lang="en-US" smtClean="0"/>
              <a:t>9/23/2023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310845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2B11E0-F6F3-407F-9638-AC6FC76E49AD}" type="datetimeFigureOut">
              <a:rPr lang="en-US" smtClean="0"/>
              <a:t>9/23/2023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2346921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2B11E0-F6F3-407F-9638-AC6FC76E49AD}" type="datetimeFigureOut">
              <a:rPr lang="en-US" smtClean="0"/>
              <a:t>9/23/2023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110668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2B11E0-F6F3-407F-9638-AC6FC76E49AD}"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1055404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C91CDE-D50C-45E2-AC33-F8AF9E8BEE29}" type="slidenum">
              <a:rPr lang="en-US" smtClean="0"/>
              <a:t>‹N°›</a:t>
            </a:fld>
            <a:endParaRPr lang="en-US"/>
          </a:p>
        </p:txBody>
      </p:sp>
      <p:sp>
        <p:nvSpPr>
          <p:cNvPr id="5" name="Date Placeholder 4"/>
          <p:cNvSpPr>
            <a:spLocks noGrp="1"/>
          </p:cNvSpPr>
          <p:nvPr>
            <p:ph type="dt" sz="half" idx="10"/>
          </p:nvPr>
        </p:nvSpPr>
        <p:spPr/>
        <p:txBody>
          <a:bodyPr/>
          <a:lstStyle/>
          <a:p>
            <a:fld id="{792B11E0-F6F3-407F-9638-AC6FC76E49AD}" type="datetimeFigureOut">
              <a:rPr lang="en-US" smtClean="0"/>
              <a:t>9/23/2023</a:t>
            </a:fld>
            <a:endParaRPr lang="en-US"/>
          </a:p>
        </p:txBody>
      </p:sp>
    </p:spTree>
    <p:extLst>
      <p:ext uri="{BB962C8B-B14F-4D97-AF65-F5344CB8AC3E}">
        <p14:creationId xmlns:p14="http://schemas.microsoft.com/office/powerpoint/2010/main" val="189766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3146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20678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2552003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03445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931080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22824304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2B11E0-F6F3-407F-9638-AC6FC76E49AD}"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C91CDE-D50C-45E2-AC33-F8AF9E8BEE29}" type="slidenum">
              <a:rPr lang="en-US" smtClean="0"/>
              <a:t>‹N°›</a:t>
            </a:fld>
            <a:endParaRPr lang="en-US"/>
          </a:p>
        </p:txBody>
      </p:sp>
    </p:spTree>
    <p:extLst>
      <p:ext uri="{BB962C8B-B14F-4D97-AF65-F5344CB8AC3E}">
        <p14:creationId xmlns:p14="http://schemas.microsoft.com/office/powerpoint/2010/main" val="692476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92B11E0-F6F3-407F-9638-AC6FC76E49AD}" type="datetimeFigureOut">
              <a:rPr lang="en-US" smtClean="0"/>
              <a:t>9/23/2023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6C91CDE-D50C-45E2-AC33-F8AF9E8BEE29}" type="slidenum">
              <a:rPr lang="en-US" smtClean="0"/>
              <a:t>‹N°›</a:t>
            </a:fld>
            <a:endParaRPr lang="en-US"/>
          </a:p>
        </p:txBody>
      </p:sp>
    </p:spTree>
    <p:extLst>
      <p:ext uri="{BB962C8B-B14F-4D97-AF65-F5344CB8AC3E}">
        <p14:creationId xmlns:p14="http://schemas.microsoft.com/office/powerpoint/2010/main" val="11166733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jpg"/><Relationship Id="rId6" Type="http://schemas.openxmlformats.org/officeDocument/2006/relationships/hyperlink" Target="mailto:contact@iaicameroun.com" TargetMode="External"/><Relationship Id="rId7" Type="http://schemas.openxmlformats.org/officeDocument/2006/relationships/hyperlink" Target="mailto:interface.cmr@gmail.com" TargetMode="External"/><Relationship Id="rId8" Type="http://schemas.openxmlformats.org/officeDocument/2006/relationships/image" Target="../media/tl10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gif"/><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tl102.jpg"/><Relationship Id="rId13" Type="http://schemas.openxmlformats.org/officeDocument/2006/relationships/image" Target="../media/tl103.png"/><Relationship Id="rId14" Type="http://schemas.openxmlformats.org/officeDocument/2006/relationships/image" Target="../media/tl104.png"/><Relationship Id="rId15"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20.png"/><Relationship Id="rId10" Type="http://schemas.openxmlformats.org/officeDocument/2006/relationships/image" Target="../media/image21.gif"/><Relationship Id="rId11"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gif"/><Relationship Id="rId12" Type="http://schemas.openxmlformats.org/officeDocument/2006/relationships/image" Target="../media/tl105.jpg"/><Relationship Id="rId1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gif"/><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22.png"/><Relationship Id="rId11" Type="http://schemas.openxmlformats.org/officeDocument/2006/relationships/image" Target="../media/image26.png"/><Relationship Id="rId12" Type="http://schemas.openxmlformats.org/officeDocument/2006/relationships/image" Target="../media/image27.jpeg"/><Relationship Id="rId13" Type="http://schemas.openxmlformats.org/officeDocument/2006/relationships/image" Target="../media/image28.png"/><Relationship Id="rId14" Type="http://schemas.openxmlformats.org/officeDocument/2006/relationships/image" Target="../media/image29.jpg"/><Relationship Id="rId15" Type="http://schemas.openxmlformats.org/officeDocument/2006/relationships/image" Target="../media/image30.png"/><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 Id="rId19" Type="http://schemas.openxmlformats.org/officeDocument/2006/relationships/image" Target="../media/tl106.jpg"/><Relationship Id="rId20" Type="http://schemas.openxmlformats.org/officeDocument/2006/relationships/image" Target="../media/tl107.jpg"/><Relationship Id="rId21" Type="http://schemas.openxmlformats.org/officeDocument/2006/relationships/image" Target="../media/tl108.jpg"/><Relationship Id="rId22" Type="http://schemas.openxmlformats.org/officeDocument/2006/relationships/image" Target="../media/tl109.jpg"/><Relationship Id="rId23"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gif"/><Relationship Id="rId1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gif"/><Relationship Id="rId12" Type="http://schemas.openxmlformats.org/officeDocument/2006/relationships/image" Target="../media/tl110.png"/><Relationship Id="rId1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4.png"/><Relationship Id="rId10" Type="http://schemas.openxmlformats.org/officeDocument/2006/relationships/image" Target="../media/image35.gif"/><Relationship Id="rId11" Type="http://schemas.openxmlformats.org/officeDocument/2006/relationships/image" Target="../media/image36.jpg"/><Relationship Id="rId1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7.gif"/><Relationship Id="rId10" Type="http://schemas.openxmlformats.org/officeDocument/2006/relationships/image" Target="../media/tl111.jpg"/><Relationship Id="rId11"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7.gif"/><Relationship Id="rId10" Type="http://schemas.openxmlformats.org/officeDocument/2006/relationships/image" Target="../media/tl112.jpg"/><Relationship Id="rId11"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7.gif"/><Relationship Id="rId10" Type="http://schemas.openxmlformats.org/officeDocument/2006/relationships/image" Target="../media/tl113.jpg"/><Relationship Id="rId11"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7.gif"/><Relationship Id="rId10" Type="http://schemas.openxmlformats.org/officeDocument/2006/relationships/image" Target="../media/tl114.jpg"/><Relationship Id="rId11"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38.jpg"/><Relationship Id="rId10" Type="http://schemas.openxmlformats.org/officeDocument/2006/relationships/image" Target="../media/image39.jpg"/><Relationship Id="rId11" Type="http://schemas.openxmlformats.org/officeDocument/2006/relationships/image" Target="../media/tl115.jpg"/><Relationship Id="rId12" Type="http://schemas.openxmlformats.org/officeDocument/2006/relationships/image" Target="../media/tl116.jpg"/><Relationship Id="rId1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40.jp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jpg"/><Relationship Id="rId14" Type="http://schemas.openxmlformats.org/officeDocument/2006/relationships/image" Target="../media/image45.jpg"/><Relationship Id="rId15" Type="http://schemas.openxmlformats.org/officeDocument/2006/relationships/image" Target="../media/image46.gif"/><Relationship Id="rId16" Type="http://schemas.openxmlformats.org/officeDocument/2006/relationships/image" Target="../media/image47.jpg"/><Relationship Id="rId17" Type="http://schemas.openxmlformats.org/officeDocument/2006/relationships/image" Target="../media/image48.jpg"/><Relationship Id="rId18" Type="http://schemas.openxmlformats.org/officeDocument/2006/relationships/image" Target="../media/tl117.png"/><Relationship Id="rId19" Type="http://schemas.openxmlformats.org/officeDocument/2006/relationships/image" Target="../media/tl118.png"/><Relationship Id="rId20" Type="http://schemas.openxmlformats.org/officeDocument/2006/relationships/image" Target="../media/tl119.png"/><Relationship Id="rId21" Type="http://schemas.openxmlformats.org/officeDocument/2006/relationships/image" Target="../media/tl120.png"/><Relationship Id="rId22" Type="http://schemas.openxmlformats.org/officeDocument/2006/relationships/image" Target="../media/tl121.png"/><Relationship Id="rId23" Type="http://schemas.openxmlformats.org/officeDocument/2006/relationships/image" Target="../media/tl122.png"/><Relationship Id="rId24" Type="http://schemas.openxmlformats.org/officeDocument/2006/relationships/image" Target="../media/tl123.png"/><Relationship Id="rId25" Type="http://schemas.openxmlformats.org/officeDocument/2006/relationships/image" Target="../media/tl124.png"/><Relationship Id="rId26" Type="http://schemas.openxmlformats.org/officeDocument/2006/relationships/image" Target="../media/tl125.png"/><Relationship Id="rId27"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49.png"/><Relationship Id="rId10"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49.png"/><Relationship Id="rId10"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49.png"/><Relationship Id="rId10" Type="http://schemas.openxmlformats.org/officeDocument/2006/relationships/image" Target="../media/tl126.jpg"/><Relationship Id="rId11" Type="http://schemas.openxmlformats.org/officeDocument/2006/relationships/image" Target="../media/tl127.jpg"/><Relationship Id="rId12" Type="http://schemas.openxmlformats.org/officeDocument/2006/relationships/image" Target="../media/tl128.jpg"/><Relationship Id="rId13" Type="http://schemas.openxmlformats.org/officeDocument/2006/relationships/image" Target="../media/tl129.jpg"/><Relationship Id="rId14"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50.gif"/><Relationship Id="rId11" Type="http://schemas.openxmlformats.org/officeDocument/2006/relationships/image" Target="../media/image51.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B1CD9F-EDFA-45F6-96FB-19E06EA7A520}"/>
              </a:ext>
            </a:extLst>
          </p:cNvPr>
          <p:cNvSpPr/>
          <p:nvPr/>
        </p:nvSpPr>
        <p:spPr>
          <a:xfrm>
            <a:off x="-3360605" y="-2224340"/>
            <a:ext cx="19211561" cy="9687464"/>
          </a:xfrm>
          <a:prstGeom prst="rect">
            <a:avLst/>
          </a:prstGeom>
          <a:blipFill dpi="0" rotWithShape="1">
            <a:blip r:embed="rId3">
              <a:alphaModFix amt="17000"/>
              <a:extLst>
                <a:ext uri="{BEBA8EAE-BF5A-486C-A8C5-ECC9F3942E4B}">
                  <a14:imgProps xmlns:a14="http://schemas.microsoft.com/office/drawing/2010/main">
                    <a14:imgLayer r:embed="rId4">
                      <a14:imgEffect>
                        <a14:sharpenSoften amount="-100000"/>
                      </a14:imgEffect>
                      <a14:imgEffect>
                        <a14:colorTemperature colorTemp="11500"/>
                      </a14:imgEffect>
                      <a14:imgEffect>
                        <a14:saturation sat="70000"/>
                      </a14:imgEffect>
                    </a14:imgLayer>
                  </a14:imgProps>
                </a:ext>
                <a:ext uri="{28A0092B-C50C-407E-A947-70E740481C1C}">
                  <a14:useLocalDpi xmlns:a14="http://schemas.microsoft.com/office/drawing/2010/main" val="0"/>
                </a:ext>
              </a:extLst>
            </a:blip>
            <a:srcRect/>
            <a:stretch>
              <a:fillRect/>
            </a:stretch>
          </a:blipFill>
          <a:effectLst>
            <a:glow>
              <a:schemeClr val="accent1">
                <a:alpha val="0"/>
              </a:schemeClr>
            </a:glow>
            <a:outerShdw blurRad="1270000" sx="200000" sy="200000" algn="ctr" rotWithShape="0">
              <a:srgbClr val="000000"/>
            </a:outerShdw>
            <a:reflection blurRad="1270000" dir="5400000" sy="-100000" algn="bl" rotWithShape="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B74F7CFF-ABFF-4A61-BCDE-C89CD7BA91EA}"/>
              </a:ext>
            </a:extLst>
          </p:cNvPr>
          <p:cNvPicPr/>
          <p:nvPr/>
        </p:nvPicPr>
        <p:blipFill>
          <a:blip r:embed="rId5">
            <a:extLst>
              <a:ext uri="{28A0092B-C50C-407E-A947-70E740481C1C}">
                <a14:useLocalDpi xmlns:a14="http://schemas.microsoft.com/office/drawing/2010/main" val="0"/>
              </a:ext>
            </a:extLst>
          </a:blip>
          <a:stretch>
            <a:fillRect/>
          </a:stretch>
        </p:blipFill>
        <p:spPr>
          <a:xfrm>
            <a:off x="1193031" y="328894"/>
            <a:ext cx="1062990" cy="906780"/>
          </a:xfrm>
          <a:prstGeom prst="rect">
            <a:avLst/>
          </a:prstGeom>
        </p:spPr>
      </p:pic>
      <p:sp>
        <p:nvSpPr>
          <p:cNvPr id="7" name="Text Box 7">
            <a:extLst>
              <a:ext uri="{FF2B5EF4-FFF2-40B4-BE49-F238E27FC236}">
                <a16:creationId xmlns:a16="http://schemas.microsoft.com/office/drawing/2014/main" id="{511B288E-31D9-4110-9C3E-A0D854C3E2E3}"/>
              </a:ext>
            </a:extLst>
          </p:cNvPr>
          <p:cNvSpPr txBox="1">
            <a:spLocks noChangeArrowheads="1"/>
          </p:cNvSpPr>
          <p:nvPr/>
        </p:nvSpPr>
        <p:spPr bwMode="auto">
          <a:xfrm>
            <a:off x="96153" y="1280070"/>
            <a:ext cx="3416969" cy="2262605"/>
          </a:xfrm>
          <a:prstGeom prst="rect">
            <a:avLst/>
          </a:prstGeom>
          <a:noFill/>
          <a:ln w="9525">
            <a:noFill/>
            <a:miter lim="800000"/>
            <a:headEnd/>
            <a:tailEnd/>
          </a:ln>
        </p:spPr>
        <p:txBody>
          <a:bodyPr rot="0" vert="horz" wrap="square" lIns="91440" tIns="45720" rIns="91440" bIns="45720" anchor="t" anchorCtr="0" upright="1">
            <a:noAutofit/>
          </a:bodyPr>
          <a:lstStyle/>
          <a:p>
            <a:pPr marL="0" marR="0" algn="ctr">
              <a:lnSpc>
                <a:spcPct val="107000"/>
              </a:lnSpc>
              <a:spcBef>
                <a:spcPts val="0"/>
              </a:spcBef>
              <a:spcAft>
                <a:spcPts val="0"/>
              </a:spcAft>
            </a:pPr>
            <a:r>
              <a:rPr lang="en-AU" sz="1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AFRICAN INSTITUTE OF COMPUTER SCIENCES</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AU" sz="1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CAMEROON OFFICE</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AU" sz="1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PAUL BIYA TECHNOLOGICAL CENTER OF EXCELLENCE</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P.O BOX:13719 Yaoundé - Cameroun</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AU"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Tel: 242 72 99 57; Fax: 242 72 99 58</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fr-FR"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E-mail : </a:t>
            </a:r>
            <a:r>
              <a:rPr lang="fr-FR" sz="1400" u="sng"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xmlns="" val="tx"/>
                    </a:ext>
                  </a:extLst>
                </a:hlinkClick>
              </a:rPr>
              <a:t>contact@iaicameroun.com</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fr-FR"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Web Site : </a:t>
            </a:r>
            <a:r>
              <a:rPr lang="fr-FR" sz="1400" u="sng"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www.iaicameroun.com</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fr-FR" sz="900" b="1" dirty="0">
                <a:solidFill>
                  <a:srgbClr val="3B3838"/>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fr-FR"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fr-FR"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fr-FR" sz="9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Zone de texte 37">
            <a:extLst>
              <a:ext uri="{FF2B5EF4-FFF2-40B4-BE49-F238E27FC236}">
                <a16:creationId xmlns:a16="http://schemas.microsoft.com/office/drawing/2014/main" id="{923D412E-F6E5-4E97-8EF7-7E34D4391CD1}"/>
              </a:ext>
            </a:extLst>
          </p:cNvPr>
          <p:cNvSpPr txBox="1">
            <a:spLocks/>
          </p:cNvSpPr>
          <p:nvPr/>
        </p:nvSpPr>
        <p:spPr>
          <a:xfrm>
            <a:off x="8835749" y="1370251"/>
            <a:ext cx="3302618" cy="196796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fr-FR" sz="1400">
                <a:solidFill>
                  <a:schemeClr val="bg1"/>
                </a:solidFill>
              </a:rPr>
              <a:t>LANX ENTREPRISE</a:t>
            </a:r>
          </a:p>
          <a:p>
            <a:pPr algn="ctr"/>
            <a:r>
              <a:rPr lang="fr-FR" sz="1400">
                <a:solidFill>
                  <a:schemeClr val="bg1"/>
                </a:solidFill>
              </a:rPr>
              <a:t>« Façonner l'Idéal »</a:t>
            </a:r>
          </a:p>
          <a:p>
            <a:pPr algn="ctr"/>
            <a:r>
              <a:rPr lang="fr-FR" sz="1400">
                <a:solidFill>
                  <a:schemeClr val="bg1"/>
                </a:solidFill>
              </a:rPr>
              <a:t>BP : 151 Yaoundé – Cameroun</a:t>
            </a:r>
          </a:p>
          <a:p>
            <a:pPr algn="ctr"/>
            <a:r>
              <a:rPr lang="fr-FR" sz="1400">
                <a:solidFill>
                  <a:schemeClr val="bg1"/>
                </a:solidFill>
              </a:rPr>
              <a:t>Tél : +237 699 476 602</a:t>
            </a:r>
          </a:p>
          <a:p>
            <a:pPr algn="ctr"/>
            <a:r>
              <a:rPr lang="fr-FR" sz="1400">
                <a:solidFill>
                  <a:schemeClr val="bg1"/>
                </a:solidFill>
              </a:rPr>
              <a:t>Site web : www.lanxentreprise.com</a:t>
            </a:r>
          </a:p>
        </p:txBody>
      </p:sp>
      <p:sp>
        <p:nvSpPr>
          <p:cNvPr id="9" name="Rectangle: Rounded Corners 8">
            <a:extLst>
              <a:ext uri="{FF2B5EF4-FFF2-40B4-BE49-F238E27FC236}">
                <a16:creationId xmlns:a16="http://schemas.microsoft.com/office/drawing/2014/main" id="{F6D56D74-3A75-432E-BD97-7D5D6664CBF1}"/>
              </a:ext>
            </a:extLst>
          </p:cNvPr>
          <p:cNvSpPr/>
          <p:nvPr/>
        </p:nvSpPr>
        <p:spPr>
          <a:xfrm>
            <a:off x="3246120" y="2286000"/>
            <a:ext cx="6035040" cy="1298448"/>
          </a:xfrm>
          <a:prstGeom prst="roundRect">
            <a:avLst/>
          </a:prstGeom>
          <a:solidFill>
            <a:schemeClr val="accent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t>CONCEPTION ET RÉALISATION D'UNE PLATEFORME INTELLIGENTE DE RECRUTEMENT ET D'EMPLOYABILITÉ BASÉE SUR L'IA</a:t>
            </a:r>
          </a:p>
          <a:p>
            <a:pPr algn="ctr"/>
            <a:r>
              <a:rPr lang="fr-FR" sz="1600" b="1"/>
              <a:t>« TafLocal AI »</a:t>
            </a:r>
          </a:p>
        </p:txBody>
      </p:sp>
      <p:sp>
        <p:nvSpPr>
          <p:cNvPr id="10" name="TextBox 9">
            <a:extLst>
              <a:ext uri="{FF2B5EF4-FFF2-40B4-BE49-F238E27FC236}">
                <a16:creationId xmlns:a16="http://schemas.microsoft.com/office/drawing/2014/main" id="{F0BAB13C-DB71-4A3B-9489-FFA6309ED61D}"/>
              </a:ext>
            </a:extLst>
          </p:cNvPr>
          <p:cNvSpPr txBox="1"/>
          <p:nvPr/>
        </p:nvSpPr>
        <p:spPr>
          <a:xfrm>
            <a:off x="5642581" y="1768314"/>
            <a:ext cx="1598677" cy="492443"/>
          </a:xfrm>
          <a:prstGeom prst="rect">
            <a:avLst/>
          </a:prstGeom>
          <a:noFill/>
        </p:spPr>
        <p:txBody>
          <a:bodyPr wrap="square" rtlCol="0">
            <a:spAutoFit/>
          </a:bodyPr>
          <a:lstStyle/>
          <a:p>
            <a:r>
              <a:rPr lang="en-US" sz="2600" dirty="0">
                <a:solidFill>
                  <a:schemeClr val="bg1"/>
                </a:solidFill>
                <a:latin typeface="Times New Roman" panose="02020603050405020304" pitchFamily="18" charset="0"/>
                <a:cs typeface="Times New Roman" panose="02020603050405020304" pitchFamily="18" charset="0"/>
              </a:rPr>
              <a:t>THEME:</a:t>
            </a:r>
          </a:p>
        </p:txBody>
      </p:sp>
      <p:sp>
        <p:nvSpPr>
          <p:cNvPr id="11" name="TextBox 10">
            <a:extLst>
              <a:ext uri="{FF2B5EF4-FFF2-40B4-BE49-F238E27FC236}">
                <a16:creationId xmlns:a16="http://schemas.microsoft.com/office/drawing/2014/main" id="{4E6C9489-0D67-424D-8ECC-A6CC53F4AE2F}"/>
              </a:ext>
            </a:extLst>
          </p:cNvPr>
          <p:cNvSpPr txBox="1"/>
          <p:nvPr/>
        </p:nvSpPr>
        <p:spPr>
          <a:xfrm>
            <a:off x="3424846" y="1424227"/>
            <a:ext cx="6485159" cy="461665"/>
          </a:xfrm>
          <a:prstGeom prst="rect">
            <a:avLst/>
          </a:prstGeom>
          <a:noFill/>
        </p:spPr>
        <p:txBody>
          <a:bodyPr wrap="square" rtlCol="0">
            <a:spAutoFit/>
          </a:bodyPr>
          <a:lstStyle/>
          <a:p>
            <a:r>
              <a:rPr lang="en-US" sz="2400" dirty="0">
                <a:solidFill>
                  <a:srgbClr val="FFFF00"/>
                </a:solidFill>
                <a:latin typeface="Times New Roman" panose="02020603050405020304" pitchFamily="18" charset="0"/>
                <a:cs typeface="Times New Roman" panose="02020603050405020304" pitchFamily="18" charset="0"/>
              </a:rPr>
              <a:t>PRESENTATION DU RAPPORT DE STAGE</a:t>
            </a:r>
          </a:p>
        </p:txBody>
      </p:sp>
      <p:sp>
        <p:nvSpPr>
          <p:cNvPr id="12" name="TextBox 11">
            <a:extLst>
              <a:ext uri="{FF2B5EF4-FFF2-40B4-BE49-F238E27FC236}">
                <a16:creationId xmlns:a16="http://schemas.microsoft.com/office/drawing/2014/main" id="{8DF06E41-6CE6-49B3-A22F-434E8DB2F119}"/>
              </a:ext>
            </a:extLst>
          </p:cNvPr>
          <p:cNvSpPr txBox="1"/>
          <p:nvPr/>
        </p:nvSpPr>
        <p:spPr>
          <a:xfrm>
            <a:off x="2117558" y="4251158"/>
            <a:ext cx="3525023" cy="369332"/>
          </a:xfrm>
          <a:prstGeom prst="rect">
            <a:avLst/>
          </a:prstGeom>
          <a:noFill/>
        </p:spPr>
        <p:txBody>
          <a:bodyPr wrap="square" rtlCol="0">
            <a:spAutoFit/>
          </a:bodyPr>
          <a:lstStyle/>
          <a:p>
            <a:endParaRPr lang="en-US" dirty="0"/>
          </a:p>
        </p:txBody>
      </p:sp>
      <p:sp>
        <p:nvSpPr>
          <p:cNvPr id="13" name="TextBox 12">
            <a:extLst>
              <a:ext uri="{FF2B5EF4-FFF2-40B4-BE49-F238E27FC236}">
                <a16:creationId xmlns:a16="http://schemas.microsoft.com/office/drawing/2014/main" id="{0EE387BF-50E1-4240-843B-C23555A835C0}"/>
              </a:ext>
            </a:extLst>
          </p:cNvPr>
          <p:cNvSpPr txBox="1"/>
          <p:nvPr/>
        </p:nvSpPr>
        <p:spPr>
          <a:xfrm>
            <a:off x="1371600" y="3639312"/>
            <a:ext cx="9692640" cy="685800"/>
          </a:xfrm>
          <a:prstGeom prst="rect">
            <a:avLst/>
          </a:prstGeom>
          <a:noFill/>
        </p:spPr>
        <p:txBody>
          <a:bodyPr wrap="square" rtlCol="0">
            <a:spAutoFit/>
          </a:bodyPr>
          <a:lstStyle/>
          <a:p>
            <a:r>
              <a:rPr lang="fr-FR" sz="1300">
                <a:solidFill>
                  <a:schemeClr val="bg1"/>
                </a:solidFill>
              </a:rPr>
              <a:t>En vue de l'obtention du Diplôme d'Ingénieur des Travaux Informatiques (ITI) option Génie Logiciel.</a:t>
            </a:r>
          </a:p>
          <a:p>
            <a:r>
              <a:rPr lang="fr-FR" sz="1300">
                <a:solidFill>
                  <a:schemeClr val="bg1"/>
                </a:solidFill>
              </a:rPr>
              <a:t>Stage réalisé du 1er juillet au 30 septembre 2026</a:t>
            </a:r>
          </a:p>
        </p:txBody>
      </p:sp>
      <p:sp>
        <p:nvSpPr>
          <p:cNvPr id="14" name="TextBox 13">
            <a:extLst>
              <a:ext uri="{FF2B5EF4-FFF2-40B4-BE49-F238E27FC236}">
                <a16:creationId xmlns:a16="http://schemas.microsoft.com/office/drawing/2014/main" id="{D29A3858-2E20-4942-AE12-9191D1014D44}"/>
              </a:ext>
            </a:extLst>
          </p:cNvPr>
          <p:cNvSpPr txBox="1"/>
          <p:nvPr/>
        </p:nvSpPr>
        <p:spPr>
          <a:xfrm>
            <a:off x="2651760" y="4389120"/>
            <a:ext cx="7315200" cy="646331"/>
          </a:xfrm>
          <a:prstGeom prst="rect">
            <a:avLst/>
          </a:prstGeom>
          <a:noFill/>
        </p:spPr>
        <p:txBody>
          <a:bodyPr wrap="square" rtlCol="0">
            <a:spAutoFit/>
          </a:bodyPr>
          <a:lstStyle/>
          <a:p>
            <a:pPr algn="ctr"/>
            <a:r>
              <a:rPr lang="fr-FR" b="1" u="sng">
                <a:solidFill>
                  <a:schemeClr val="bg1"/>
                </a:solidFill>
                <a:highlight>
                  <a:srgbClr val="000000"/>
                </a:highlight>
              </a:rPr>
              <a:t>Rédigé par :</a:t>
            </a:r>
          </a:p>
          <a:p>
            <a:r>
              <a:rPr lang="fr-FR">
                <a:solidFill>
                  <a:schemeClr val="bg1"/>
                </a:solidFill>
              </a:rPr>
              <a:t>KOUOTOU NJOYA Thierry Rollin, étudiant en niveau III à l'IAI-Cameroun</a:t>
            </a:r>
          </a:p>
        </p:txBody>
      </p:sp>
      <p:sp>
        <p:nvSpPr>
          <p:cNvPr id="15" name="Zone de texte 2">
            <a:extLst>
              <a:ext uri="{FF2B5EF4-FFF2-40B4-BE49-F238E27FC236}">
                <a16:creationId xmlns:a16="http://schemas.microsoft.com/office/drawing/2014/main" id="{E36DFF28-D47F-4D7A-A07B-53A7FDF3D472}"/>
              </a:ext>
            </a:extLst>
          </p:cNvPr>
          <p:cNvSpPr txBox="1">
            <a:spLocks noChangeArrowheads="1"/>
          </p:cNvSpPr>
          <p:nvPr/>
        </p:nvSpPr>
        <p:spPr bwMode="auto">
          <a:xfrm>
            <a:off x="640080" y="5440680"/>
            <a:ext cx="3931920" cy="1097280"/>
          </a:xfrm>
          <a:prstGeom prst="rect">
            <a:avLst/>
          </a:prstGeom>
          <a:noFill/>
          <a:ln w="9525">
            <a:noFill/>
            <a:miter lim="800000"/>
            <a:headEnd/>
            <a:tailEnd/>
          </a:ln>
        </p:spPr>
        <p:txBody>
          <a:bodyPr rot="0" vert="horz" wrap="square" lIns="91440" tIns="45720" rIns="91440" bIns="45720" anchor="t" anchorCtr="0">
            <a:noAutofit/>
          </a:bodyPr>
          <a:lstStyle/>
          <a:p>
            <a:r>
              <a:rPr lang="fr-FR" b="1" u="sng" sz="1300">
                <a:solidFill>
                  <a:srgbClr val="FFFFFF"/>
                </a:solidFill>
              </a:rPr>
              <a:t>ENCADRANT ACADÉMIQUE</a:t>
            </a:r>
          </a:p>
          <a:p>
            <a:r>
              <a:rPr lang="fr-FR" b="1" sz="1300">
                <a:solidFill>
                  <a:srgbClr val="FFFFFF"/>
                </a:solidFill>
              </a:rPr>
              <a:t>M. TCHAKOUTIO Ludovic</a:t>
            </a:r>
          </a:p>
          <a:p>
            <a:r>
              <a:rPr lang="fr-FR" sz="1300">
                <a:solidFill>
                  <a:srgbClr val="FFFFFF"/>
                </a:solidFill>
              </a:rPr>
              <a:t>Enseignant à l'IAI-Cameroun</a:t>
            </a:r>
          </a:p>
        </p:txBody>
      </p:sp>
      <p:sp>
        <p:nvSpPr>
          <p:cNvPr id="16" name="Zone de texte 2">
            <a:extLst>
              <a:ext uri="{FF2B5EF4-FFF2-40B4-BE49-F238E27FC236}">
                <a16:creationId xmlns:a16="http://schemas.microsoft.com/office/drawing/2014/main" id="{81BFD721-7EBA-4542-B90C-69CEA6C7548F}"/>
              </a:ext>
            </a:extLst>
          </p:cNvPr>
          <p:cNvSpPr txBox="1">
            <a:spLocks noChangeArrowheads="1"/>
          </p:cNvSpPr>
          <p:nvPr/>
        </p:nvSpPr>
        <p:spPr bwMode="auto">
          <a:xfrm>
            <a:off x="7955280" y="5440680"/>
            <a:ext cx="4114800" cy="1097280"/>
          </a:xfrm>
          <a:prstGeom prst="rect">
            <a:avLst/>
          </a:prstGeom>
          <a:noFill/>
          <a:ln w="9525">
            <a:noFill/>
            <a:miter lim="800000"/>
            <a:headEnd/>
            <a:tailEnd/>
          </a:ln>
        </p:spPr>
        <p:txBody>
          <a:bodyPr rot="0" vert="horz" wrap="square" lIns="91440" tIns="45720" rIns="91440" bIns="45720" anchor="t" anchorCtr="0">
            <a:noAutofit/>
          </a:bodyPr>
          <a:lstStyle/>
          <a:p>
            <a:r>
              <a:rPr lang="fr-FR" b="1" u="sng" sz="1300">
                <a:solidFill>
                  <a:srgbClr val="FFFFFF"/>
                </a:solidFill>
              </a:rPr>
              <a:t>ENCADRANT PROFESSIONNEL</a:t>
            </a:r>
          </a:p>
          <a:p>
            <a:r>
              <a:rPr lang="fr-FR" b="1" sz="1300">
                <a:solidFill>
                  <a:srgbClr val="FFFFFF"/>
                </a:solidFill>
              </a:rPr>
              <a:t>M. KAMGANG Arold</a:t>
            </a:r>
          </a:p>
          <a:p>
            <a:r>
              <a:rPr lang="fr-FR" sz="1300">
                <a:solidFill>
                  <a:srgbClr val="FFFFFF"/>
                </a:solidFill>
              </a:rPr>
              <a:t>Chef département informatique, LANX</a:t>
            </a:r>
          </a:p>
        </p:txBody>
      </p:sp>
      <p:sp>
        <p:nvSpPr>
          <p:cNvPr id="17" name="TextBox 16">
            <a:extLst>
              <a:ext uri="{FF2B5EF4-FFF2-40B4-BE49-F238E27FC236}">
                <a16:creationId xmlns:a16="http://schemas.microsoft.com/office/drawing/2014/main" id="{6A33CB88-596B-43EF-870A-FE9BB05615D8}"/>
              </a:ext>
            </a:extLst>
          </p:cNvPr>
          <p:cNvSpPr txBox="1"/>
          <p:nvPr/>
        </p:nvSpPr>
        <p:spPr>
          <a:xfrm>
            <a:off x="4063450" y="5159407"/>
            <a:ext cx="4363453" cy="698653"/>
          </a:xfrm>
          <a:prstGeom prst="rect">
            <a:avLst/>
          </a:prstGeom>
          <a:noFill/>
        </p:spPr>
        <p:txBody>
          <a:bodyPr wrap="square" rtlCol="0">
            <a:spAutoFit/>
          </a:bodyPr>
          <a:lstStyle/>
          <a:p>
            <a:pPr algn="ctr">
              <a:lnSpc>
                <a:spcPct val="107000"/>
              </a:lnSpc>
            </a:pPr>
            <a:r>
              <a:rPr lang="fr-FR" b="1" u="sng" dirty="0">
                <a:solidFill>
                  <a:schemeClr val="bg1"/>
                </a:solidFill>
                <a:latin typeface="Times New Roman" panose="02020603050405020304" pitchFamily="18" charset="0"/>
                <a:cs typeface="Times New Roman" panose="02020603050405020304" pitchFamily="18" charset="0"/>
              </a:rPr>
              <a:t>Sous la supervision de </a:t>
            </a:r>
            <a:r>
              <a:rPr lang="en-AU" sz="2000" dirty="0">
                <a:solidFill>
                  <a:schemeClr val="bg1"/>
                </a:solidFill>
                <a:effectLst/>
                <a:latin typeface="Times New Roman" panose="02020603050405020304" pitchFamily="18" charset="0"/>
                <a:ea typeface="Segoe UI Black" panose="020B0A02040204020203" pitchFamily="34" charset="0"/>
                <a:cs typeface="Times New Roman" panose="02020603050405020304" pitchFamily="18" charset="0"/>
              </a:rPr>
              <a:t>:</a:t>
            </a:r>
            <a:endParaRPr lang="en-US" sz="2000" dirty="0">
              <a:solidFill>
                <a:schemeClr val="bg1"/>
              </a:solidFill>
              <a:effectLst/>
              <a:latin typeface="Times New Roman" panose="02020603050405020304" pitchFamily="18" charset="0"/>
              <a:ea typeface="Segoe UI Black" panose="020B0A02040204020203" pitchFamily="34" charset="0"/>
              <a:cs typeface="Times New Roman" panose="02020603050405020304" pitchFamily="18" charset="0"/>
            </a:endParaRPr>
          </a:p>
          <a:p>
            <a:endParaRPr lang="en-US" dirty="0"/>
          </a:p>
        </p:txBody>
      </p:sp>
      <p:pic>
        <p:nvPicPr>
          <p:cNvPr id="18" name="Logo LANX 18" descr="Logo LANX"/>
          <p:cNvPicPr>
            <a:picLocks noChangeAspect="1"/>
          </p:cNvPicPr>
          <p:nvPr/>
        </p:nvPicPr>
        <p:blipFill>
          <a:blip r:embed="rId8"/>
          <a:stretch>
            <a:fillRect/>
          </a:stretch>
        </p:blipFill>
        <p:spPr>
          <a:xfrm>
            <a:off x="9710928" y="201168"/>
            <a:ext cx="1143000" cy="1143000"/>
          </a:xfrm>
          <a:prstGeom prst="rect">
            <a:avLst/>
          </a:prstGeom>
        </p:spPr>
      </p:pic>
    </p:spTree>
    <p:extLst>
      <p:ext uri="{BB962C8B-B14F-4D97-AF65-F5344CB8AC3E}">
        <p14:creationId xmlns:p14="http://schemas.microsoft.com/office/powerpoint/2010/main" val="1390784791"/>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down)">
                                      <p:cBhvr>
                                        <p:cTn id="40" dur="500"/>
                                        <p:tgtEl>
                                          <p:spTgt spid="4"/>
                                        </p:tgtEl>
                                      </p:cBhvr>
                                    </p:animEffect>
                                  </p:childTnLst>
                                </p:cTn>
                              </p:par>
                              <p:par>
                                <p:cTn id="41" presetID="22" presetClass="entr" presetSubtype="4" fill="hold" grpId="0" nodeType="withEffect" nodePh="1">
                                  <p:stCondLst>
                                    <p:cond delay="0"/>
                                  </p:stCondLst>
                                  <p:endCondLst>
                                    <p:cond evt="begin" delay="0">
                                      <p:tn val="41"/>
                                    </p:cond>
                                  </p:end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par>
                                <p:cTn id="44" presetID="10" presetClass="entr" presetSubtype="0" fill="hold" nodeType="withEffect">
                                  <p:stCondLst>
                                    <p:cond delay="2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animBg="1"/>
      <p:bldP spid="10" grpId="0"/>
      <p:bldP spid="11" grpId="0"/>
      <p:bldP spid="12" grpId="0"/>
      <p:bldP spid="13" grpId="0"/>
      <p:bldP spid="14" grpId="0"/>
      <p:bldP spid="15" grpId="0"/>
      <p:bldP spid="16"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05AC25E4-73B7-44BC-9452-10C0F22B32B6}"/>
              </a:ext>
            </a:extLst>
          </p:cNvPr>
          <p:cNvSpPr/>
          <p:nvPr/>
        </p:nvSpPr>
        <p:spPr>
          <a:xfrm>
            <a:off x="10068881" y="120306"/>
            <a:ext cx="2141620" cy="701201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CE02161-0776-49C5-8ABE-2F602A868B81}"/>
              </a:ext>
            </a:extLst>
          </p:cNvPr>
          <p:cNvSpPr txBox="1"/>
          <p:nvPr/>
        </p:nvSpPr>
        <p:spPr>
          <a:xfrm>
            <a:off x="10800180" y="4458407"/>
            <a:ext cx="1280416" cy="830997"/>
          </a:xfrm>
          <a:prstGeom prst="rect">
            <a:avLst/>
          </a:prstGeom>
          <a:noFill/>
        </p:spPr>
        <p:txBody>
          <a:bodyPr wrap="square" rtlCol="0">
            <a:spAutoFit/>
          </a:bodyPr>
          <a:lstStyle/>
          <a:p>
            <a:r>
              <a:rPr lang="en-US" sz="4800" b="1" dirty="0">
                <a:solidFill>
                  <a:schemeClr val="bg1"/>
                </a:solidFill>
              </a:rPr>
              <a:t>06</a:t>
            </a:r>
          </a:p>
        </p:txBody>
      </p:sp>
      <p:sp>
        <p:nvSpPr>
          <p:cNvPr id="6" name="Rectangle 5">
            <a:extLst>
              <a:ext uri="{FF2B5EF4-FFF2-40B4-BE49-F238E27FC236}">
                <a16:creationId xmlns:a16="http://schemas.microsoft.com/office/drawing/2014/main" id="{DF781DAA-8A9A-49A0-99AB-9A0CFDE89551}"/>
              </a:ext>
            </a:extLst>
          </p:cNvPr>
          <p:cNvSpPr/>
          <p:nvPr/>
        </p:nvSpPr>
        <p:spPr>
          <a:xfrm>
            <a:off x="10245086" y="0"/>
            <a:ext cx="1969660" cy="4376443"/>
          </a:xfrm>
          <a:prstGeom prst="rect">
            <a:avLst/>
          </a:prstGeom>
          <a:solidFill>
            <a:srgbClr val="DFF5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E8E4273-BD6B-4A6B-8C86-FB5DE4EA48E8}"/>
              </a:ext>
            </a:extLst>
          </p:cNvPr>
          <p:cNvSpPr/>
          <p:nvPr/>
        </p:nvSpPr>
        <p:spPr>
          <a:xfrm>
            <a:off x="9984901" y="5197281"/>
            <a:ext cx="2225673" cy="1935039"/>
          </a:xfrm>
          <a:prstGeom prst="rect">
            <a:avLst/>
          </a:prstGeom>
          <a:solidFill>
            <a:srgbClr val="DFF5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C17663D-2A62-4129-8195-17732670224E}"/>
              </a:ext>
            </a:extLst>
          </p:cNvPr>
          <p:cNvSpPr/>
          <p:nvPr/>
        </p:nvSpPr>
        <p:spPr>
          <a:xfrm flipV="1">
            <a:off x="8430136" y="-3"/>
            <a:ext cx="1867461" cy="7142465"/>
          </a:xfrm>
          <a:prstGeom prst="rect">
            <a:avLst/>
          </a:prstGeom>
          <a:solidFill>
            <a:srgbClr val="FF000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50800" dist="88900" algn="l" rotWithShape="0">
                  <a:prstClr val="black">
                    <a:alpha val="40000"/>
                  </a:prstClr>
                </a:outerShdw>
              </a:effectLst>
            </a:endParaRPr>
          </a:p>
        </p:txBody>
      </p:sp>
      <p:sp>
        <p:nvSpPr>
          <p:cNvPr id="9" name="TextBox 8">
            <a:extLst>
              <a:ext uri="{FF2B5EF4-FFF2-40B4-BE49-F238E27FC236}">
                <a16:creationId xmlns:a16="http://schemas.microsoft.com/office/drawing/2014/main" id="{D37E45D3-7866-4FD9-AD6E-1BB361D1BBB7}"/>
              </a:ext>
            </a:extLst>
          </p:cNvPr>
          <p:cNvSpPr txBox="1"/>
          <p:nvPr/>
        </p:nvSpPr>
        <p:spPr>
          <a:xfrm>
            <a:off x="8787596" y="3772854"/>
            <a:ext cx="1264708" cy="1015663"/>
          </a:xfrm>
          <a:prstGeom prst="rect">
            <a:avLst/>
          </a:prstGeom>
          <a:noFill/>
        </p:spPr>
        <p:txBody>
          <a:bodyPr wrap="square" rtlCol="0">
            <a:spAutoFit/>
          </a:bodyPr>
          <a:lstStyle/>
          <a:p>
            <a:r>
              <a:rPr lang="en-US" sz="6000" b="1" dirty="0">
                <a:solidFill>
                  <a:schemeClr val="bg1"/>
                </a:solidFill>
              </a:rPr>
              <a:t>05</a:t>
            </a:r>
          </a:p>
        </p:txBody>
      </p:sp>
      <p:sp>
        <p:nvSpPr>
          <p:cNvPr id="10" name="Rectangle 9">
            <a:extLst>
              <a:ext uri="{FF2B5EF4-FFF2-40B4-BE49-F238E27FC236}">
                <a16:creationId xmlns:a16="http://schemas.microsoft.com/office/drawing/2014/main" id="{BC3C1287-623C-40DE-AFF9-04178C03ECCE}"/>
              </a:ext>
            </a:extLst>
          </p:cNvPr>
          <p:cNvSpPr/>
          <p:nvPr/>
        </p:nvSpPr>
        <p:spPr>
          <a:xfrm flipV="1">
            <a:off x="8341905" y="4720205"/>
            <a:ext cx="1940893" cy="2414970"/>
          </a:xfrm>
          <a:prstGeom prst="rect">
            <a:avLst/>
          </a:prstGeom>
          <a:solidFill>
            <a:srgbClr val="BFEAF9"/>
          </a:solidFill>
          <a:ln>
            <a:noFill/>
          </a:ln>
          <a:effectLst>
            <a:outerShdw blurRad="508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D477BF59-1368-4EBA-9967-321194569FE4}"/>
              </a:ext>
            </a:extLst>
          </p:cNvPr>
          <p:cNvSpPr/>
          <p:nvPr/>
        </p:nvSpPr>
        <p:spPr>
          <a:xfrm flipV="1">
            <a:off x="8434869" y="4009"/>
            <a:ext cx="1839006" cy="3717246"/>
          </a:xfrm>
          <a:prstGeom prst="rect">
            <a:avLst/>
          </a:prstGeom>
          <a:solidFill>
            <a:schemeClr val="accent1">
              <a:lumMod val="40000"/>
              <a:lumOff val="60000"/>
            </a:schemeClr>
          </a:solidFill>
          <a:ln>
            <a:noFill/>
          </a:ln>
          <a:effectLst>
            <a:outerShdw blurRad="508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8AAB5E2-4996-4948-A794-F5C389D0BE4B}"/>
              </a:ext>
            </a:extLst>
          </p:cNvPr>
          <p:cNvSpPr/>
          <p:nvPr/>
        </p:nvSpPr>
        <p:spPr>
          <a:xfrm>
            <a:off x="6296531" y="8020"/>
            <a:ext cx="2141621" cy="7124299"/>
          </a:xfrm>
          <a:prstGeom prst="rect">
            <a:avLst/>
          </a:prstGeom>
          <a:solidFill>
            <a:srgbClr val="00B050"/>
          </a:solidFill>
          <a:ln>
            <a:noFill/>
          </a:ln>
          <a:effectLst>
            <a:outerShdw blurRad="50800" dist="127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 name="Rectangle 12">
            <a:extLst>
              <a:ext uri="{FF2B5EF4-FFF2-40B4-BE49-F238E27FC236}">
                <a16:creationId xmlns:a16="http://schemas.microsoft.com/office/drawing/2014/main" id="{AF263C67-7D62-433A-A238-60543D1A0AC8}"/>
              </a:ext>
            </a:extLst>
          </p:cNvPr>
          <p:cNvSpPr/>
          <p:nvPr/>
        </p:nvSpPr>
        <p:spPr>
          <a:xfrm>
            <a:off x="6296531" y="3103"/>
            <a:ext cx="2141621" cy="342589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TextBox 13">
            <a:extLst>
              <a:ext uri="{FF2B5EF4-FFF2-40B4-BE49-F238E27FC236}">
                <a16:creationId xmlns:a16="http://schemas.microsoft.com/office/drawing/2014/main" id="{CD6B09BC-399D-47A6-96CE-2F92CBD90916}"/>
              </a:ext>
            </a:extLst>
          </p:cNvPr>
          <p:cNvSpPr txBox="1"/>
          <p:nvPr/>
        </p:nvSpPr>
        <p:spPr>
          <a:xfrm>
            <a:off x="6889270" y="3345114"/>
            <a:ext cx="1244901" cy="923330"/>
          </a:xfrm>
          <a:prstGeom prst="rect">
            <a:avLst/>
          </a:prstGeom>
          <a:noFill/>
        </p:spPr>
        <p:txBody>
          <a:bodyPr wrap="square" rtlCol="0">
            <a:spAutoFit/>
          </a:bodyPr>
          <a:lstStyle/>
          <a:p>
            <a:r>
              <a:rPr lang="en-US" sz="5400" b="1" dirty="0">
                <a:solidFill>
                  <a:schemeClr val="bg1"/>
                </a:solidFill>
              </a:rPr>
              <a:t>04</a:t>
            </a:r>
          </a:p>
        </p:txBody>
      </p:sp>
      <p:sp>
        <p:nvSpPr>
          <p:cNvPr id="15" name="Rectangle 14">
            <a:extLst>
              <a:ext uri="{FF2B5EF4-FFF2-40B4-BE49-F238E27FC236}">
                <a16:creationId xmlns:a16="http://schemas.microsoft.com/office/drawing/2014/main" id="{87239A34-805F-42A7-85F9-AD29D6232CF7}"/>
              </a:ext>
            </a:extLst>
          </p:cNvPr>
          <p:cNvSpPr/>
          <p:nvPr/>
        </p:nvSpPr>
        <p:spPr>
          <a:xfrm>
            <a:off x="6248399" y="4335732"/>
            <a:ext cx="2205795" cy="2814753"/>
          </a:xfrm>
          <a:prstGeom prst="rect">
            <a:avLst/>
          </a:prstGeom>
          <a:solidFill>
            <a:srgbClr val="7CB5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70C0"/>
              </a:solidFill>
            </a:endParaRPr>
          </a:p>
        </p:txBody>
      </p:sp>
      <p:sp>
        <p:nvSpPr>
          <p:cNvPr id="16" name="TextBox 15">
            <a:extLst>
              <a:ext uri="{FF2B5EF4-FFF2-40B4-BE49-F238E27FC236}">
                <a16:creationId xmlns:a16="http://schemas.microsoft.com/office/drawing/2014/main" id="{08ED808C-41A9-46B3-928D-AB12028895F4}"/>
              </a:ext>
            </a:extLst>
          </p:cNvPr>
          <p:cNvSpPr txBox="1"/>
          <p:nvPr/>
        </p:nvSpPr>
        <p:spPr>
          <a:xfrm>
            <a:off x="6287017" y="4306770"/>
            <a:ext cx="2247190" cy="400110"/>
          </a:xfrm>
          <a:prstGeom prst="rect">
            <a:avLst/>
          </a:prstGeom>
          <a:noFill/>
        </p:spPr>
        <p:txBody>
          <a:bodyPr wrap="square" rtlCol="0">
            <a:spAutoFit/>
          </a:bodyPr>
          <a:lstStyle/>
          <a:p>
            <a:r>
              <a:rPr lang="en-US" sz="2000" b="1" dirty="0">
                <a:solidFill>
                  <a:schemeClr val="bg1"/>
                </a:solidFill>
                <a:effectLst>
                  <a:outerShdw blurRad="38100" dist="38100" dir="2700000" algn="tl">
                    <a:srgbClr val="000000">
                      <a:alpha val="43137"/>
                    </a:srgbClr>
                  </a:outerShdw>
                </a:effectLst>
              </a:rPr>
              <a:t>METHODOLOGIE</a:t>
            </a:r>
          </a:p>
        </p:txBody>
      </p:sp>
      <p:sp>
        <p:nvSpPr>
          <p:cNvPr id="17" name="Rectangle 16">
            <a:extLst>
              <a:ext uri="{FF2B5EF4-FFF2-40B4-BE49-F238E27FC236}">
                <a16:creationId xmlns:a16="http://schemas.microsoft.com/office/drawing/2014/main" id="{40971DCE-4A12-48B1-A31B-3842778C7C6B}"/>
              </a:ext>
            </a:extLst>
          </p:cNvPr>
          <p:cNvSpPr/>
          <p:nvPr/>
        </p:nvSpPr>
        <p:spPr>
          <a:xfrm>
            <a:off x="4162931" y="8022"/>
            <a:ext cx="2141621" cy="7127158"/>
          </a:xfrm>
          <a:prstGeom prst="rect">
            <a:avLst/>
          </a:prstGeom>
          <a:solidFill>
            <a:srgbClr val="FFC000"/>
          </a:solidFill>
          <a:ln>
            <a:noFill/>
          </a:ln>
          <a:effectLst>
            <a:outerShdw blurRad="50800" dist="127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Rectangle 17">
            <a:extLst>
              <a:ext uri="{FF2B5EF4-FFF2-40B4-BE49-F238E27FC236}">
                <a16:creationId xmlns:a16="http://schemas.microsoft.com/office/drawing/2014/main" id="{D2104939-7D50-47B9-A99F-03648C555920}"/>
              </a:ext>
            </a:extLst>
          </p:cNvPr>
          <p:cNvSpPr/>
          <p:nvPr/>
        </p:nvSpPr>
        <p:spPr>
          <a:xfrm>
            <a:off x="4162931" y="3103"/>
            <a:ext cx="2141621" cy="263213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TextBox 18">
            <a:extLst>
              <a:ext uri="{FF2B5EF4-FFF2-40B4-BE49-F238E27FC236}">
                <a16:creationId xmlns:a16="http://schemas.microsoft.com/office/drawing/2014/main" id="{425858A4-AED5-481C-AE59-1E8FA4266676}"/>
              </a:ext>
            </a:extLst>
          </p:cNvPr>
          <p:cNvSpPr txBox="1"/>
          <p:nvPr/>
        </p:nvSpPr>
        <p:spPr>
          <a:xfrm>
            <a:off x="4731320" y="2629861"/>
            <a:ext cx="1254582" cy="923330"/>
          </a:xfrm>
          <a:prstGeom prst="rect">
            <a:avLst/>
          </a:prstGeom>
          <a:noFill/>
        </p:spPr>
        <p:txBody>
          <a:bodyPr wrap="square" rtlCol="0">
            <a:spAutoFit/>
          </a:bodyPr>
          <a:lstStyle/>
          <a:p>
            <a:r>
              <a:rPr lang="en-US" sz="5400" b="1" dirty="0">
                <a:solidFill>
                  <a:schemeClr val="bg1"/>
                </a:solidFill>
              </a:rPr>
              <a:t>03</a:t>
            </a:r>
          </a:p>
        </p:txBody>
      </p:sp>
      <p:sp>
        <p:nvSpPr>
          <p:cNvPr id="20" name="Rectangle 19">
            <a:extLst>
              <a:ext uri="{FF2B5EF4-FFF2-40B4-BE49-F238E27FC236}">
                <a16:creationId xmlns:a16="http://schemas.microsoft.com/office/drawing/2014/main" id="{2D08B16C-A222-4FE6-8F43-6E24BCCC1BAA}"/>
              </a:ext>
            </a:extLst>
          </p:cNvPr>
          <p:cNvSpPr/>
          <p:nvPr/>
        </p:nvSpPr>
        <p:spPr>
          <a:xfrm>
            <a:off x="4162932" y="3698156"/>
            <a:ext cx="2156290" cy="3434164"/>
          </a:xfrm>
          <a:prstGeom prst="rect">
            <a:avLst/>
          </a:prstGeom>
          <a:solidFill>
            <a:srgbClr val="17B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Box 20">
            <a:extLst>
              <a:ext uri="{FF2B5EF4-FFF2-40B4-BE49-F238E27FC236}">
                <a16:creationId xmlns:a16="http://schemas.microsoft.com/office/drawing/2014/main" id="{937E291F-0F6E-4E66-B9DC-3E07B48C193D}"/>
              </a:ext>
            </a:extLst>
          </p:cNvPr>
          <p:cNvSpPr txBox="1"/>
          <p:nvPr/>
        </p:nvSpPr>
        <p:spPr>
          <a:xfrm>
            <a:off x="4308850" y="3839557"/>
            <a:ext cx="1921723" cy="707886"/>
          </a:xfrm>
          <a:prstGeom prst="rect">
            <a:avLst/>
          </a:prstGeom>
          <a:noFill/>
        </p:spPr>
        <p:txBody>
          <a:bodyPr wrap="square" rtlCol="0">
            <a:spAutoFit/>
          </a:bodyPr>
          <a:lstStyle/>
          <a:p>
            <a:r>
              <a:rPr lang="en-US" sz="2000" b="1" dirty="0">
                <a:solidFill>
                  <a:schemeClr val="bg1"/>
                </a:solidFill>
                <a:effectLst>
                  <a:outerShdw blurRad="38100" dist="38100" dir="2700000" algn="tl">
                    <a:srgbClr val="000000">
                      <a:alpha val="43137"/>
                    </a:srgbClr>
                  </a:outerShdw>
                </a:effectLst>
              </a:rPr>
              <a:t>PROPOSITION DE SOLUTION</a:t>
            </a:r>
          </a:p>
        </p:txBody>
      </p:sp>
      <p:sp>
        <p:nvSpPr>
          <p:cNvPr id="22" name="Rectangle 21">
            <a:extLst>
              <a:ext uri="{FF2B5EF4-FFF2-40B4-BE49-F238E27FC236}">
                <a16:creationId xmlns:a16="http://schemas.microsoft.com/office/drawing/2014/main" id="{A57C436D-4121-416F-BADF-9E5235D45F4E}"/>
              </a:ext>
            </a:extLst>
          </p:cNvPr>
          <p:cNvSpPr/>
          <p:nvPr/>
        </p:nvSpPr>
        <p:spPr>
          <a:xfrm>
            <a:off x="2037348" y="-1"/>
            <a:ext cx="2116388" cy="7132320"/>
          </a:xfrm>
          <a:prstGeom prst="rect">
            <a:avLst/>
          </a:prstGeom>
          <a:solidFill>
            <a:srgbClr val="FF0000"/>
          </a:solidFill>
          <a:ln>
            <a:noFill/>
          </a:ln>
          <a:effectLst>
            <a:outerShdw blurRad="50800" dist="127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Rectangle 22">
            <a:extLst>
              <a:ext uri="{FF2B5EF4-FFF2-40B4-BE49-F238E27FC236}">
                <a16:creationId xmlns:a16="http://schemas.microsoft.com/office/drawing/2014/main" id="{6D98A1B4-B85A-4434-A8B6-A1922FADBA7C}"/>
              </a:ext>
            </a:extLst>
          </p:cNvPr>
          <p:cNvSpPr/>
          <p:nvPr/>
        </p:nvSpPr>
        <p:spPr>
          <a:xfrm>
            <a:off x="2037347" y="-4919"/>
            <a:ext cx="2141621" cy="2346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4" name="TextBox 23">
            <a:extLst>
              <a:ext uri="{FF2B5EF4-FFF2-40B4-BE49-F238E27FC236}">
                <a16:creationId xmlns:a16="http://schemas.microsoft.com/office/drawing/2014/main" id="{8B312538-F79F-4F69-9021-2680CD7474C3}"/>
              </a:ext>
            </a:extLst>
          </p:cNvPr>
          <p:cNvSpPr txBox="1"/>
          <p:nvPr/>
        </p:nvSpPr>
        <p:spPr>
          <a:xfrm>
            <a:off x="2759242" y="2275637"/>
            <a:ext cx="1239400" cy="923330"/>
          </a:xfrm>
          <a:prstGeom prst="rect">
            <a:avLst/>
          </a:prstGeom>
          <a:noFill/>
        </p:spPr>
        <p:txBody>
          <a:bodyPr wrap="square" rtlCol="0">
            <a:spAutoFit/>
          </a:bodyPr>
          <a:lstStyle/>
          <a:p>
            <a:r>
              <a:rPr lang="en-US" sz="5400" b="1" dirty="0">
                <a:solidFill>
                  <a:schemeClr val="bg1"/>
                </a:solidFill>
              </a:rPr>
              <a:t>02</a:t>
            </a:r>
          </a:p>
        </p:txBody>
      </p:sp>
      <p:sp>
        <p:nvSpPr>
          <p:cNvPr id="25" name="Rectangle 24">
            <a:extLst>
              <a:ext uri="{FF2B5EF4-FFF2-40B4-BE49-F238E27FC236}">
                <a16:creationId xmlns:a16="http://schemas.microsoft.com/office/drawing/2014/main" id="{FB1E64C6-2618-4BE9-87C3-13C6A7638390}"/>
              </a:ext>
            </a:extLst>
          </p:cNvPr>
          <p:cNvSpPr/>
          <p:nvPr/>
        </p:nvSpPr>
        <p:spPr>
          <a:xfrm>
            <a:off x="2053389" y="3343931"/>
            <a:ext cx="2141621" cy="3788389"/>
          </a:xfrm>
          <a:prstGeom prst="rect">
            <a:avLst/>
          </a:prstGeom>
          <a:solidFill>
            <a:srgbClr val="2E83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6" name="TextBox 25">
            <a:extLst>
              <a:ext uri="{FF2B5EF4-FFF2-40B4-BE49-F238E27FC236}">
                <a16:creationId xmlns:a16="http://schemas.microsoft.com/office/drawing/2014/main" id="{37191A22-E8FB-44D0-A63F-976770FD1E17}"/>
              </a:ext>
            </a:extLst>
          </p:cNvPr>
          <p:cNvSpPr txBox="1"/>
          <p:nvPr/>
        </p:nvSpPr>
        <p:spPr>
          <a:xfrm>
            <a:off x="2005422" y="3279094"/>
            <a:ext cx="2304685" cy="769441"/>
          </a:xfrm>
          <a:prstGeom prst="rect">
            <a:avLst/>
          </a:prstGeom>
          <a:noFill/>
        </p:spPr>
        <p:txBody>
          <a:bodyPr wrap="square" rtlCol="0">
            <a:spAutoFit/>
          </a:bodyPr>
          <a:lstStyle/>
          <a:p>
            <a:pPr algn="ctr"/>
            <a:r>
              <a:rPr lang="fr-FR" sz="2400">
                <a:solidFill>
                  <a:schemeClr val="bg1"/>
                </a:solidFill>
              </a:rPr>
              <a:t>CONTEXTE ET PROBLÉMATIQUE</a:t>
            </a:r>
          </a:p>
        </p:txBody>
      </p:sp>
      <p:sp>
        <p:nvSpPr>
          <p:cNvPr id="27" name="Rectangle 26">
            <a:extLst>
              <a:ext uri="{FF2B5EF4-FFF2-40B4-BE49-F238E27FC236}">
                <a16:creationId xmlns:a16="http://schemas.microsoft.com/office/drawing/2014/main" id="{B0AF6660-E57A-48CD-88FA-40F418CAD6F8}"/>
              </a:ext>
            </a:extLst>
          </p:cNvPr>
          <p:cNvSpPr/>
          <p:nvPr/>
        </p:nvSpPr>
        <p:spPr>
          <a:xfrm>
            <a:off x="-1" y="0"/>
            <a:ext cx="2147151" cy="7142464"/>
          </a:xfrm>
          <a:prstGeom prst="rect">
            <a:avLst/>
          </a:prstGeom>
          <a:solidFill>
            <a:srgbClr val="00B050"/>
          </a:solidFill>
          <a:ln>
            <a:noFill/>
          </a:ln>
          <a:effectLst>
            <a:outerShdw blurRad="50800" dist="127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8" name="Rectangle 27">
            <a:extLst>
              <a:ext uri="{FF2B5EF4-FFF2-40B4-BE49-F238E27FC236}">
                <a16:creationId xmlns:a16="http://schemas.microsoft.com/office/drawing/2014/main" id="{5D8DF78B-BA93-454A-9D88-F44D5D1423EF}"/>
              </a:ext>
            </a:extLst>
          </p:cNvPr>
          <p:cNvSpPr/>
          <p:nvPr/>
        </p:nvSpPr>
        <p:spPr>
          <a:xfrm>
            <a:off x="-1" y="-4918"/>
            <a:ext cx="2156347" cy="192986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9" name="TextBox 28">
            <a:extLst>
              <a:ext uri="{FF2B5EF4-FFF2-40B4-BE49-F238E27FC236}">
                <a16:creationId xmlns:a16="http://schemas.microsoft.com/office/drawing/2014/main" id="{D018A132-134C-4656-9DA0-A0D6F766656F}"/>
              </a:ext>
            </a:extLst>
          </p:cNvPr>
          <p:cNvSpPr txBox="1"/>
          <p:nvPr/>
        </p:nvSpPr>
        <p:spPr>
          <a:xfrm>
            <a:off x="641683" y="1839881"/>
            <a:ext cx="1404634" cy="923330"/>
          </a:xfrm>
          <a:prstGeom prst="rect">
            <a:avLst/>
          </a:prstGeom>
          <a:noFill/>
        </p:spPr>
        <p:txBody>
          <a:bodyPr wrap="square" rtlCol="0">
            <a:spAutoFit/>
          </a:bodyPr>
          <a:lstStyle/>
          <a:p>
            <a:r>
              <a:rPr lang="en-US" sz="5400" b="1" dirty="0">
                <a:solidFill>
                  <a:schemeClr val="bg1"/>
                </a:solidFill>
              </a:rPr>
              <a:t>01</a:t>
            </a:r>
          </a:p>
        </p:txBody>
      </p:sp>
      <p:sp>
        <p:nvSpPr>
          <p:cNvPr id="30" name="Rectangle 29">
            <a:extLst>
              <a:ext uri="{FF2B5EF4-FFF2-40B4-BE49-F238E27FC236}">
                <a16:creationId xmlns:a16="http://schemas.microsoft.com/office/drawing/2014/main" id="{3AE71854-08BF-4AE4-8281-8DBE68140AEB}"/>
              </a:ext>
            </a:extLst>
          </p:cNvPr>
          <p:cNvSpPr/>
          <p:nvPr/>
        </p:nvSpPr>
        <p:spPr>
          <a:xfrm>
            <a:off x="0" y="2973946"/>
            <a:ext cx="2156290" cy="41685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1" name="TextBox 30">
            <a:extLst>
              <a:ext uri="{FF2B5EF4-FFF2-40B4-BE49-F238E27FC236}">
                <a16:creationId xmlns:a16="http://schemas.microsoft.com/office/drawing/2014/main" id="{BC7C7207-BF70-4FF3-A77F-61F0240AAE0F}"/>
              </a:ext>
            </a:extLst>
          </p:cNvPr>
          <p:cNvSpPr txBox="1"/>
          <p:nvPr/>
        </p:nvSpPr>
        <p:spPr>
          <a:xfrm>
            <a:off x="16041" y="3011908"/>
            <a:ext cx="2581680" cy="400110"/>
          </a:xfrm>
          <a:prstGeom prst="rect">
            <a:avLst/>
          </a:prstGeom>
          <a:noFill/>
        </p:spPr>
        <p:txBody>
          <a:bodyPr wrap="square" rtlCol="0">
            <a:spAutoFit/>
          </a:bodyPr>
          <a:lstStyle/>
          <a:p>
            <a:r>
              <a:rPr lang="en-US" sz="2000" b="1" dirty="0">
                <a:solidFill>
                  <a:schemeClr val="bg1"/>
                </a:solidFill>
                <a:effectLst>
                  <a:outerShdw blurRad="38100" dist="38100" dir="2700000" algn="tl">
                    <a:srgbClr val="000000">
                      <a:alpha val="43137"/>
                    </a:srgbClr>
                  </a:outerShdw>
                </a:effectLst>
              </a:rPr>
              <a:t>INTRODUCTION</a:t>
            </a:r>
          </a:p>
        </p:txBody>
      </p:sp>
      <p:sp>
        <p:nvSpPr>
          <p:cNvPr id="37" name="TextBox 36">
            <a:extLst>
              <a:ext uri="{FF2B5EF4-FFF2-40B4-BE49-F238E27FC236}">
                <a16:creationId xmlns:a16="http://schemas.microsoft.com/office/drawing/2014/main" id="{22C10285-327A-4B73-8734-F1994627183C}"/>
              </a:ext>
            </a:extLst>
          </p:cNvPr>
          <p:cNvSpPr txBox="1"/>
          <p:nvPr/>
        </p:nvSpPr>
        <p:spPr>
          <a:xfrm>
            <a:off x="8550443" y="4801842"/>
            <a:ext cx="1418416" cy="1015663"/>
          </a:xfrm>
          <a:prstGeom prst="rect">
            <a:avLst/>
          </a:prstGeom>
          <a:noFill/>
        </p:spPr>
        <p:txBody>
          <a:bodyPr wrap="square" rtlCol="0">
            <a:spAutoFit/>
          </a:bodyPr>
          <a:lstStyle/>
          <a:p>
            <a:pPr algn="ctr"/>
            <a:r>
              <a:rPr lang="fr-FR" sz="2000" b="1">
                <a:solidFill>
                  <a:schemeClr val="bg1"/>
                </a:solidFill>
                <a:effectLst>
                  <a:outerShdw blurRad="38100" dist="38100" dir="2700000" algn="tl">
                    <a:srgbClr val="000000">
                      <a:alpha val="43137"/>
                    </a:srgbClr>
                  </a:outerShdw>
                </a:effectLst>
              </a:rPr>
              <a:t>TESTS</a:t>
            </a:r>
          </a:p>
          <a:p>
            <a:pPr algn="ctr"/>
            <a:r>
              <a:rPr lang="fr-FR" sz="2000" b="1">
                <a:solidFill>
                  <a:schemeClr val="bg1"/>
                </a:solidFill>
                <a:effectLst>
                  <a:outerShdw blurRad="38100" dist="38100" dir="2700000" algn="tl">
                    <a:srgbClr val="000000">
                      <a:alpha val="43137"/>
                    </a:srgbClr>
                  </a:outerShdw>
                </a:effectLst>
              </a:rPr>
              <a:t>ET RÉSULTATS</a:t>
            </a:r>
          </a:p>
        </p:txBody>
      </p:sp>
      <p:sp>
        <p:nvSpPr>
          <p:cNvPr id="38" name="TextBox 37">
            <a:extLst>
              <a:ext uri="{FF2B5EF4-FFF2-40B4-BE49-F238E27FC236}">
                <a16:creationId xmlns:a16="http://schemas.microsoft.com/office/drawing/2014/main" id="{2FEC5FD5-09A6-4A3F-8E2A-D065DC3053B5}"/>
              </a:ext>
            </a:extLst>
          </p:cNvPr>
          <p:cNvSpPr txBox="1"/>
          <p:nvPr/>
        </p:nvSpPr>
        <p:spPr>
          <a:xfrm>
            <a:off x="10378512" y="5197280"/>
            <a:ext cx="1751075" cy="1015663"/>
          </a:xfrm>
          <a:prstGeom prst="rect">
            <a:avLst/>
          </a:prstGeom>
          <a:noFill/>
        </p:spPr>
        <p:txBody>
          <a:bodyPr wrap="square" rtlCol="0">
            <a:spAutoFit/>
          </a:bodyPr>
          <a:lstStyle/>
          <a:p>
            <a:pPr algn="ctr"/>
            <a:r>
              <a:rPr lang="fr-FR" sz="2000" b="1">
                <a:solidFill>
                  <a:schemeClr val="bg1"/>
                </a:solidFill>
                <a:effectLst>
                  <a:outerShdw blurRad="38100" dist="38100" dir="2700000" algn="tl">
                    <a:srgbClr val="000000">
                      <a:alpha val="43137"/>
                    </a:srgbClr>
                  </a:outerShdw>
                </a:effectLst>
              </a:rPr>
              <a:t>CONCLUSION</a:t>
            </a:r>
          </a:p>
          <a:p>
            <a:pPr algn="ctr"/>
            <a:r>
              <a:rPr lang="fr-FR" sz="2000" b="1">
                <a:solidFill>
                  <a:schemeClr val="bg1"/>
                </a:solidFill>
                <a:effectLst>
                  <a:outerShdw blurRad="38100" dist="38100" dir="2700000" algn="tl">
                    <a:srgbClr val="000000">
                      <a:alpha val="43137"/>
                    </a:srgbClr>
                  </a:outerShdw>
                </a:effectLst>
              </a:rPr>
              <a:t>ET PERSPECTIVES</a:t>
            </a:r>
          </a:p>
        </p:txBody>
      </p:sp>
      <p:sp>
        <p:nvSpPr>
          <p:cNvPr id="41" name="Arrow: Pentagon 2">
            <a:extLst>
              <a:ext uri="{FF2B5EF4-FFF2-40B4-BE49-F238E27FC236}">
                <a16:creationId xmlns:a16="http://schemas.microsoft.com/office/drawing/2014/main" id="{8BF95D62-D2F3-4754-A5D5-9676ED27BE6D}"/>
              </a:ext>
            </a:extLst>
          </p:cNvPr>
          <p:cNvSpPr/>
          <p:nvPr/>
        </p:nvSpPr>
        <p:spPr>
          <a:xfrm>
            <a:off x="333183" y="240777"/>
            <a:ext cx="1422644" cy="352213"/>
          </a:xfrm>
          <a:prstGeom prst="homePlate">
            <a:avLst>
              <a:gd name="adj" fmla="val 84874"/>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PLAN</a:t>
            </a:r>
          </a:p>
        </p:txBody>
      </p:sp>
      <p:pic>
        <p:nvPicPr>
          <p:cNvPr id="42" name="Picture 41"/>
          <p:cNvPicPr>
            <a:picLocks noChangeAspect="1"/>
          </p:cNvPicPr>
          <p:nvPr/>
        </p:nvPicPr>
        <p:blipFill>
          <a:blip r:embed="rId2"/>
          <a:stretch>
            <a:fillRect/>
          </a:stretch>
        </p:blipFill>
        <p:spPr>
          <a:xfrm>
            <a:off x="592904" y="1207976"/>
            <a:ext cx="841321" cy="841321"/>
          </a:xfrm>
          <a:prstGeom prst="rect">
            <a:avLst/>
          </a:prstGeom>
        </p:spPr>
      </p:pic>
      <p:pic>
        <p:nvPicPr>
          <p:cNvPr id="43" name="Picture 42"/>
          <p:cNvPicPr>
            <a:picLocks noChangeAspect="1"/>
          </p:cNvPicPr>
          <p:nvPr/>
        </p:nvPicPr>
        <p:blipFill>
          <a:blip r:embed="rId3"/>
          <a:stretch>
            <a:fillRect/>
          </a:stretch>
        </p:blipFill>
        <p:spPr>
          <a:xfrm>
            <a:off x="2731869" y="1612553"/>
            <a:ext cx="841321" cy="841321"/>
          </a:xfrm>
          <a:prstGeom prst="rect">
            <a:avLst/>
          </a:prstGeom>
        </p:spPr>
      </p:pic>
      <p:pic>
        <p:nvPicPr>
          <p:cNvPr id="44" name="Picture 43"/>
          <p:cNvPicPr>
            <a:picLocks noChangeAspect="1"/>
          </p:cNvPicPr>
          <p:nvPr/>
        </p:nvPicPr>
        <p:blipFill>
          <a:blip r:embed="rId4"/>
          <a:stretch>
            <a:fillRect/>
          </a:stretch>
        </p:blipFill>
        <p:spPr>
          <a:xfrm>
            <a:off x="4776944" y="1928857"/>
            <a:ext cx="841321" cy="841321"/>
          </a:xfrm>
          <a:prstGeom prst="rect">
            <a:avLst/>
          </a:prstGeom>
        </p:spPr>
      </p:pic>
      <p:pic>
        <p:nvPicPr>
          <p:cNvPr id="45" name="Picture 44"/>
          <p:cNvPicPr>
            <a:picLocks noChangeAspect="1"/>
          </p:cNvPicPr>
          <p:nvPr/>
        </p:nvPicPr>
        <p:blipFill>
          <a:blip r:embed="rId5"/>
          <a:stretch>
            <a:fillRect/>
          </a:stretch>
        </p:blipFill>
        <p:spPr>
          <a:xfrm>
            <a:off x="6922835" y="2660018"/>
            <a:ext cx="841321" cy="841321"/>
          </a:xfrm>
          <a:prstGeom prst="rect">
            <a:avLst/>
          </a:prstGeom>
        </p:spPr>
      </p:pic>
      <p:pic>
        <p:nvPicPr>
          <p:cNvPr id="46" name="Picture 45"/>
          <p:cNvPicPr>
            <a:picLocks noChangeAspect="1"/>
          </p:cNvPicPr>
          <p:nvPr/>
        </p:nvPicPr>
        <p:blipFill>
          <a:blip r:embed="rId6"/>
          <a:stretch>
            <a:fillRect/>
          </a:stretch>
        </p:blipFill>
        <p:spPr>
          <a:xfrm>
            <a:off x="8832856" y="2973946"/>
            <a:ext cx="841321" cy="841321"/>
          </a:xfrm>
          <a:prstGeom prst="rect">
            <a:avLst/>
          </a:prstGeom>
        </p:spPr>
      </p:pic>
      <p:pic>
        <p:nvPicPr>
          <p:cNvPr id="47" name="Picture 46"/>
          <p:cNvPicPr>
            <a:picLocks noChangeAspect="1"/>
          </p:cNvPicPr>
          <p:nvPr/>
        </p:nvPicPr>
        <p:blipFill>
          <a:blip r:embed="rId7"/>
          <a:stretch>
            <a:fillRect/>
          </a:stretch>
        </p:blipFill>
        <p:spPr>
          <a:xfrm>
            <a:off x="10848950" y="3643418"/>
            <a:ext cx="835224" cy="841321"/>
          </a:xfrm>
          <a:prstGeom prst="rect">
            <a:avLst/>
          </a:prstGeom>
        </p:spPr>
      </p:pic>
    </p:spTree>
    <p:extLst>
      <p:ext uri="{BB962C8B-B14F-4D97-AF65-F5344CB8AC3E}">
        <p14:creationId xmlns:p14="http://schemas.microsoft.com/office/powerpoint/2010/main" val="23702253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fill="hold" grpId="0" nodeType="clickEffect" p14:presetBounceEnd="72000">
                                      <p:stCondLst>
                                        <p:cond delay="0"/>
                                      </p:stCondLst>
                                      <p:childTnLst>
                                        <p:animMotion origin="layout" path="M -0.0013 -0.01412 L -1.45833E-6 0.13403 " pathEditMode="relative" rAng="0" ptsTypes="AA" p14:bounceEnd="72000">
                                          <p:cBhvr>
                                            <p:cTn id="6" dur="1000" fill="hold"/>
                                            <p:tgtEl>
                                              <p:spTgt spid="30"/>
                                            </p:tgtEl>
                                            <p:attrNameLst>
                                              <p:attrName>ppt_x</p:attrName>
                                              <p:attrName>ppt_y</p:attrName>
                                            </p:attrNameLst>
                                          </p:cBhvr>
                                          <p:rCtr x="65" y="7407"/>
                                        </p:animMotion>
                                      </p:childTnLst>
                                    </p:cTn>
                                  </p:par>
                                  <p:par>
                                    <p:cTn id="7" presetID="10"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animEffect transition="in" filter="fade">
                                          <p:cBhvr>
                                            <p:cTn id="9" dur="500"/>
                                            <p:tgtEl>
                                              <p:spTgt spid="3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fill="hold" grpId="0" nodeType="clickEffect" p14:presetBounceEnd="72000">
                                      <p:stCondLst>
                                        <p:cond delay="0"/>
                                      </p:stCondLst>
                                      <p:childTnLst>
                                        <p:animMotion origin="layout" path="M -0.0013 -0.01412 L 0 0.13403 " pathEditMode="relative" rAng="0" ptsTypes="AA" p14:bounceEnd="72000">
                                          <p:cBhvr>
                                            <p:cTn id="13" dur="1000" fill="hold"/>
                                            <p:tgtEl>
                                              <p:spTgt spid="25"/>
                                            </p:tgtEl>
                                            <p:attrNameLst>
                                              <p:attrName>ppt_x</p:attrName>
                                              <p:attrName>ppt_y</p:attrName>
                                            </p:attrNameLst>
                                          </p:cBhvr>
                                          <p:rCtr x="65" y="7407"/>
                                        </p:animMotion>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fill="hold" grpId="0" nodeType="clickEffect" p14:presetBounceEnd="72000">
                                      <p:stCondLst>
                                        <p:cond delay="0"/>
                                      </p:stCondLst>
                                      <p:childTnLst>
                                        <p:animMotion origin="layout" path="M -0.0013 -0.01412 L 2.29167E-6 0.13403 " pathEditMode="relative" rAng="0" ptsTypes="AA" p14:bounceEnd="72000">
                                          <p:cBhvr>
                                            <p:cTn id="20" dur="1000" fill="hold"/>
                                            <p:tgtEl>
                                              <p:spTgt spid="20"/>
                                            </p:tgtEl>
                                            <p:attrNameLst>
                                              <p:attrName>ppt_x</p:attrName>
                                              <p:attrName>ppt_y</p:attrName>
                                            </p:attrNameLst>
                                          </p:cBhvr>
                                          <p:rCtr x="65" y="7407"/>
                                        </p:animMotion>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fill="hold" grpId="0" nodeType="clickEffect" p14:presetBounceEnd="72000">
                                      <p:stCondLst>
                                        <p:cond delay="0"/>
                                      </p:stCondLst>
                                      <p:childTnLst>
                                        <p:animMotion origin="layout" path="M -0.0013 -0.01412 L -4.58333E-6 0.13403 " pathEditMode="relative" rAng="0" ptsTypes="AA" p14:bounceEnd="72000">
                                          <p:cBhvr>
                                            <p:cTn id="27" dur="1000" fill="hold"/>
                                            <p:tgtEl>
                                              <p:spTgt spid="15"/>
                                            </p:tgtEl>
                                            <p:attrNameLst>
                                              <p:attrName>ppt_x</p:attrName>
                                              <p:attrName>ppt_y</p:attrName>
                                            </p:attrNameLst>
                                          </p:cBhvr>
                                          <p:rCtr x="65" y="7407"/>
                                        </p:animMotion>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fill="hold" grpId="0" nodeType="clickEffect" p14:presetBounceEnd="72000">
                                      <p:stCondLst>
                                        <p:cond delay="0"/>
                                      </p:stCondLst>
                                      <p:childTnLst>
                                        <p:animMotion origin="layout" path="M 0.00261 -1.85185E-6 L -0.00013 0.1456 " pathEditMode="relative" rAng="0" ptsTypes="AA" p14:bounceEnd="72000">
                                          <p:cBhvr>
                                            <p:cTn id="34" dur="1000" fill="hold"/>
                                            <p:tgtEl>
                                              <p:spTgt spid="10"/>
                                            </p:tgtEl>
                                            <p:attrNameLst>
                                              <p:attrName>ppt_x</p:attrName>
                                              <p:attrName>ppt_y</p:attrName>
                                            </p:attrNameLst>
                                          </p:cBhvr>
                                          <p:rCtr x="-143" y="7269"/>
                                        </p:animMotion>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fill="hold" grpId="0" nodeType="clickEffect" p14:presetBounceEnd="72000">
                                      <p:stCondLst>
                                        <p:cond delay="0"/>
                                      </p:stCondLst>
                                      <p:childTnLst>
                                        <p:animMotion origin="layout" path="M 3.54167E-6 -2.59259E-6 L 0.00377 0.13403 " pathEditMode="relative" rAng="0" ptsTypes="AA" p14:bounceEnd="72000">
                                          <p:cBhvr>
                                            <p:cTn id="41" dur="1000" fill="hold"/>
                                            <p:tgtEl>
                                              <p:spTgt spid="7"/>
                                            </p:tgtEl>
                                            <p:attrNameLst>
                                              <p:attrName>ppt_x</p:attrName>
                                              <p:attrName>ppt_y</p:attrName>
                                            </p:attrNameLst>
                                          </p:cBhvr>
                                          <p:rCtr x="182" y="6690"/>
                                        </p:animMotion>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5" grpId="0" animBg="1"/>
          <p:bldP spid="16" grpId="0"/>
          <p:bldP spid="20" grpId="0" animBg="1"/>
          <p:bldP spid="21" grpId="0"/>
          <p:bldP spid="25" grpId="0" animBg="1"/>
          <p:bldP spid="26" grpId="0"/>
          <p:bldP spid="30" grpId="0" animBg="1"/>
          <p:bldP spid="31" grpId="0"/>
          <p:bldP spid="37" grpId="0"/>
          <p:bldP spid="38"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fill="hold" grpId="0" nodeType="clickEffect">
                                      <p:stCondLst>
                                        <p:cond delay="0"/>
                                      </p:stCondLst>
                                      <p:childTnLst>
                                        <p:animMotion origin="layout" path="M -0.0013 -0.01412 L -1.45833E-6 0.13403 " pathEditMode="relative" rAng="0" ptsTypes="AA">
                                          <p:cBhvr>
                                            <p:cTn id="6" dur="1000" fill="hold"/>
                                            <p:tgtEl>
                                              <p:spTgt spid="30"/>
                                            </p:tgtEl>
                                            <p:attrNameLst>
                                              <p:attrName>ppt_x</p:attrName>
                                              <p:attrName>ppt_y</p:attrName>
                                            </p:attrNameLst>
                                          </p:cBhvr>
                                          <p:rCtr x="65" y="7407"/>
                                        </p:animMotion>
                                      </p:childTnLst>
                                    </p:cTn>
                                  </p:par>
                                  <p:par>
                                    <p:cTn id="7" presetID="10"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animEffect transition="in" filter="fade">
                                          <p:cBhvr>
                                            <p:cTn id="9" dur="500"/>
                                            <p:tgtEl>
                                              <p:spTgt spid="3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fill="hold" grpId="0" nodeType="clickEffect">
                                      <p:stCondLst>
                                        <p:cond delay="0"/>
                                      </p:stCondLst>
                                      <p:childTnLst>
                                        <p:animMotion origin="layout" path="M -0.0013 -0.01412 L 0 0.13403 " pathEditMode="relative" rAng="0" ptsTypes="AA">
                                          <p:cBhvr>
                                            <p:cTn id="13" dur="1000" fill="hold"/>
                                            <p:tgtEl>
                                              <p:spTgt spid="25"/>
                                            </p:tgtEl>
                                            <p:attrNameLst>
                                              <p:attrName>ppt_x</p:attrName>
                                              <p:attrName>ppt_y</p:attrName>
                                            </p:attrNameLst>
                                          </p:cBhvr>
                                          <p:rCtr x="65" y="7407"/>
                                        </p:animMotion>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fill="hold" grpId="0" nodeType="clickEffect">
                                      <p:stCondLst>
                                        <p:cond delay="0"/>
                                      </p:stCondLst>
                                      <p:childTnLst>
                                        <p:animMotion origin="layout" path="M -0.0013 -0.01412 L 2.29167E-6 0.13403 " pathEditMode="relative" rAng="0" ptsTypes="AA">
                                          <p:cBhvr>
                                            <p:cTn id="20" dur="1000" fill="hold"/>
                                            <p:tgtEl>
                                              <p:spTgt spid="20"/>
                                            </p:tgtEl>
                                            <p:attrNameLst>
                                              <p:attrName>ppt_x</p:attrName>
                                              <p:attrName>ppt_y</p:attrName>
                                            </p:attrNameLst>
                                          </p:cBhvr>
                                          <p:rCtr x="65" y="7407"/>
                                        </p:animMotion>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fill="hold" grpId="0" nodeType="clickEffect">
                                      <p:stCondLst>
                                        <p:cond delay="0"/>
                                      </p:stCondLst>
                                      <p:childTnLst>
                                        <p:animMotion origin="layout" path="M -0.0013 -0.01412 L -4.58333E-6 0.13403 " pathEditMode="relative" rAng="0" ptsTypes="AA">
                                          <p:cBhvr>
                                            <p:cTn id="27" dur="1000" fill="hold"/>
                                            <p:tgtEl>
                                              <p:spTgt spid="15"/>
                                            </p:tgtEl>
                                            <p:attrNameLst>
                                              <p:attrName>ppt_x</p:attrName>
                                              <p:attrName>ppt_y</p:attrName>
                                            </p:attrNameLst>
                                          </p:cBhvr>
                                          <p:rCtr x="65" y="7407"/>
                                        </p:animMotion>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fill="hold" grpId="0" nodeType="clickEffect">
                                      <p:stCondLst>
                                        <p:cond delay="0"/>
                                      </p:stCondLst>
                                      <p:childTnLst>
                                        <p:animMotion origin="layout" path="M 0.00261 -1.85185E-6 L -0.00013 0.1456 " pathEditMode="relative" rAng="0" ptsTypes="AA">
                                          <p:cBhvr>
                                            <p:cTn id="34" dur="1000" fill="hold"/>
                                            <p:tgtEl>
                                              <p:spTgt spid="10"/>
                                            </p:tgtEl>
                                            <p:attrNameLst>
                                              <p:attrName>ppt_x</p:attrName>
                                              <p:attrName>ppt_y</p:attrName>
                                            </p:attrNameLst>
                                          </p:cBhvr>
                                          <p:rCtr x="-143" y="7269"/>
                                        </p:animMotion>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fill="hold" grpId="0" nodeType="clickEffect">
                                      <p:stCondLst>
                                        <p:cond delay="0"/>
                                      </p:stCondLst>
                                      <p:childTnLst>
                                        <p:animMotion origin="layout" path="M 3.54167E-6 -2.59259E-6 L 0.00377 0.13403 " pathEditMode="relative" rAng="0" ptsTypes="AA">
                                          <p:cBhvr>
                                            <p:cTn id="41" dur="1000" fill="hold"/>
                                            <p:tgtEl>
                                              <p:spTgt spid="7"/>
                                            </p:tgtEl>
                                            <p:attrNameLst>
                                              <p:attrName>ppt_x</p:attrName>
                                              <p:attrName>ppt_y</p:attrName>
                                            </p:attrNameLst>
                                          </p:cBhvr>
                                          <p:rCtr x="182" y="6690"/>
                                        </p:animMotion>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5" grpId="0" animBg="1"/>
          <p:bldP spid="16" grpId="0"/>
          <p:bldP spid="20" grpId="0" animBg="1"/>
          <p:bldP spid="21" grpId="0"/>
          <p:bldP spid="25" grpId="0" animBg="1"/>
          <p:bldP spid="26" grpId="0"/>
          <p:bldP spid="30" grpId="0" animBg="1"/>
          <p:bldP spid="31" grpId="0"/>
          <p:bldP spid="37" grpId="0"/>
          <p:bldP spid="38"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5" name="Group 124"/>
          <p:cNvGrpSpPr/>
          <p:nvPr/>
        </p:nvGrpSpPr>
        <p:grpSpPr>
          <a:xfrm>
            <a:off x="-1408220" y="3959039"/>
            <a:ext cx="828000" cy="828000"/>
            <a:chOff x="-846043" y="3948343"/>
            <a:chExt cx="828000" cy="828000"/>
          </a:xfrm>
        </p:grpSpPr>
        <p:sp>
          <p:nvSpPr>
            <p:cNvPr id="126" name="Oval 12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27" name="Picture 1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128" name="Group 127"/>
          <p:cNvGrpSpPr/>
          <p:nvPr/>
        </p:nvGrpSpPr>
        <p:grpSpPr>
          <a:xfrm>
            <a:off x="-1329277" y="2996396"/>
            <a:ext cx="828000" cy="828000"/>
            <a:chOff x="-846043" y="2989694"/>
            <a:chExt cx="828000" cy="828000"/>
          </a:xfrm>
        </p:grpSpPr>
        <p:sp>
          <p:nvSpPr>
            <p:cNvPr id="129" name="Oval 12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0" name="Picture 1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131" name="Group 130"/>
          <p:cNvGrpSpPr/>
          <p:nvPr/>
        </p:nvGrpSpPr>
        <p:grpSpPr>
          <a:xfrm>
            <a:off x="-1390177" y="4921682"/>
            <a:ext cx="828000" cy="828000"/>
            <a:chOff x="-828000" y="4906992"/>
            <a:chExt cx="828000" cy="828000"/>
          </a:xfrm>
        </p:grpSpPr>
        <p:sp>
          <p:nvSpPr>
            <p:cNvPr id="132" name="Oval 13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3" name="Picture 1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34" name="Group 133"/>
          <p:cNvGrpSpPr/>
          <p:nvPr/>
        </p:nvGrpSpPr>
        <p:grpSpPr>
          <a:xfrm>
            <a:off x="-1449742" y="1135036"/>
            <a:ext cx="828000" cy="828000"/>
            <a:chOff x="-846043" y="1075146"/>
            <a:chExt cx="828000" cy="828000"/>
          </a:xfrm>
        </p:grpSpPr>
        <p:sp>
          <p:nvSpPr>
            <p:cNvPr id="135" name="Oval 13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6" name="Picture 1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37" name="Group 136"/>
          <p:cNvGrpSpPr/>
          <p:nvPr/>
        </p:nvGrpSpPr>
        <p:grpSpPr>
          <a:xfrm>
            <a:off x="581030" y="239304"/>
            <a:ext cx="828000" cy="828000"/>
            <a:chOff x="-846043" y="136827"/>
            <a:chExt cx="828000" cy="828000"/>
          </a:xfrm>
        </p:grpSpPr>
        <p:sp>
          <p:nvSpPr>
            <p:cNvPr id="138" name="Oval 13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9" name="Picture 13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40" name="Group 139"/>
          <p:cNvGrpSpPr/>
          <p:nvPr/>
        </p:nvGrpSpPr>
        <p:grpSpPr>
          <a:xfrm>
            <a:off x="-1408216" y="5884329"/>
            <a:ext cx="828000" cy="828000"/>
            <a:chOff x="-828000" y="5845311"/>
            <a:chExt cx="828000" cy="828000"/>
          </a:xfrm>
        </p:grpSpPr>
        <p:sp>
          <p:nvSpPr>
            <p:cNvPr id="141" name="Oval 14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42" name="Picture 14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143" name="Group 142"/>
          <p:cNvGrpSpPr/>
          <p:nvPr/>
        </p:nvGrpSpPr>
        <p:grpSpPr>
          <a:xfrm>
            <a:off x="-1298333" y="2066675"/>
            <a:ext cx="828000" cy="828000"/>
            <a:chOff x="-846043" y="2028997"/>
            <a:chExt cx="828000" cy="828000"/>
          </a:xfrm>
          <a:solidFill>
            <a:schemeClr val="bg1"/>
          </a:solidFill>
        </p:grpSpPr>
        <p:sp>
          <p:nvSpPr>
            <p:cNvPr id="144" name="Oval 14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45" name="Picture 1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146" name="Freeform 145"/>
          <p:cNvSpPr/>
          <p:nvPr/>
        </p:nvSpPr>
        <p:spPr>
          <a:xfrm>
            <a:off x="-72125" y="-10585170"/>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Zone de texte 37">
            <a:extLst>
              <a:ext uri="{FF2B5EF4-FFF2-40B4-BE49-F238E27FC236}">
                <a16:creationId xmlns:a16="http://schemas.microsoft.com/office/drawing/2014/main" id="{0E882CF3-9ABD-443E-849F-D9FB6E5ACD7E}"/>
              </a:ext>
            </a:extLst>
          </p:cNvPr>
          <p:cNvSpPr txBox="1">
            <a:spLocks/>
          </p:cNvSpPr>
          <p:nvPr/>
        </p:nvSpPr>
        <p:spPr>
          <a:xfrm>
            <a:off x="1371600" y="804672"/>
            <a:ext cx="4206240" cy="46166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0"/>
              </a:spcAft>
            </a:pPr>
            <a:r>
              <a:rPr lang="fr-FR" sz="1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LANX ENTREPRISE</a:t>
            </a:r>
          </a:p>
          <a:p>
            <a:pPr marL="0" marR="0" algn="ctr">
              <a:lnSpc>
                <a:spcPct val="107000"/>
              </a:lnSpc>
              <a:spcBef>
                <a:spcPts val="0"/>
              </a:spcBef>
              <a:spcAft>
                <a:spcPts val="0"/>
              </a:spcAft>
            </a:pPr>
            <a:r>
              <a:rPr lang="fr-FR" sz="1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Façonner l'Idéal » – start-up créée en avril 2024</a:t>
            </a:r>
          </a:p>
        </p:txBody>
      </p:sp>
      <p:sp>
        <p:nvSpPr>
          <p:cNvPr id="36" name="TextBox 35">
            <a:extLst>
              <a:ext uri="{FF2B5EF4-FFF2-40B4-BE49-F238E27FC236}">
                <a16:creationId xmlns:a16="http://schemas.microsoft.com/office/drawing/2014/main" id="{12334973-323F-4506-9EAB-80AA4C75FC57}"/>
              </a:ext>
            </a:extLst>
          </p:cNvPr>
          <p:cNvSpPr txBox="1"/>
          <p:nvPr/>
        </p:nvSpPr>
        <p:spPr>
          <a:xfrm>
            <a:off x="1222770" y="3098395"/>
            <a:ext cx="4865113" cy="338554"/>
          </a:xfrm>
          <a:prstGeom prst="rect">
            <a:avLst/>
          </a:prstGeom>
          <a:noFill/>
        </p:spPr>
        <p:txBody>
          <a:bodyPr wrap="square">
            <a:spAutoFit/>
          </a:bodyPr>
          <a:lstStyle/>
          <a:p>
            <a:pPr algn="ctr"/>
            <a:endParaRPr lang="en-US" sz="1600" dirty="0"/>
          </a:p>
        </p:txBody>
      </p:sp>
      <p:sp>
        <p:nvSpPr>
          <p:cNvPr id="37" name="Rectangle 36">
            <a:extLst>
              <a:ext uri="{FF2B5EF4-FFF2-40B4-BE49-F238E27FC236}">
                <a16:creationId xmlns:a16="http://schemas.microsoft.com/office/drawing/2014/main" id="{E009369E-5605-4264-A572-E192EAD47E1E}"/>
              </a:ext>
            </a:extLst>
          </p:cNvPr>
          <p:cNvSpPr/>
          <p:nvPr/>
        </p:nvSpPr>
        <p:spPr>
          <a:xfrm>
            <a:off x="1303410" y="2763215"/>
            <a:ext cx="4703831" cy="1485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4D15F0B-3CF1-41A6-A18B-1E581A15F8F3}"/>
              </a:ext>
            </a:extLst>
          </p:cNvPr>
          <p:cNvSpPr txBox="1"/>
          <p:nvPr/>
        </p:nvSpPr>
        <p:spPr>
          <a:xfrm>
            <a:off x="1487106" y="4283887"/>
            <a:ext cx="4245104" cy="2369880"/>
          </a:xfrm>
          <a:prstGeom prst="rect">
            <a:avLst/>
          </a:prstGeom>
          <a:noFill/>
        </p:spPr>
        <p:txBody>
          <a:bodyPr wrap="square">
            <a:spAutoFit/>
          </a:bodyPr>
          <a:lstStyle/>
          <a:p>
            <a:r>
              <a:rPr lang="fr-FR" sz="1800" u="sng">
                <a:ln w="0"/>
                <a:solidFill>
                  <a:schemeClr val="tx1"/>
                </a:solidFill>
                <a:latin typeface="Times New Roman" panose="02020603050405020304" pitchFamily="18" charset="0"/>
                <a:cs typeface="Times New Roman" panose="02020603050405020304" pitchFamily="18" charset="0"/>
              </a:rPr>
              <a:t>Services :</a:t>
            </a:r>
          </a:p>
          <a:p>
            <a:pPr marL="285750" lvl="0" indent="-285750" algn="just">
              <a:buFont typeface="Wingdings" panose="05000000000000000000" pitchFamily="2" charset="2"/>
              <a:buChar char="Ø"/>
            </a:pPr>
            <a:r>
              <a:rPr lang="fr-FR" sz="1400"/>
              <a:t>Développement web, mobile et services réseaux ;</a:t>
            </a:r>
          </a:p>
          <a:p>
            <a:pPr marL="285750" lvl="0" indent="-285750" algn="just">
              <a:buFont typeface="Wingdings" panose="05000000000000000000" pitchFamily="2" charset="2"/>
              <a:buChar char="Ø"/>
            </a:pPr>
            <a:r>
              <a:rPr lang="fr-FR" sz="1400"/>
              <a:t>Génie civil : mesure, plans et élévation ;</a:t>
            </a:r>
          </a:p>
          <a:p>
            <a:pPr marL="285750" lvl="0" indent="-285750" algn="just">
              <a:buFont typeface="Wingdings" panose="05000000000000000000" pitchFamily="2" charset="2"/>
              <a:buChar char="Ø"/>
            </a:pPr>
            <a:r>
              <a:rPr lang="fr-FR" sz="1400"/>
              <a:t>Installations électriques et électroniques ;</a:t>
            </a:r>
          </a:p>
          <a:p>
            <a:pPr marL="285750" lvl="0" indent="-285750" algn="just">
              <a:buFont typeface="Wingdings" panose="05000000000000000000" pitchFamily="2" charset="2"/>
              <a:buChar char="Ø"/>
            </a:pPr>
            <a:r>
              <a:rPr lang="fr-FR" sz="1400"/>
              <a:t>Formations qualifiantes et certifiantes ;</a:t>
            </a:r>
          </a:p>
          <a:p>
            <a:pPr marL="285750" lvl="0" indent="-285750" algn="just">
              <a:buFont typeface="Wingdings" panose="05000000000000000000" pitchFamily="2" charset="2"/>
              <a:buChar char="Ø"/>
            </a:pPr>
            <a:r>
              <a:rPr lang="fr-FR" sz="1400"/>
              <a:t>Robotique et ingénierie générale.</a:t>
            </a:r>
          </a:p>
        </p:txBody>
      </p:sp>
      <p:sp>
        <p:nvSpPr>
          <p:cNvPr id="5" name="Rectangle 4"/>
          <p:cNvSpPr/>
          <p:nvPr/>
        </p:nvSpPr>
        <p:spPr>
          <a:xfrm rot="16200000">
            <a:off x="-1268200" y="3043985"/>
            <a:ext cx="3574673" cy="584775"/>
          </a:xfrm>
          <a:prstGeom prst="rect">
            <a:avLst/>
          </a:prstGeom>
        </p:spPr>
        <p:txBody>
          <a:bodyPr wrap="square">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INTRODUCTION</a:t>
            </a:r>
          </a:p>
        </p:txBody>
      </p:sp>
      <p:sp>
        <p:nvSpPr>
          <p:cNvPr id="2" name="TextBox 1"/>
          <p:cNvSpPr txBox="1"/>
          <p:nvPr/>
        </p:nvSpPr>
        <p:spPr>
          <a:xfrm>
            <a:off x="7863840" y="164183"/>
            <a:ext cx="3291840" cy="461665"/>
          </a:xfrm>
          <a:prstGeom prst="rect">
            <a:avLst/>
          </a:prstGeom>
          <a:noFill/>
        </p:spPr>
        <p:txBody>
          <a:bodyPr wrap="square" rtlCol="0">
            <a:spAutoFit/>
          </a:bodyPr>
          <a:lstStyle/>
          <a:p>
            <a:r>
              <a:rPr lang="fr-FR" sz="2400" b="1">
                <a:latin typeface="Times New Roman" panose="02020603050405020304" pitchFamily="18" charset="0"/>
                <a:cs typeface="Times New Roman" panose="02020603050405020304" pitchFamily="18" charset="0"/>
              </a:rPr>
              <a:t>LOCALISATION :</a:t>
            </a:r>
          </a:p>
        </p:txBody>
      </p:sp>
      <p:pic>
        <p:nvPicPr>
          <p:cNvPr id="8194" name="Picture 2" descr="Animation Map GIF by The Explainer Studio"/>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8235502" y="4915011"/>
            <a:ext cx="3864086" cy="18190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4">
            <a:extLst>
              <a:ext uri="{FF2B5EF4-FFF2-40B4-BE49-F238E27FC236}">
                <a16:creationId xmlns:a16="http://schemas.microsoft.com/office/drawing/2014/main" id="{31ACD1E4-6B9B-63D9-AFB8-E17CDC4F26D3}"/>
              </a:ext>
            </a:extLst>
          </p:cNvPr>
          <p:cNvPicPr>
            <a:picLocks noChangeAspect="1"/>
          </p:cNvPicPr>
          <p:nvPr/>
        </p:nvPicPr>
        <p:blipFill rotWithShape="1">
          <a:blip r:embed="rId14"/>
          <a:stretch/>
        </p:blipFill>
        <p:spPr>
          <a:xfrm>
            <a:off x="6263640" y="822960"/>
            <a:ext cx="5669280" cy="2779776"/>
          </a:xfrm>
          <a:prstGeom prst="rect">
            <a:avLst/>
          </a:prstGeom>
          <a:ln w="12700">
            <a:solidFill>
              <a:srgbClr val="BFBFBF"/>
            </a:solidFill>
          </a:ln>
        </p:spPr>
      </p:pic>
      <p:pic>
        <p:nvPicPr>
          <p:cNvPr id="49" name="Image 1" descr="orga">
            <a:extLst>
              <a:ext uri="{FF2B5EF4-FFF2-40B4-BE49-F238E27FC236}">
                <a16:creationId xmlns:a16="http://schemas.microsoft.com/office/drawing/2014/main" id="{B155C38C-B3EE-F7D6-8D70-3E7C47BC4E26}"/>
              </a:ext>
            </a:extLst>
          </p:cNvPr>
          <p:cNvPicPr>
            <a:picLocks noChangeAspect="1"/>
          </p:cNvPicPr>
          <p:nvPr/>
        </p:nvPicPr>
        <p:blipFill>
          <a:blip r:embed="rId13"/>
          <a:stretch>
            <a:fillRect/>
          </a:stretch>
        </p:blipFill>
        <p:spPr>
          <a:xfrm>
            <a:off x="1335024" y="1298448"/>
            <a:ext cx="4745736" cy="3008376"/>
          </a:xfrm>
          <a:prstGeom prst="rect">
            <a:avLst/>
          </a:prstGeom>
        </p:spPr>
      </p:pic>
      <p:pic>
        <p:nvPicPr>
          <p:cNvPr id="8195" name="Logo LANX 8195" descr="Logo LANX"/>
          <p:cNvPicPr>
            <a:picLocks noChangeAspect="1"/>
          </p:cNvPicPr>
          <p:nvPr/>
        </p:nvPicPr>
        <p:blipFill>
          <a:blip r:embed="rId12"/>
          <a:stretch>
            <a:fillRect/>
          </a:stretch>
        </p:blipFill>
        <p:spPr>
          <a:xfrm>
            <a:off x="2788920" y="73152"/>
            <a:ext cx="731520" cy="731520"/>
          </a:xfrm>
          <a:prstGeom prst="rect">
            <a:avLst/>
          </a:prstGeom>
        </p:spPr>
      </p:pic>
      <p:sp>
        <p:nvSpPr>
          <p:cNvPr id="8196" name="Texte 8196"/>
          <p:cNvSpPr txBox="1"/>
          <p:nvPr/>
        </p:nvSpPr>
        <p:spPr>
          <a:xfrm>
            <a:off x="6263640" y="3675888"/>
            <a:ext cx="5669280" cy="320040"/>
          </a:xfrm>
          <a:prstGeom prst="rect">
            <a:avLst/>
          </a:prstGeom>
          <a:noFill/>
        </p:spPr>
        <p:txBody>
          <a:bodyPr wrap="square" lIns="0" tIns="0" rIns="0" bIns="0" rtlCol="0" anchor="t">
            <a:noAutofit/>
          </a:bodyPr>
          <a:lstStyle/>
          <a:p>
            <a:pPr algn="ctr">
              <a:spcAft>
                <a:spcPts val="0"/>
              </a:spcAft>
              <a:buNone/>
            </a:pPr>
            <a:r>
              <a:rPr lang="fr-FR" sz="1400" b="1" i="1">
                <a:solidFill>
                  <a:srgbClr val="1F3864"/>
                </a:solidFill>
                <a:latin typeface="Calibri"/>
                <a:cs typeface="Calibri"/>
              </a:rPr>
              <a:t>À environ 200 m du carrefour Acacias – Yaoundé</a:t>
            </a:r>
          </a:p>
        </p:txBody>
      </p:sp>
    </p:spTree>
    <p:extLst>
      <p:ext uri="{BB962C8B-B14F-4D97-AF65-F5344CB8AC3E}">
        <p14:creationId xmlns:p14="http://schemas.microsoft.com/office/powerpoint/2010/main" val="40387952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ircle(in)">
                                      <p:cBhvr>
                                        <p:cTn id="7" dur="2000"/>
                                        <p:tgtEl>
                                          <p:spTgt spid="35"/>
                                        </p:tgtEl>
                                      </p:cBhvr>
                                    </p:animEffect>
                                  </p:childTnLst>
                                </p:cTn>
                              </p:par>
                              <p:par>
                                <p:cTn id="8" presetID="6" presetClass="entr" presetSubtype="16" fill="hold" grpId="0" nodeType="withEffect" nodePh="1">
                                  <p:stCondLst>
                                    <p:cond delay="0"/>
                                  </p:stCondLst>
                                  <p:endCondLst>
                                    <p:cond evt="begin" delay="0">
                                      <p:tn val="8"/>
                                    </p:cond>
                                  </p:endCondLst>
                                  <p:childTnLst>
                                    <p:set>
                                      <p:cBhvr>
                                        <p:cTn id="9" dur="1" fill="hold">
                                          <p:stCondLst>
                                            <p:cond delay="0"/>
                                          </p:stCondLst>
                                        </p:cTn>
                                        <p:tgtEl>
                                          <p:spTgt spid="36"/>
                                        </p:tgtEl>
                                        <p:attrNameLst>
                                          <p:attrName>style.visibility</p:attrName>
                                        </p:attrNameLst>
                                      </p:cBhvr>
                                      <p:to>
                                        <p:strVal val="visible"/>
                                      </p:to>
                                    </p:set>
                                    <p:animEffect transition="in" filter="circle(in)">
                                      <p:cBhvr>
                                        <p:cTn id="10" dur="2000"/>
                                        <p:tgtEl>
                                          <p:spTgt spid="36"/>
                                        </p:tgtEl>
                                      </p:cBhvr>
                                    </p:animEffect>
                                  </p:childTnLst>
                                </p:cTn>
                              </p:par>
                              <p:par>
                                <p:cTn id="11" presetID="6" presetClass="entr" presetSubtype="16" fill="hold" grpId="0" nodeType="withEffect" nodePh="1">
                                  <p:stCondLst>
                                    <p:cond delay="0"/>
                                  </p:stCondLst>
                                  <p:endCondLst>
                                    <p:cond evt="begin" delay="0">
                                      <p:tn val="11"/>
                                    </p:cond>
                                  </p:endCondLst>
                                  <p:childTnLst>
                                    <p:set>
                                      <p:cBhvr>
                                        <p:cTn id="12" dur="1" fill="hold">
                                          <p:stCondLst>
                                            <p:cond delay="0"/>
                                          </p:stCondLst>
                                        </p:cTn>
                                        <p:tgtEl>
                                          <p:spTgt spid="37"/>
                                        </p:tgtEl>
                                        <p:attrNameLst>
                                          <p:attrName>style.visibility</p:attrName>
                                        </p:attrNameLst>
                                      </p:cBhvr>
                                      <p:to>
                                        <p:strVal val="visible"/>
                                      </p:to>
                                    </p:set>
                                    <p:animEffect transition="in" filter="circle(in)">
                                      <p:cBhvr>
                                        <p:cTn id="13" dur="2000"/>
                                        <p:tgtEl>
                                          <p:spTgt spid="3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circle(in)">
                                      <p:cBhvr>
                                        <p:cTn id="16" dur="2000"/>
                                        <p:tgtEl>
                                          <p:spTgt spid="38"/>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circle(in)">
                                      <p:cBhvr>
                                        <p:cTn id="19" dur="2000"/>
                                        <p:tgtEl>
                                          <p:spTgt spid="2"/>
                                        </p:tgtEl>
                                      </p:cBhvr>
                                    </p:animEffect>
                                  </p:childTnLst>
                                </p:cTn>
                              </p:par>
                              <p:par>
                                <p:cTn id="20" presetID="6" presetClass="entr" presetSubtype="16" fill="hold" nodeType="withEffect">
                                  <p:stCondLst>
                                    <p:cond delay="0"/>
                                  </p:stCondLst>
                                  <p:childTnLst>
                                    <p:set>
                                      <p:cBhvr>
                                        <p:cTn id="21" dur="1" fill="hold">
                                          <p:stCondLst>
                                            <p:cond delay="0"/>
                                          </p:stCondLst>
                                        </p:cTn>
                                        <p:tgtEl>
                                          <p:spTgt spid="8194"/>
                                        </p:tgtEl>
                                        <p:attrNameLst>
                                          <p:attrName>style.visibility</p:attrName>
                                        </p:attrNameLst>
                                      </p:cBhvr>
                                      <p:to>
                                        <p:strVal val="visible"/>
                                      </p:to>
                                    </p:set>
                                    <p:animEffect transition="in" filter="circle(in)">
                                      <p:cBhvr>
                                        <p:cTn id="22" dur="2000"/>
                                        <p:tgtEl>
                                          <p:spTgt spid="8194"/>
                                        </p:tgtEl>
                                      </p:cBhvr>
                                    </p:animEffect>
                                  </p:childTnLst>
                                </p:cTn>
                              </p:par>
                              <p:par>
                                <p:cTn id="23" presetID="6" presetClass="entr" presetSubtype="16" fill="hold" nodeType="withEffect">
                                  <p:stCondLst>
                                    <p:cond delay="0"/>
                                  </p:stCondLst>
                                  <p:childTnLst>
                                    <p:set>
                                      <p:cBhvr>
                                        <p:cTn id="24" dur="1" fill="hold">
                                          <p:stCondLst>
                                            <p:cond delay="0"/>
                                          </p:stCondLst>
                                        </p:cTn>
                                        <p:tgtEl>
                                          <p:spTgt spid="140"/>
                                        </p:tgtEl>
                                        <p:attrNameLst>
                                          <p:attrName>style.visibility</p:attrName>
                                        </p:attrNameLst>
                                      </p:cBhvr>
                                      <p:to>
                                        <p:strVal val="visible"/>
                                      </p:to>
                                    </p:set>
                                    <p:animEffect transition="in" filter="circle(in)">
                                      <p:cBhvr>
                                        <p:cTn id="25" dur="2000"/>
                                        <p:tgtEl>
                                          <p:spTgt spid="140"/>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46"/>
                                        </p:tgtEl>
                                        <p:attrNameLst>
                                          <p:attrName>style.visibility</p:attrName>
                                        </p:attrNameLst>
                                      </p:cBhvr>
                                      <p:to>
                                        <p:strVal val="visible"/>
                                      </p:to>
                                    </p:set>
                                    <p:animEffect transition="in" filter="circle(in)">
                                      <p:cBhvr>
                                        <p:cTn id="28" dur="2000"/>
                                        <p:tgtEl>
                                          <p:spTgt spid="146"/>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circle(in)">
                                      <p:cBhvr>
                                        <p:cTn id="31" dur="2000"/>
                                        <p:tgtEl>
                                          <p:spTgt spid="5"/>
                                        </p:tgtEl>
                                      </p:cBhvr>
                                    </p:animEffect>
                                  </p:childTnLst>
                                </p:cTn>
                              </p:par>
                              <p:par>
                                <p:cTn id="32" presetID="6" presetClass="entr" presetSubtype="16"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circle(in)">
                                      <p:cBhvr>
                                        <p:cTn id="34" dur="2000"/>
                                        <p:tgtEl>
                                          <p:spTgt spid="4"/>
                                        </p:tgtEl>
                                      </p:cBhvr>
                                    </p:animEffect>
                                  </p:childTnLst>
                                </p:cTn>
                              </p:par>
                              <p:par>
                                <p:cTn id="35" presetID="6" presetClass="entr" presetSubtype="16"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circle(in)">
                                      <p:cBhvr>
                                        <p:cTn id="37" dur="2000"/>
                                        <p:tgtEl>
                                          <p:spTgt spid="49"/>
                                        </p:tgtEl>
                                      </p:cBhvr>
                                    </p:animEffect>
                                  </p:childTnLst>
                                </p:cTn>
                              </p:par>
                              <p:par>
                                <p:cTn id="38" presetID="10" presetClass="entr" presetSubtype="0" fill="hold" nodeType="withEffect">
                                  <p:stCondLst>
                                    <p:cond delay="200"/>
                                  </p:stCondLst>
                                  <p:childTnLst>
                                    <p:set>
                                      <p:cBhvr>
                                        <p:cTn id="39" dur="1" fill="hold">
                                          <p:stCondLst>
                                            <p:cond delay="0"/>
                                          </p:stCondLst>
                                        </p:cTn>
                                        <p:tgtEl>
                                          <p:spTgt spid="8195"/>
                                        </p:tgtEl>
                                        <p:attrNameLst>
                                          <p:attrName>style.visibility</p:attrName>
                                        </p:attrNameLst>
                                      </p:cBhvr>
                                      <p:to>
                                        <p:strVal val="visible"/>
                                      </p:to>
                                    </p:set>
                                    <p:animEffect transition="in" filter="fade">
                                      <p:cBhvr>
                                        <p:cTn id="40" dur="600"/>
                                        <p:tgtEl>
                                          <p:spTgt spid="8195"/>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8196"/>
                                        </p:tgtEl>
                                        <p:attrNameLst>
                                          <p:attrName>style.visibility</p:attrName>
                                        </p:attrNameLst>
                                      </p:cBhvr>
                                      <p:to>
                                        <p:strVal val="visible"/>
                                      </p:to>
                                    </p:set>
                                    <p:animEffect transition="in" filter="fade">
                                      <p:cBhvr>
                                        <p:cTn id="43" dur="6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animBg="1"/>
      <p:bldP spid="35" grpId="0"/>
      <p:bldP spid="36" grpId="0"/>
      <p:bldP spid="37" grpId="0"/>
      <p:bldP spid="38" grpId="0"/>
      <p:bldP spid="5" grpId="0"/>
      <p:bldP spid="2" grpId="0"/>
      <p:bldP spid="819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408220" y="3959039"/>
            <a:ext cx="828000" cy="828000"/>
            <a:chOff x="-846043" y="3948343"/>
            <a:chExt cx="828000" cy="828000"/>
          </a:xfrm>
        </p:grpSpPr>
        <p:sp>
          <p:nvSpPr>
            <p:cNvPr id="6" name="Oval 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8" name="Group 7"/>
          <p:cNvGrpSpPr/>
          <p:nvPr/>
        </p:nvGrpSpPr>
        <p:grpSpPr>
          <a:xfrm>
            <a:off x="-1329277" y="2996396"/>
            <a:ext cx="828000" cy="828000"/>
            <a:chOff x="-846043" y="2989694"/>
            <a:chExt cx="828000" cy="828000"/>
          </a:xfrm>
        </p:grpSpPr>
        <p:sp>
          <p:nvSpPr>
            <p:cNvPr id="9" name="Oval 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11" name="Group 10"/>
          <p:cNvGrpSpPr/>
          <p:nvPr/>
        </p:nvGrpSpPr>
        <p:grpSpPr>
          <a:xfrm>
            <a:off x="-1390177" y="4921682"/>
            <a:ext cx="828000" cy="828000"/>
            <a:chOff x="-828000" y="4906992"/>
            <a:chExt cx="828000" cy="828000"/>
          </a:xfrm>
        </p:grpSpPr>
        <p:sp>
          <p:nvSpPr>
            <p:cNvPr id="12" name="Oval 1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4" name="Group 13"/>
          <p:cNvGrpSpPr/>
          <p:nvPr/>
        </p:nvGrpSpPr>
        <p:grpSpPr>
          <a:xfrm>
            <a:off x="597986" y="1122363"/>
            <a:ext cx="828000" cy="828000"/>
            <a:chOff x="-846043" y="1075146"/>
            <a:chExt cx="828000" cy="828000"/>
          </a:xfrm>
        </p:grpSpPr>
        <p:sp>
          <p:nvSpPr>
            <p:cNvPr id="15" name="Oval 1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7" name="Group 16"/>
          <p:cNvGrpSpPr/>
          <p:nvPr/>
        </p:nvGrpSpPr>
        <p:grpSpPr>
          <a:xfrm>
            <a:off x="-1163117" y="75320"/>
            <a:ext cx="828000" cy="828000"/>
            <a:chOff x="-846043" y="136827"/>
            <a:chExt cx="828000" cy="828000"/>
          </a:xfrm>
        </p:grpSpPr>
        <p:sp>
          <p:nvSpPr>
            <p:cNvPr id="18" name="Oval 1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20" name="Group 19"/>
          <p:cNvGrpSpPr/>
          <p:nvPr/>
        </p:nvGrpSpPr>
        <p:grpSpPr>
          <a:xfrm>
            <a:off x="-1408220" y="5884325"/>
            <a:ext cx="828000" cy="828000"/>
            <a:chOff x="-828000" y="5845311"/>
            <a:chExt cx="828000" cy="828000"/>
          </a:xfrm>
        </p:grpSpPr>
        <p:sp>
          <p:nvSpPr>
            <p:cNvPr id="21" name="Oval 2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3" name="Group 22"/>
          <p:cNvGrpSpPr/>
          <p:nvPr/>
        </p:nvGrpSpPr>
        <p:grpSpPr>
          <a:xfrm>
            <a:off x="-1298333" y="2066675"/>
            <a:ext cx="828000" cy="828000"/>
            <a:chOff x="-846043" y="2028997"/>
            <a:chExt cx="828000" cy="828000"/>
          </a:xfrm>
          <a:solidFill>
            <a:schemeClr val="bg1"/>
          </a:solidFill>
        </p:grpSpPr>
        <p:sp>
          <p:nvSpPr>
            <p:cNvPr id="24" name="Oval 2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5" name="Picture 2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7" name="Freeform 26"/>
          <p:cNvSpPr/>
          <p:nvPr/>
        </p:nvSpPr>
        <p:spPr>
          <a:xfrm>
            <a:off x="-90734" y="-9681854"/>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5" name="Rectangle 34"/>
          <p:cNvSpPr/>
          <p:nvPr/>
        </p:nvSpPr>
        <p:spPr>
          <a:xfrm rot="16200000">
            <a:off x="-1261433" y="3655119"/>
            <a:ext cx="4341244" cy="338554"/>
          </a:xfrm>
          <a:prstGeom prst="rect">
            <a:avLst/>
          </a:prstGeom>
        </p:spPr>
        <p:txBody>
          <a:bodyPr wrap="square">
            <a:spAutoFit/>
          </a:bodyPr>
          <a:lstStyle/>
          <a:p>
            <a:r>
              <a:rPr lang="fr-FR" sz="1600" b="1">
                <a:latin typeface="Times New Roman" panose="02020603050405020304" pitchFamily="18" charset="0"/>
                <a:cs typeface="Times New Roman" panose="02020603050405020304" pitchFamily="18" charset="0"/>
              </a:rPr>
              <a:t>CONTEXTE ET PROBLÉMATIQUE</a:t>
            </a:r>
          </a:p>
        </p:txBody>
      </p:sp>
      <p:sp>
        <p:nvSpPr>
          <p:cNvPr id="30" name="Rectangle 29">
            <a:extLst>
              <a:ext uri="{FF2B5EF4-FFF2-40B4-BE49-F238E27FC236}">
                <a16:creationId xmlns:a16="http://schemas.microsoft.com/office/drawing/2014/main" id="{6EC01C22-423C-482C-8BB5-F09C0D9EB660}"/>
              </a:ext>
            </a:extLst>
          </p:cNvPr>
          <p:cNvSpPr/>
          <p:nvPr/>
        </p:nvSpPr>
        <p:spPr>
          <a:xfrm>
            <a:off x="4204209" y="380100"/>
            <a:ext cx="2235920" cy="52322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CONTEXTE </a:t>
            </a:r>
          </a:p>
        </p:txBody>
      </p:sp>
      <p:pic>
        <p:nvPicPr>
          <p:cNvPr id="28" name="Picture 27">
            <a:extLst>
              <a:ext uri="{FF2B5EF4-FFF2-40B4-BE49-F238E27FC236}">
                <a16:creationId xmlns:a16="http://schemas.microsoft.com/office/drawing/2014/main" id="{CF8D3C51-E5EE-3E3C-B76D-51E371901C2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47363" y="2730901"/>
            <a:ext cx="3674806" cy="2612691"/>
          </a:xfrm>
          <a:prstGeom prst="rect">
            <a:avLst/>
          </a:prstGeom>
        </p:spPr>
      </p:pic>
      <p:sp>
        <p:nvSpPr>
          <p:cNvPr id="36" name="Texte 36"/>
          <p:cNvSpPr txBox="1"/>
          <p:nvPr/>
        </p:nvSpPr>
        <p:spPr>
          <a:xfrm>
            <a:off x="1463040" y="5440680"/>
            <a:ext cx="4023360" cy="640080"/>
          </a:xfrm>
          <a:prstGeom prst="rect">
            <a:avLst/>
          </a:prstGeom>
          <a:noFill/>
        </p:spPr>
        <p:txBody>
          <a:bodyPr wrap="square" lIns="0" tIns="0" rIns="0" bIns="0" rtlCol="0" anchor="t">
            <a:noAutofit/>
          </a:bodyPr>
          <a:lstStyle/>
          <a:p>
            <a:pPr algn="ctr">
              <a:spcAft>
                <a:spcPts val="0"/>
              </a:spcAft>
              <a:buNone/>
            </a:pPr>
            <a:r>
              <a:rPr lang="fr-FR" sz="1500" b="1" i="0">
                <a:solidFill>
                  <a:srgbClr val="1F3864"/>
                </a:solidFill>
                <a:latin typeface="Calibri"/>
                <a:cs typeface="Calibri"/>
              </a:rPr>
              <a:t>Des jeunes diplômés compétents…</a:t>
            </a:r>
          </a:p>
          <a:p>
            <a:pPr algn="ctr">
              <a:spcAft>
                <a:spcPts val="0"/>
              </a:spcAft>
              <a:buNone/>
            </a:pPr>
            <a:r>
              <a:rPr lang="fr-FR" sz="1500" b="0" i="1">
                <a:solidFill>
                  <a:srgbClr val="2E75B6"/>
                </a:solidFill>
                <a:latin typeface="Calibri"/>
                <a:cs typeface="Calibri"/>
              </a:rPr>
              <a:t>… mais peu accompagnés vers l'emploi</a:t>
            </a:r>
          </a:p>
        </p:txBody>
      </p:sp>
      <p:sp>
        <p:nvSpPr>
          <p:cNvPr id="37" name="Carte stat 37"/>
          <p:cNvSpPr/>
          <p:nvPr/>
        </p:nvSpPr>
        <p:spPr>
          <a:xfrm>
            <a:off x="5532120" y="1188720"/>
            <a:ext cx="3246120" cy="118872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38" name="Texte 38"/>
          <p:cNvSpPr txBox="1"/>
          <p:nvPr/>
        </p:nvSpPr>
        <p:spPr>
          <a:xfrm>
            <a:off x="5669280" y="1371600"/>
            <a:ext cx="1508760" cy="822960"/>
          </a:xfrm>
          <a:prstGeom prst="rect">
            <a:avLst/>
          </a:prstGeom>
          <a:noFill/>
        </p:spPr>
        <p:txBody>
          <a:bodyPr wrap="square" lIns="0" tIns="0" rIns="0" bIns="0" rtlCol="0" anchor="ctr">
            <a:noAutofit/>
          </a:bodyPr>
          <a:lstStyle/>
          <a:p>
            <a:pPr algn="ctr">
              <a:spcAft>
                <a:spcPts val="0"/>
              </a:spcAft>
              <a:buNone/>
            </a:pPr>
            <a:r>
              <a:rPr lang="fr-FR" sz="2800" b="1" i="0">
                <a:solidFill>
                  <a:srgbClr val="C00000"/>
                </a:solidFill>
                <a:latin typeface="Calibri"/>
                <a:cs typeface="Calibri"/>
              </a:rPr>
              <a:t>86,6 %</a:t>
            </a:r>
          </a:p>
        </p:txBody>
      </p:sp>
      <p:sp>
        <p:nvSpPr>
          <p:cNvPr id="39" name="Texte 39"/>
          <p:cNvSpPr txBox="1"/>
          <p:nvPr/>
        </p:nvSpPr>
        <p:spPr>
          <a:xfrm>
            <a:off x="7223760" y="1325880"/>
            <a:ext cx="1463040" cy="914400"/>
          </a:xfrm>
          <a:prstGeom prst="rect">
            <a:avLst/>
          </a:prstGeom>
          <a:noFill/>
        </p:spPr>
        <p:txBody>
          <a:bodyPr wrap="square" lIns="0" tIns="0" rIns="0" bIns="0" rtlCol="0" anchor="ctr">
            <a:noAutofit/>
          </a:bodyPr>
          <a:lstStyle/>
          <a:p>
            <a:pPr algn="l">
              <a:spcAft>
                <a:spcPts val="0"/>
              </a:spcAft>
              <a:buNone/>
            </a:pPr>
            <a:r>
              <a:rPr lang="fr-FR" sz="1300" b="0" i="0">
                <a:solidFill>
                  <a:srgbClr val="1F3864"/>
                </a:solidFill>
                <a:latin typeface="Calibri"/>
                <a:cs typeface="Calibri"/>
              </a:rPr>
              <a:t>des emplois relèvent du secteur informel</a:t>
            </a:r>
          </a:p>
        </p:txBody>
      </p:sp>
      <p:sp>
        <p:nvSpPr>
          <p:cNvPr id="40" name="Carte stat 40"/>
          <p:cNvSpPr/>
          <p:nvPr/>
        </p:nvSpPr>
        <p:spPr>
          <a:xfrm>
            <a:off x="5532120" y="2560320"/>
            <a:ext cx="3246120" cy="118872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41" name="Texte 41"/>
          <p:cNvSpPr txBox="1"/>
          <p:nvPr/>
        </p:nvSpPr>
        <p:spPr>
          <a:xfrm>
            <a:off x="5669280" y="2743200"/>
            <a:ext cx="1508760" cy="822960"/>
          </a:xfrm>
          <a:prstGeom prst="rect">
            <a:avLst/>
          </a:prstGeom>
          <a:noFill/>
        </p:spPr>
        <p:txBody>
          <a:bodyPr wrap="square" lIns="0" tIns="0" rIns="0" bIns="0" rtlCol="0" anchor="ctr">
            <a:noAutofit/>
          </a:bodyPr>
          <a:lstStyle/>
          <a:p>
            <a:pPr algn="ctr">
              <a:spcAft>
                <a:spcPts val="0"/>
              </a:spcAft>
              <a:buNone/>
            </a:pPr>
            <a:r>
              <a:rPr lang="fr-FR" sz="2800" b="1" i="0">
                <a:solidFill>
                  <a:srgbClr val="E36C09"/>
                </a:solidFill>
                <a:latin typeface="Calibri"/>
                <a:cs typeface="Calibri"/>
              </a:rPr>
              <a:t>≈ 70 %</a:t>
            </a:r>
          </a:p>
        </p:txBody>
      </p:sp>
      <p:sp>
        <p:nvSpPr>
          <p:cNvPr id="42" name="Texte 42"/>
          <p:cNvSpPr txBox="1"/>
          <p:nvPr/>
        </p:nvSpPr>
        <p:spPr>
          <a:xfrm>
            <a:off x="7223760" y="2697480"/>
            <a:ext cx="1463040" cy="914400"/>
          </a:xfrm>
          <a:prstGeom prst="rect">
            <a:avLst/>
          </a:prstGeom>
          <a:noFill/>
        </p:spPr>
        <p:txBody>
          <a:bodyPr wrap="square" lIns="0" tIns="0" rIns="0" bIns="0" rtlCol="0" anchor="ctr">
            <a:noAutofit/>
          </a:bodyPr>
          <a:lstStyle/>
          <a:p>
            <a:pPr algn="l">
              <a:spcAft>
                <a:spcPts val="0"/>
              </a:spcAft>
              <a:buNone/>
            </a:pPr>
            <a:r>
              <a:rPr lang="fr-FR" sz="1300" b="0" i="0">
                <a:solidFill>
                  <a:srgbClr val="1F3864"/>
                </a:solidFill>
                <a:latin typeface="Calibri"/>
                <a:cs typeface="Calibri"/>
              </a:rPr>
              <a:t>des actifs occupés sont en sous-emploi</a:t>
            </a:r>
          </a:p>
        </p:txBody>
      </p:sp>
      <p:sp>
        <p:nvSpPr>
          <p:cNvPr id="43" name="Carte stat 43"/>
          <p:cNvSpPr/>
          <p:nvPr/>
        </p:nvSpPr>
        <p:spPr>
          <a:xfrm>
            <a:off x="5532120" y="3931920"/>
            <a:ext cx="3246120" cy="118872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44" name="Texte 44"/>
          <p:cNvSpPr txBox="1"/>
          <p:nvPr/>
        </p:nvSpPr>
        <p:spPr>
          <a:xfrm>
            <a:off x="5669280" y="4114800"/>
            <a:ext cx="1508760" cy="822960"/>
          </a:xfrm>
          <a:prstGeom prst="rect">
            <a:avLst/>
          </a:prstGeom>
          <a:noFill/>
        </p:spPr>
        <p:txBody>
          <a:bodyPr wrap="square" lIns="0" tIns="0" rIns="0" bIns="0" rtlCol="0" anchor="ctr">
            <a:noAutofit/>
          </a:bodyPr>
          <a:lstStyle/>
          <a:p>
            <a:pPr algn="ctr">
              <a:spcAft>
                <a:spcPts val="0"/>
              </a:spcAft>
              <a:buNone/>
            </a:pPr>
            <a:r>
              <a:rPr lang="fr-FR" sz="2800" b="1" i="0">
                <a:solidFill>
                  <a:srgbClr val="1F3864"/>
                </a:solidFill>
                <a:latin typeface="Calibri"/>
                <a:cs typeface="Calibri"/>
              </a:rPr>
              <a:t>39,3 %</a:t>
            </a:r>
          </a:p>
        </p:txBody>
      </p:sp>
      <p:sp>
        <p:nvSpPr>
          <p:cNvPr id="45" name="Texte 45"/>
          <p:cNvSpPr txBox="1"/>
          <p:nvPr/>
        </p:nvSpPr>
        <p:spPr>
          <a:xfrm>
            <a:off x="7223760" y="4069080"/>
            <a:ext cx="1463040" cy="914400"/>
          </a:xfrm>
          <a:prstGeom prst="rect">
            <a:avLst/>
          </a:prstGeom>
          <a:noFill/>
        </p:spPr>
        <p:txBody>
          <a:bodyPr wrap="square" lIns="0" tIns="0" rIns="0" bIns="0" rtlCol="0" anchor="ctr">
            <a:noAutofit/>
          </a:bodyPr>
          <a:lstStyle/>
          <a:p>
            <a:pPr algn="l">
              <a:spcAft>
                <a:spcPts val="0"/>
              </a:spcAft>
              <a:buNone/>
            </a:pPr>
            <a:r>
              <a:rPr lang="fr-FR" sz="1300" b="0" i="0">
                <a:solidFill>
                  <a:srgbClr val="1F3864"/>
                </a:solidFill>
                <a:latin typeface="Calibri"/>
                <a:cs typeface="Calibri"/>
              </a:rPr>
              <a:t>seulement des 15–34 ans ont un emploi</a:t>
            </a:r>
          </a:p>
        </p:txBody>
      </p:sp>
      <p:sp>
        <p:nvSpPr>
          <p:cNvPr id="46" name="Texte 46"/>
          <p:cNvSpPr txBox="1"/>
          <p:nvPr/>
        </p:nvSpPr>
        <p:spPr>
          <a:xfrm>
            <a:off x="5532120" y="5349240"/>
            <a:ext cx="3291840" cy="274320"/>
          </a:xfrm>
          <a:prstGeom prst="rect">
            <a:avLst/>
          </a:prstGeom>
          <a:noFill/>
        </p:spPr>
        <p:txBody>
          <a:bodyPr wrap="square" lIns="0" tIns="0" rIns="0" bIns="0" rtlCol="0" anchor="t">
            <a:noAutofit/>
          </a:bodyPr>
          <a:lstStyle/>
          <a:p>
            <a:pPr algn="l">
              <a:spcAft>
                <a:spcPts val="0"/>
              </a:spcAft>
              <a:buNone/>
            </a:pPr>
            <a:r>
              <a:rPr lang="fr-FR" sz="1000" b="0" i="1">
                <a:solidFill>
                  <a:srgbClr val="595959"/>
                </a:solidFill>
                <a:latin typeface="Calibri"/>
                <a:cs typeface="Calibri"/>
              </a:rPr>
              <a:t>Source : INS Cameroun – enquête EESI3</a:t>
            </a:r>
          </a:p>
        </p:txBody>
      </p:sp>
    </p:spTree>
    <p:extLst>
      <p:ext uri="{BB962C8B-B14F-4D97-AF65-F5344CB8AC3E}">
        <p14:creationId xmlns:p14="http://schemas.microsoft.com/office/powerpoint/2010/main" val="341389484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6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600"/>
                                        <p:tgtEl>
                                          <p:spTgt spid="37"/>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600"/>
                                        <p:tgtEl>
                                          <p:spTgt spid="3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600"/>
                                        <p:tgtEl>
                                          <p:spTgt spid="39"/>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600"/>
                                        <p:tgtEl>
                                          <p:spTgt spid="40"/>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600"/>
                                        <p:tgtEl>
                                          <p:spTgt spid="41"/>
                                        </p:tgtEl>
                                      </p:cBhvr>
                                    </p:animEffect>
                                  </p:childTnLst>
                                </p:cTn>
                              </p:par>
                              <p:par>
                                <p:cTn id="30" presetID="10" presetClass="entr" presetSubtype="0" fill="hold" grpId="0" nodeType="withEffect">
                                  <p:stCondLst>
                                    <p:cond delay="125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600"/>
                                        <p:tgtEl>
                                          <p:spTgt spid="42"/>
                                        </p:tgtEl>
                                      </p:cBhvr>
                                    </p:animEffect>
                                  </p:childTnLst>
                                </p:cTn>
                              </p:par>
                              <p:par>
                                <p:cTn id="33" presetID="10" presetClass="entr" presetSubtype="0" fill="hold" grpId="0" nodeType="withEffect">
                                  <p:stCondLst>
                                    <p:cond delay="150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600"/>
                                        <p:tgtEl>
                                          <p:spTgt spid="43"/>
                                        </p:tgtEl>
                                      </p:cBhvr>
                                    </p:animEffect>
                                  </p:childTnLst>
                                </p:cTn>
                              </p:par>
                              <p:par>
                                <p:cTn id="36" presetID="10" presetClass="entr" presetSubtype="0" fill="hold" grpId="0" nodeType="withEffect">
                                  <p:stCondLst>
                                    <p:cond delay="175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600"/>
                                        <p:tgtEl>
                                          <p:spTgt spid="44"/>
                                        </p:tgtEl>
                                      </p:cBhvr>
                                    </p:animEffect>
                                  </p:childTnLst>
                                </p:cTn>
                              </p:par>
                              <p:par>
                                <p:cTn id="39" presetID="10" presetClass="entr" presetSubtype="0" fill="hold" grpId="0" nodeType="withEffect">
                                  <p:stCondLst>
                                    <p:cond delay="200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600"/>
                                        <p:tgtEl>
                                          <p:spTgt spid="45"/>
                                        </p:tgtEl>
                                      </p:cBhvr>
                                    </p:animEffect>
                                  </p:childTnLst>
                                </p:cTn>
                              </p:par>
                              <p:par>
                                <p:cTn id="42" presetID="10" presetClass="entr" presetSubtype="0" fill="hold" grpId="0" nodeType="withEffect">
                                  <p:stCondLst>
                                    <p:cond delay="225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P spid="43" grpId="0"/>
      <p:bldP spid="44" grpId="0"/>
      <p:bldP spid="45" grpId="0"/>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1408220" y="3959039"/>
            <a:ext cx="828000" cy="828000"/>
            <a:chOff x="-846043" y="3948343"/>
            <a:chExt cx="828000" cy="828000"/>
          </a:xfrm>
        </p:grpSpPr>
        <p:sp>
          <p:nvSpPr>
            <p:cNvPr id="3" name="Oval 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5" name="Group 4"/>
          <p:cNvGrpSpPr/>
          <p:nvPr/>
        </p:nvGrpSpPr>
        <p:grpSpPr>
          <a:xfrm>
            <a:off x="-1329277" y="2996396"/>
            <a:ext cx="828000" cy="828000"/>
            <a:chOff x="-846043" y="2989694"/>
            <a:chExt cx="828000" cy="828000"/>
          </a:xfrm>
        </p:grpSpPr>
        <p:sp>
          <p:nvSpPr>
            <p:cNvPr id="6" name="Oval 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8" name="Group 7"/>
          <p:cNvGrpSpPr/>
          <p:nvPr/>
        </p:nvGrpSpPr>
        <p:grpSpPr>
          <a:xfrm>
            <a:off x="-1390177" y="4921682"/>
            <a:ext cx="828000" cy="828000"/>
            <a:chOff x="-828000" y="4906992"/>
            <a:chExt cx="828000" cy="828000"/>
          </a:xfrm>
        </p:grpSpPr>
        <p:sp>
          <p:nvSpPr>
            <p:cNvPr id="9" name="Oval 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1" name="Group 10"/>
          <p:cNvGrpSpPr/>
          <p:nvPr/>
        </p:nvGrpSpPr>
        <p:grpSpPr>
          <a:xfrm>
            <a:off x="597986" y="1122363"/>
            <a:ext cx="828000" cy="828000"/>
            <a:chOff x="-846043" y="1075146"/>
            <a:chExt cx="828000" cy="828000"/>
          </a:xfrm>
        </p:grpSpPr>
        <p:sp>
          <p:nvSpPr>
            <p:cNvPr id="12" name="Oval 1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4" name="Group 13"/>
          <p:cNvGrpSpPr/>
          <p:nvPr/>
        </p:nvGrpSpPr>
        <p:grpSpPr>
          <a:xfrm>
            <a:off x="-1163117" y="75320"/>
            <a:ext cx="828000" cy="828000"/>
            <a:chOff x="-846043" y="136827"/>
            <a:chExt cx="828000" cy="828000"/>
          </a:xfrm>
        </p:grpSpPr>
        <p:sp>
          <p:nvSpPr>
            <p:cNvPr id="15" name="Oval 1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7" name="Group 16"/>
          <p:cNvGrpSpPr/>
          <p:nvPr/>
        </p:nvGrpSpPr>
        <p:grpSpPr>
          <a:xfrm>
            <a:off x="-1408220" y="5884325"/>
            <a:ext cx="828000" cy="828000"/>
            <a:chOff x="-828000" y="5845311"/>
            <a:chExt cx="828000" cy="828000"/>
          </a:xfrm>
        </p:grpSpPr>
        <p:sp>
          <p:nvSpPr>
            <p:cNvPr id="18" name="Oval 1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0" name="Group 19"/>
          <p:cNvGrpSpPr/>
          <p:nvPr/>
        </p:nvGrpSpPr>
        <p:grpSpPr>
          <a:xfrm>
            <a:off x="-1298333" y="2066675"/>
            <a:ext cx="828000" cy="828000"/>
            <a:chOff x="-846043" y="2028997"/>
            <a:chExt cx="828000" cy="828000"/>
          </a:xfrm>
          <a:solidFill>
            <a:schemeClr val="bg1"/>
          </a:solidFill>
        </p:grpSpPr>
        <p:sp>
          <p:nvSpPr>
            <p:cNvPr id="21" name="Oval 2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3" name="Freeform 22"/>
          <p:cNvSpPr/>
          <p:nvPr/>
        </p:nvSpPr>
        <p:spPr>
          <a:xfrm>
            <a:off x="-90734" y="-9681854"/>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Rectangle 25"/>
          <p:cNvSpPr/>
          <p:nvPr/>
        </p:nvSpPr>
        <p:spPr>
          <a:xfrm rot="16200000">
            <a:off x="-2154741" y="3421415"/>
            <a:ext cx="4852440" cy="338554"/>
          </a:xfrm>
          <a:prstGeom prst="rect">
            <a:avLst/>
          </a:prstGeom>
        </p:spPr>
        <p:txBody>
          <a:bodyPr wrap="square">
            <a:spAutoFit/>
          </a:bodyPr>
          <a:lstStyle/>
          <a:p>
            <a:r>
              <a:rPr lang="fr-FR" sz="1600" b="1">
                <a:latin typeface="Times New Roman" panose="02020603050405020304" pitchFamily="18" charset="0"/>
                <a:cs typeface="Times New Roman" panose="02020603050405020304" pitchFamily="18" charset="0"/>
              </a:rPr>
              <a:t>CONTEXTE ET PROBLÉMATIQUE</a:t>
            </a:r>
          </a:p>
        </p:txBody>
      </p:sp>
      <p:pic>
        <p:nvPicPr>
          <p:cNvPr id="6146" name="Picture 2" descr="stick_figure_speaking_to_small_audience_1600_wht_33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9500" y="2133708"/>
            <a:ext cx="4143776" cy="3381375"/>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CAABED7F-555D-495C-57ED-14A40CF65F0F}"/>
              </a:ext>
            </a:extLst>
          </p:cNvPr>
          <p:cNvSpPr txBox="1"/>
          <p:nvPr/>
        </p:nvSpPr>
        <p:spPr>
          <a:xfrm flipH="1">
            <a:off x="4218039" y="377548"/>
            <a:ext cx="5604386" cy="646331"/>
          </a:xfrm>
          <a:prstGeom prst="rect">
            <a:avLst/>
          </a:prstGeom>
          <a:noFill/>
        </p:spPr>
        <p:txBody>
          <a:bodyPr wrap="square" rtlCol="0">
            <a:spAutoFit/>
          </a:bodyPr>
          <a:lstStyle/>
          <a:p>
            <a:r>
              <a:rPr lang="fr-FR" sz="3600" b="1"/>
              <a:t>PROBLÉMATIQUE</a:t>
            </a:r>
          </a:p>
        </p:txBody>
      </p:sp>
      <p:pic>
        <p:nvPicPr>
          <p:cNvPr id="27" name="Picture 26">
            <a:extLst>
              <a:ext uri="{FF2B5EF4-FFF2-40B4-BE49-F238E27FC236}">
                <a16:creationId xmlns:a16="http://schemas.microsoft.com/office/drawing/2014/main" id="{2B4DECB2-A0E4-A00A-2205-96785840F90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26085" y="1892429"/>
            <a:ext cx="3512881" cy="3029253"/>
          </a:xfrm>
          <a:prstGeom prst="rect">
            <a:avLst/>
          </a:prstGeom>
        </p:spPr>
      </p:pic>
      <p:sp>
        <p:nvSpPr>
          <p:cNvPr id="28" name="Rectangle 27"/>
          <p:cNvSpPr/>
          <p:nvPr/>
        </p:nvSpPr>
        <p:spPr>
          <a:xfrm>
            <a:off x="5120640" y="4343400"/>
            <a:ext cx="4206240" cy="2148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1F3864"/>
                </a:solidFill>
              </a:rPr>
              <a:t>Comment concevoir une plateforme intelligente qui aide les jeunes diplômés à valoriser leur profil, trouver les bonnes offres et se préparer aux entretiens ?</a:t>
            </a:r>
          </a:p>
        </p:txBody>
      </p:sp>
    </p:spTree>
    <p:extLst>
      <p:ext uri="{BB962C8B-B14F-4D97-AF65-F5344CB8AC3E}">
        <p14:creationId xmlns:p14="http://schemas.microsoft.com/office/powerpoint/2010/main" val="1734048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1000" fill="hold"/>
                                        <p:tgtEl>
                                          <p:spTgt spid="6146"/>
                                        </p:tgtEl>
                                        <p:attrNameLst>
                                          <p:attrName>ppt_w</p:attrName>
                                        </p:attrNameLst>
                                      </p:cBhvr>
                                      <p:tavLst>
                                        <p:tav tm="0">
                                          <p:val>
                                            <p:fltVal val="0"/>
                                          </p:val>
                                        </p:tav>
                                        <p:tav tm="100000">
                                          <p:val>
                                            <p:strVal val="#ppt_w"/>
                                          </p:val>
                                        </p:tav>
                                      </p:tavLst>
                                    </p:anim>
                                    <p:anim calcmode="lin" valueType="num">
                                      <p:cBhvr>
                                        <p:cTn id="8" dur="1000" fill="hold"/>
                                        <p:tgtEl>
                                          <p:spTgt spid="6146"/>
                                        </p:tgtEl>
                                        <p:attrNameLst>
                                          <p:attrName>ppt_h</p:attrName>
                                        </p:attrNameLst>
                                      </p:cBhvr>
                                      <p:tavLst>
                                        <p:tav tm="0">
                                          <p:val>
                                            <p:fltVal val="0"/>
                                          </p:val>
                                        </p:tav>
                                        <p:tav tm="100000">
                                          <p:val>
                                            <p:strVal val="#ppt_h"/>
                                          </p:val>
                                        </p:tav>
                                      </p:tavLst>
                                    </p:anim>
                                    <p:anim calcmode="lin" valueType="num">
                                      <p:cBhvr>
                                        <p:cTn id="9" dur="1000" fill="hold"/>
                                        <p:tgtEl>
                                          <p:spTgt spid="6146"/>
                                        </p:tgtEl>
                                        <p:attrNameLst>
                                          <p:attrName>style.rotation</p:attrName>
                                        </p:attrNameLst>
                                      </p:cBhvr>
                                      <p:tavLst>
                                        <p:tav tm="0">
                                          <p:val>
                                            <p:fltVal val="90"/>
                                          </p:val>
                                        </p:tav>
                                        <p:tav tm="100000">
                                          <p:val>
                                            <p:fltVal val="0"/>
                                          </p:val>
                                        </p:tav>
                                      </p:tavLst>
                                    </p:anim>
                                    <p:animEffect transition="in" filter="fade">
                                      <p:cBhvr>
                                        <p:cTn id="10" dur="1000"/>
                                        <p:tgtEl>
                                          <p:spTgt spid="614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p:cTn id="13" dur="1000" fill="hold"/>
                                        <p:tgtEl>
                                          <p:spTgt spid="24"/>
                                        </p:tgtEl>
                                        <p:attrNameLst>
                                          <p:attrName>ppt_w</p:attrName>
                                        </p:attrNameLst>
                                      </p:cBhvr>
                                      <p:tavLst>
                                        <p:tav tm="0">
                                          <p:val>
                                            <p:fltVal val="0"/>
                                          </p:val>
                                        </p:tav>
                                        <p:tav tm="100000">
                                          <p:val>
                                            <p:strVal val="#ppt_w"/>
                                          </p:val>
                                        </p:tav>
                                      </p:tavLst>
                                    </p:anim>
                                    <p:anim calcmode="lin" valueType="num">
                                      <p:cBhvr>
                                        <p:cTn id="14" dur="1000" fill="hold"/>
                                        <p:tgtEl>
                                          <p:spTgt spid="24"/>
                                        </p:tgtEl>
                                        <p:attrNameLst>
                                          <p:attrName>ppt_h</p:attrName>
                                        </p:attrNameLst>
                                      </p:cBhvr>
                                      <p:tavLst>
                                        <p:tav tm="0">
                                          <p:val>
                                            <p:fltVal val="0"/>
                                          </p:val>
                                        </p:tav>
                                        <p:tav tm="100000">
                                          <p:val>
                                            <p:strVal val="#ppt_h"/>
                                          </p:val>
                                        </p:tav>
                                      </p:tavLst>
                                    </p:anim>
                                    <p:anim calcmode="lin" valueType="num">
                                      <p:cBhvr>
                                        <p:cTn id="15" dur="1000" fill="hold"/>
                                        <p:tgtEl>
                                          <p:spTgt spid="24"/>
                                        </p:tgtEl>
                                        <p:attrNameLst>
                                          <p:attrName>style.rotation</p:attrName>
                                        </p:attrNameLst>
                                      </p:cBhvr>
                                      <p:tavLst>
                                        <p:tav tm="0">
                                          <p:val>
                                            <p:fltVal val="90"/>
                                          </p:val>
                                        </p:tav>
                                        <p:tav tm="100000">
                                          <p:val>
                                            <p:fltVal val="0"/>
                                          </p:val>
                                        </p:tav>
                                      </p:tavLst>
                                    </p:anim>
                                    <p:animEffect transition="in" filter="fade">
                                      <p:cBhvr>
                                        <p:cTn id="16" dur="10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p:cTn id="21" dur="500" fill="hold"/>
                                        <p:tgtEl>
                                          <p:spTgt spid="28"/>
                                        </p:tgtEl>
                                        <p:attrNameLst>
                                          <p:attrName>ppt_w</p:attrName>
                                        </p:attrNameLst>
                                      </p:cBhvr>
                                      <p:tavLst>
                                        <p:tav tm="0">
                                          <p:val>
                                            <p:fltVal val="0"/>
                                          </p:val>
                                        </p:tav>
                                        <p:tav tm="100000">
                                          <p:val>
                                            <p:strVal val="#ppt_w"/>
                                          </p:val>
                                        </p:tav>
                                      </p:tavLst>
                                    </p:anim>
                                    <p:anim calcmode="lin" valueType="num">
                                      <p:cBhvr>
                                        <p:cTn id="22" dur="500" fill="hold"/>
                                        <p:tgtEl>
                                          <p:spTgt spid="28"/>
                                        </p:tgtEl>
                                        <p:attrNameLst>
                                          <p:attrName>ppt_h</p:attrName>
                                        </p:attrNameLst>
                                      </p:cBhvr>
                                      <p:tavLst>
                                        <p:tav tm="0">
                                          <p:val>
                                            <p:fltVal val="0"/>
                                          </p:val>
                                        </p:tav>
                                        <p:tav tm="100000">
                                          <p:val>
                                            <p:strVal val="#ppt_h"/>
                                          </p:val>
                                        </p:tav>
                                      </p:tavLst>
                                    </p:anim>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Group 35"/>
          <p:cNvGrpSpPr/>
          <p:nvPr/>
        </p:nvGrpSpPr>
        <p:grpSpPr>
          <a:xfrm>
            <a:off x="-1408220" y="3959039"/>
            <a:ext cx="828000" cy="828000"/>
            <a:chOff x="-846043" y="3948343"/>
            <a:chExt cx="828000" cy="828000"/>
          </a:xfrm>
        </p:grpSpPr>
        <p:sp>
          <p:nvSpPr>
            <p:cNvPr id="37" name="Oval 36"/>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9" name="Group 38"/>
          <p:cNvGrpSpPr/>
          <p:nvPr/>
        </p:nvGrpSpPr>
        <p:grpSpPr>
          <a:xfrm>
            <a:off x="-1329277" y="2996396"/>
            <a:ext cx="828000" cy="828000"/>
            <a:chOff x="-846043" y="2989694"/>
            <a:chExt cx="828000" cy="828000"/>
          </a:xfrm>
        </p:grpSpPr>
        <p:sp>
          <p:nvSpPr>
            <p:cNvPr id="40" name="Oval 39"/>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1" name="Picture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2" name="Group 41"/>
          <p:cNvGrpSpPr/>
          <p:nvPr/>
        </p:nvGrpSpPr>
        <p:grpSpPr>
          <a:xfrm>
            <a:off x="-1390177" y="4921682"/>
            <a:ext cx="828000" cy="828000"/>
            <a:chOff x="-828000" y="4906992"/>
            <a:chExt cx="828000" cy="828000"/>
          </a:xfrm>
        </p:grpSpPr>
        <p:sp>
          <p:nvSpPr>
            <p:cNvPr id="43" name="Oval 42"/>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5" name="Group 44"/>
          <p:cNvGrpSpPr/>
          <p:nvPr/>
        </p:nvGrpSpPr>
        <p:grpSpPr>
          <a:xfrm>
            <a:off x="-1272072" y="936967"/>
            <a:ext cx="828000" cy="828000"/>
            <a:chOff x="-846043" y="1075146"/>
            <a:chExt cx="828000" cy="828000"/>
          </a:xfrm>
        </p:grpSpPr>
        <p:sp>
          <p:nvSpPr>
            <p:cNvPr id="46" name="Oval 45"/>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8" name="Group 47"/>
          <p:cNvGrpSpPr/>
          <p:nvPr/>
        </p:nvGrpSpPr>
        <p:grpSpPr>
          <a:xfrm>
            <a:off x="-1163117" y="75320"/>
            <a:ext cx="828000" cy="828000"/>
            <a:chOff x="-846043" y="136827"/>
            <a:chExt cx="828000" cy="828000"/>
          </a:xfrm>
        </p:grpSpPr>
        <p:sp>
          <p:nvSpPr>
            <p:cNvPr id="49" name="Oval 48"/>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0" name="Picture 4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1" name="Group 50"/>
          <p:cNvGrpSpPr/>
          <p:nvPr/>
        </p:nvGrpSpPr>
        <p:grpSpPr>
          <a:xfrm>
            <a:off x="-1408220" y="5884325"/>
            <a:ext cx="828000" cy="828000"/>
            <a:chOff x="-828000" y="5845311"/>
            <a:chExt cx="828000" cy="828000"/>
          </a:xfrm>
        </p:grpSpPr>
        <p:sp>
          <p:nvSpPr>
            <p:cNvPr id="52" name="Oval 51"/>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4" name="Group 53"/>
          <p:cNvGrpSpPr/>
          <p:nvPr/>
        </p:nvGrpSpPr>
        <p:grpSpPr>
          <a:xfrm>
            <a:off x="583779" y="2013314"/>
            <a:ext cx="828000" cy="828000"/>
            <a:chOff x="-846043" y="2028997"/>
            <a:chExt cx="828000" cy="828000"/>
          </a:xfrm>
          <a:solidFill>
            <a:schemeClr val="bg1"/>
          </a:solidFill>
        </p:grpSpPr>
        <p:sp>
          <p:nvSpPr>
            <p:cNvPr id="55" name="Oval 54"/>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6" name="Picture 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7" name="Freeform 56"/>
          <p:cNvSpPr/>
          <p:nvPr/>
        </p:nvSpPr>
        <p:spPr>
          <a:xfrm>
            <a:off x="-56228" y="-8767452"/>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1532952" y="3902195"/>
            <a:ext cx="3454792"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PROPOSITION DE SOLUTION</a:t>
            </a:r>
          </a:p>
        </p:txBody>
      </p:sp>
      <p:pic>
        <p:nvPicPr>
          <p:cNvPr id="5" name="Picture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51746" y="75320"/>
            <a:ext cx="2060711" cy="2060711"/>
          </a:xfrm>
          <a:prstGeom prst="rect">
            <a:avLst/>
          </a:prstGeom>
        </p:spPr>
      </p:pic>
      <p:sp>
        <p:nvSpPr>
          <p:cNvPr id="29" name="Rectangle 28">
            <a:extLst>
              <a:ext uri="{FF2B5EF4-FFF2-40B4-BE49-F238E27FC236}">
                <a16:creationId xmlns:a16="http://schemas.microsoft.com/office/drawing/2014/main" id="{471FA961-8140-81A8-DF38-CCCB828DE23B}"/>
              </a:ext>
            </a:extLst>
          </p:cNvPr>
          <p:cNvSpPr/>
          <p:nvPr/>
        </p:nvSpPr>
        <p:spPr>
          <a:xfrm>
            <a:off x="2621932" y="380100"/>
            <a:ext cx="6119662" cy="52322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PROPOSITION DE SOLUTION</a:t>
            </a:r>
          </a:p>
        </p:txBody>
      </p:sp>
      <p:pic>
        <p:nvPicPr>
          <p:cNvPr id="7" name="Picture 6">
            <a:extLst>
              <a:ext uri="{FF2B5EF4-FFF2-40B4-BE49-F238E27FC236}">
                <a16:creationId xmlns:a16="http://schemas.microsoft.com/office/drawing/2014/main" id="{9BDE6413-8937-903A-3F11-0DF173F5128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70728" y="1940795"/>
            <a:ext cx="3963619" cy="2901735"/>
          </a:xfrm>
          <a:prstGeom prst="rect">
            <a:avLst/>
          </a:prstGeom>
        </p:spPr>
      </p:pic>
      <p:pic>
        <p:nvPicPr>
          <p:cNvPr id="9" name="Picture 8">
            <a:extLst>
              <a:ext uri="{FF2B5EF4-FFF2-40B4-BE49-F238E27FC236}">
                <a16:creationId xmlns:a16="http://schemas.microsoft.com/office/drawing/2014/main" id="{0A0D90E2-C733-F9D1-FEAD-3C5C00DA161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05857" y="4196797"/>
            <a:ext cx="1663020" cy="1359996"/>
          </a:xfrm>
          <a:prstGeom prst="rect">
            <a:avLst/>
          </a:prstGeom>
        </p:spPr>
      </p:pic>
      <p:pic>
        <p:nvPicPr>
          <p:cNvPr id="34" name="Picture 33">
            <a:extLst>
              <a:ext uri="{FF2B5EF4-FFF2-40B4-BE49-F238E27FC236}">
                <a16:creationId xmlns:a16="http://schemas.microsoft.com/office/drawing/2014/main" id="{F44B88A4-F135-11DA-5099-D952997A155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87567" y="4389686"/>
            <a:ext cx="1663020" cy="1359996"/>
          </a:xfrm>
          <a:prstGeom prst="rect">
            <a:avLst/>
          </a:prstGeom>
        </p:spPr>
      </p:pic>
      <p:sp>
        <p:nvSpPr>
          <p:cNvPr id="58" name="Texte 58"/>
          <p:cNvSpPr txBox="1"/>
          <p:nvPr/>
        </p:nvSpPr>
        <p:spPr>
          <a:xfrm>
            <a:off x="1737360" y="1051560"/>
            <a:ext cx="7315200" cy="731520"/>
          </a:xfrm>
          <a:prstGeom prst="rect">
            <a:avLst/>
          </a:prstGeom>
          <a:noFill/>
        </p:spPr>
        <p:txBody>
          <a:bodyPr wrap="square" lIns="0" tIns="0" rIns="0" bIns="0" rtlCol="0" anchor="t">
            <a:noAutofit/>
          </a:bodyPr>
          <a:lstStyle/>
          <a:p>
            <a:pPr algn="ctr">
              <a:spcAft>
                <a:spcPts val="0"/>
              </a:spcAft>
              <a:buNone/>
            </a:pPr>
            <a:r>
              <a:rPr lang="fr-FR" sz="1800" b="0" i="0">
                <a:solidFill>
                  <a:srgbClr val="1F3864"/>
                </a:solidFill>
                <a:latin typeface="Calibri"/>
                <a:cs typeface="Calibri"/>
              </a:rPr>
              <a:t>Une plateforme web de recrutement et d'employabilité,</a:t>
            </a:r>
          </a:p>
          <a:p>
            <a:pPr algn="ctr">
              <a:spcAft>
                <a:spcPts val="0"/>
              </a:spcAft>
              <a:buNone/>
            </a:pPr>
            <a:r>
              <a:rPr lang="fr-FR" sz="1800" b="1" i="0">
                <a:solidFill>
                  <a:srgbClr val="2E75B6"/>
                </a:solidFill>
                <a:latin typeface="Calibri"/>
                <a:cs typeface="Calibri"/>
              </a:rPr>
              <a:t>assistée par une IA 100 % interne</a:t>
            </a:r>
          </a:p>
        </p:txBody>
      </p:sp>
      <p:sp>
        <p:nvSpPr>
          <p:cNvPr id="59" name="Cadre 59"/>
          <p:cNvSpPr/>
          <p:nvPr/>
        </p:nvSpPr>
        <p:spPr>
          <a:xfrm>
            <a:off x="1709928" y="2075688"/>
            <a:ext cx="3712464" cy="1929384"/>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60" name="Logo TafLocal AI 60" descr="Logo TafLocal AI"/>
          <p:cNvPicPr>
            <a:picLocks noChangeAspect="1"/>
          </p:cNvPicPr>
          <p:nvPr/>
        </p:nvPicPr>
        <p:blipFill>
          <a:blip r:embed="rId12"/>
          <a:stretch>
            <a:fillRect/>
          </a:stretch>
        </p:blipFill>
        <p:spPr>
          <a:xfrm>
            <a:off x="1783080" y="2148840"/>
            <a:ext cx="3566160" cy="1783080"/>
          </a:xfrm>
          <a:prstGeom prst="rect">
            <a:avLst/>
          </a:prstGeom>
        </p:spPr>
      </p:pic>
      <p:sp>
        <p:nvSpPr>
          <p:cNvPr id="61" name="Texte 61"/>
          <p:cNvSpPr txBox="1"/>
          <p:nvPr/>
        </p:nvSpPr>
        <p:spPr>
          <a:xfrm>
            <a:off x="1874520" y="5623560"/>
            <a:ext cx="2743200" cy="365760"/>
          </a:xfrm>
          <a:prstGeom prst="rect">
            <a:avLst/>
          </a:prstGeom>
          <a:noFill/>
        </p:spPr>
        <p:txBody>
          <a:bodyPr wrap="square" lIns="0" tIns="0" rIns="0" bIns="0" rtlCol="0" anchor="t">
            <a:noAutofit/>
          </a:bodyPr>
          <a:lstStyle/>
          <a:p>
            <a:pPr algn="ctr">
              <a:spcAft>
                <a:spcPts val="0"/>
              </a:spcAft>
              <a:buNone/>
            </a:pPr>
            <a:r>
              <a:rPr lang="fr-FR" sz="1400" b="1" i="0">
                <a:solidFill>
                  <a:srgbClr val="1F3864"/>
                </a:solidFill>
                <a:latin typeface="Calibri"/>
                <a:cs typeface="Calibri"/>
              </a:rPr>
              <a:t>Chercheurs d'emploi &amp; étudiants</a:t>
            </a:r>
          </a:p>
        </p:txBody>
      </p:sp>
      <p:sp>
        <p:nvSpPr>
          <p:cNvPr id="62" name="Texte 62"/>
          <p:cNvSpPr txBox="1"/>
          <p:nvPr/>
        </p:nvSpPr>
        <p:spPr>
          <a:xfrm>
            <a:off x="7452360" y="5806440"/>
            <a:ext cx="2926080" cy="365760"/>
          </a:xfrm>
          <a:prstGeom prst="rect">
            <a:avLst/>
          </a:prstGeom>
          <a:noFill/>
        </p:spPr>
        <p:txBody>
          <a:bodyPr wrap="square" lIns="0" tIns="0" rIns="0" bIns="0" rtlCol="0" anchor="t">
            <a:noAutofit/>
          </a:bodyPr>
          <a:lstStyle/>
          <a:p>
            <a:pPr algn="ctr">
              <a:spcAft>
                <a:spcPts val="0"/>
              </a:spcAft>
              <a:buNone/>
            </a:pPr>
            <a:r>
              <a:rPr lang="fr-FR" sz="1400" b="1" i="0">
                <a:solidFill>
                  <a:srgbClr val="1F3864"/>
                </a:solidFill>
                <a:latin typeface="Calibri"/>
                <a:cs typeface="Calibri"/>
              </a:rPr>
              <a:t>Entreprises &amp; recruteurs</a:t>
            </a:r>
          </a:p>
        </p:txBody>
      </p:sp>
    </p:spTree>
    <p:extLst>
      <p:ext uri="{BB962C8B-B14F-4D97-AF65-F5344CB8AC3E}">
        <p14:creationId xmlns:p14="http://schemas.microsoft.com/office/powerpoint/2010/main" val="14169079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600"/>
                                        <p:tgtEl>
                                          <p:spTgt spid="58"/>
                                        </p:tgtEl>
                                      </p:cBhvr>
                                    </p:animEffect>
                                  </p:childTnLst>
                                </p:cTn>
                              </p:par>
                              <p:par>
                                <p:cTn id="29" presetID="10" presetClass="entr" presetSubtype="0" fill="hold" grpId="0" nodeType="withEffect">
                                  <p:stCondLst>
                                    <p:cond delay="30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600"/>
                                        <p:tgtEl>
                                          <p:spTgt spid="59"/>
                                        </p:tgtEl>
                                      </p:cBhvr>
                                    </p:animEffect>
                                  </p:childTnLst>
                                </p:cTn>
                              </p:par>
                              <p:par>
                                <p:cTn id="32" presetID="10" presetClass="entr" presetSubtype="0" fill="hold" nodeType="withEffect">
                                  <p:stCondLst>
                                    <p:cond delay="60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600"/>
                                        <p:tgtEl>
                                          <p:spTgt spid="60"/>
                                        </p:tgtEl>
                                      </p:cBhvr>
                                    </p:animEffect>
                                  </p:childTnLst>
                                </p:cTn>
                              </p:par>
                            </p:childTnLst>
                          </p:cTn>
                        </p:par>
                      </p:childTnLst>
                    </p:cTn>
                  </p:par>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par>
                                <p:cTn id="35" presetID="10" presetClass="entr" presetSubtype="0" fill="hold" grpId="0" nodeType="withEffect">
                                  <p:stCondLst>
                                    <p:cond delay="200"/>
                                  </p:stCondLst>
                                  <p:childTnLst>
                                    <p:set>
                                      <p:cBhvr>
                                        <p:cTn id="36" dur="1" fill="hold">
                                          <p:stCondLst>
                                            <p:cond delay="0"/>
                                          </p:stCondLst>
                                        </p:cTn>
                                        <p:tgtEl>
                                          <p:spTgt spid="61"/>
                                        </p:tgtEl>
                                        <p:attrNameLst>
                                          <p:attrName>style.visibility</p:attrName>
                                        </p:attrNameLst>
                                      </p:cBhvr>
                                      <p:to>
                                        <p:strVal val="visible"/>
                                      </p:to>
                                    </p:set>
                                    <p:animEffect transition="in" filter="fade">
                                      <p:cBhvr>
                                        <p:cTn id="37" dur="6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p:cTn id="21" dur="500" fill="hold"/>
                                        <p:tgtEl>
                                          <p:spTgt spid="34"/>
                                        </p:tgtEl>
                                        <p:attrNameLst>
                                          <p:attrName>ppt_w</p:attrName>
                                        </p:attrNameLst>
                                      </p:cBhvr>
                                      <p:tavLst>
                                        <p:tav tm="0">
                                          <p:val>
                                            <p:fltVal val="0"/>
                                          </p:val>
                                        </p:tav>
                                        <p:tav tm="100000">
                                          <p:val>
                                            <p:strVal val="#ppt_w"/>
                                          </p:val>
                                        </p:tav>
                                      </p:tavLst>
                                    </p:anim>
                                    <p:anim calcmode="lin" valueType="num">
                                      <p:cBhvr>
                                        <p:cTn id="22" dur="500" fill="hold"/>
                                        <p:tgtEl>
                                          <p:spTgt spid="34"/>
                                        </p:tgtEl>
                                        <p:attrNameLst>
                                          <p:attrName>ppt_h</p:attrName>
                                        </p:attrNameLst>
                                      </p:cBhvr>
                                      <p:tavLst>
                                        <p:tav tm="0">
                                          <p:val>
                                            <p:fltVal val="0"/>
                                          </p:val>
                                        </p:tav>
                                        <p:tav tm="100000">
                                          <p:val>
                                            <p:strVal val="#ppt_h"/>
                                          </p:val>
                                        </p:tav>
                                      </p:tavLst>
                                    </p:anim>
                                    <p:animEffect transition="in" filter="fade">
                                      <p:cBhvr>
                                        <p:cTn id="23" dur="500"/>
                                        <p:tgtEl>
                                          <p:spTgt spid="34"/>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6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1"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V="1">
            <a:off x="2677292" y="-558547"/>
            <a:ext cx="7111328" cy="7591343"/>
          </a:xfrm>
          <a:prstGeom prst="rect">
            <a:avLst/>
          </a:prstGeom>
        </p:spPr>
      </p:pic>
      <p:grpSp>
        <p:nvGrpSpPr>
          <p:cNvPr id="36" name="Group 35"/>
          <p:cNvGrpSpPr/>
          <p:nvPr/>
        </p:nvGrpSpPr>
        <p:grpSpPr>
          <a:xfrm>
            <a:off x="-1408220" y="3959039"/>
            <a:ext cx="828000" cy="828000"/>
            <a:chOff x="-846043" y="3948343"/>
            <a:chExt cx="828000" cy="828000"/>
          </a:xfrm>
        </p:grpSpPr>
        <p:sp>
          <p:nvSpPr>
            <p:cNvPr id="37" name="Oval 36"/>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8" name="Picture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9" name="Group 38"/>
          <p:cNvGrpSpPr/>
          <p:nvPr/>
        </p:nvGrpSpPr>
        <p:grpSpPr>
          <a:xfrm>
            <a:off x="-1329277" y="2996396"/>
            <a:ext cx="828000" cy="828000"/>
            <a:chOff x="-846043" y="2989694"/>
            <a:chExt cx="828000" cy="828000"/>
          </a:xfrm>
        </p:grpSpPr>
        <p:sp>
          <p:nvSpPr>
            <p:cNvPr id="40" name="Oval 39"/>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1" name="Picture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2" name="Group 41"/>
          <p:cNvGrpSpPr/>
          <p:nvPr/>
        </p:nvGrpSpPr>
        <p:grpSpPr>
          <a:xfrm>
            <a:off x="-1390177" y="4921682"/>
            <a:ext cx="828000" cy="828000"/>
            <a:chOff x="-828000" y="4906992"/>
            <a:chExt cx="828000" cy="828000"/>
          </a:xfrm>
        </p:grpSpPr>
        <p:sp>
          <p:nvSpPr>
            <p:cNvPr id="43" name="Oval 42"/>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4" name="Picture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5" name="Group 44"/>
          <p:cNvGrpSpPr/>
          <p:nvPr/>
        </p:nvGrpSpPr>
        <p:grpSpPr>
          <a:xfrm>
            <a:off x="-1272072" y="936967"/>
            <a:ext cx="828000" cy="828000"/>
            <a:chOff x="-846043" y="1075146"/>
            <a:chExt cx="828000" cy="828000"/>
          </a:xfrm>
        </p:grpSpPr>
        <p:sp>
          <p:nvSpPr>
            <p:cNvPr id="46" name="Oval 45"/>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8" name="Group 47"/>
          <p:cNvGrpSpPr/>
          <p:nvPr/>
        </p:nvGrpSpPr>
        <p:grpSpPr>
          <a:xfrm>
            <a:off x="-1163117" y="75320"/>
            <a:ext cx="828000" cy="828000"/>
            <a:chOff x="-846043" y="136827"/>
            <a:chExt cx="828000" cy="828000"/>
          </a:xfrm>
        </p:grpSpPr>
        <p:sp>
          <p:nvSpPr>
            <p:cNvPr id="49" name="Oval 48"/>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1" name="Group 50"/>
          <p:cNvGrpSpPr/>
          <p:nvPr/>
        </p:nvGrpSpPr>
        <p:grpSpPr>
          <a:xfrm>
            <a:off x="-1408220" y="5884325"/>
            <a:ext cx="828000" cy="828000"/>
            <a:chOff x="-828000" y="5845311"/>
            <a:chExt cx="828000" cy="828000"/>
          </a:xfrm>
        </p:grpSpPr>
        <p:sp>
          <p:nvSpPr>
            <p:cNvPr id="52" name="Oval 51"/>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3" name="Picture 5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4" name="Group 53"/>
          <p:cNvGrpSpPr/>
          <p:nvPr/>
        </p:nvGrpSpPr>
        <p:grpSpPr>
          <a:xfrm>
            <a:off x="583779" y="2013314"/>
            <a:ext cx="828000" cy="828000"/>
            <a:chOff x="-846043" y="2028997"/>
            <a:chExt cx="828000" cy="828000"/>
          </a:xfrm>
          <a:solidFill>
            <a:schemeClr val="bg1"/>
          </a:solidFill>
        </p:grpSpPr>
        <p:sp>
          <p:nvSpPr>
            <p:cNvPr id="55" name="Oval 54"/>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6" name="Picture 5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7" name="Freeform 56"/>
          <p:cNvSpPr/>
          <p:nvPr/>
        </p:nvSpPr>
        <p:spPr>
          <a:xfrm>
            <a:off x="-56228" y="-8767452"/>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1532952" y="3902195"/>
            <a:ext cx="3454792"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PROPOSITION DE SOLUTION</a:t>
            </a:r>
          </a:p>
        </p:txBody>
      </p:sp>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951746" y="75320"/>
            <a:ext cx="2060711" cy="2060711"/>
          </a:xfrm>
          <a:prstGeom prst="rect">
            <a:avLst/>
          </a:prstGeom>
        </p:spPr>
      </p:pic>
      <p:sp>
        <p:nvSpPr>
          <p:cNvPr id="29" name="Rectangle 28">
            <a:extLst>
              <a:ext uri="{FF2B5EF4-FFF2-40B4-BE49-F238E27FC236}">
                <a16:creationId xmlns:a16="http://schemas.microsoft.com/office/drawing/2014/main" id="{471FA961-8140-81A8-DF38-CCCB828DE23B}"/>
              </a:ext>
            </a:extLst>
          </p:cNvPr>
          <p:cNvSpPr/>
          <p:nvPr/>
        </p:nvSpPr>
        <p:spPr>
          <a:xfrm>
            <a:off x="1030318" y="-53817"/>
            <a:ext cx="6119662" cy="52322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PROPOSITION DE SOLUTION</a:t>
            </a:r>
          </a:p>
        </p:txBody>
      </p:sp>
      <p:sp>
        <p:nvSpPr>
          <p:cNvPr id="30" name="Freeform 19"/>
          <p:cNvSpPr>
            <a:spLocks/>
          </p:cNvSpPr>
          <p:nvPr/>
        </p:nvSpPr>
        <p:spPr bwMode="auto">
          <a:xfrm rot="10800000">
            <a:off x="5062139" y="2529275"/>
            <a:ext cx="1174750" cy="1339850"/>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id-ID">
              <a:solidFill>
                <a:schemeClr val="tx2"/>
              </a:solidFill>
            </a:endParaRPr>
          </a:p>
        </p:txBody>
      </p:sp>
      <p:pic>
        <p:nvPicPr>
          <p:cNvPr id="31" name="Picture 7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46496" y="3186308"/>
            <a:ext cx="304800" cy="304800"/>
          </a:xfrm>
          <a:prstGeom prst="rect">
            <a:avLst/>
          </a:prstGeom>
        </p:spPr>
      </p:pic>
      <p:cxnSp>
        <p:nvCxnSpPr>
          <p:cNvPr id="32" name="Straight Connector 122"/>
          <p:cNvCxnSpPr/>
          <p:nvPr/>
        </p:nvCxnSpPr>
        <p:spPr>
          <a:xfrm>
            <a:off x="3927004" y="2668448"/>
            <a:ext cx="1722509" cy="77281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Rectangle 7"/>
          <p:cNvSpPr>
            <a:spLocks noChangeArrowheads="1"/>
          </p:cNvSpPr>
          <p:nvPr/>
        </p:nvSpPr>
        <p:spPr bwMode="auto">
          <a:xfrm>
            <a:off x="1076886" y="1391367"/>
            <a:ext cx="3131941"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Calibri" panose="020F0502020204030204" pitchFamily="34" charset="0"/>
              </a:defRPr>
            </a:lvl1pPr>
            <a:lvl2pPr marL="742950" indent="-285750">
              <a:defRPr sz="3600">
                <a:solidFill>
                  <a:schemeClr val="tx1"/>
                </a:solidFill>
                <a:latin typeface="Calibri" panose="020F0502020204030204" pitchFamily="34" charset="0"/>
              </a:defRPr>
            </a:lvl2pPr>
            <a:lvl3pPr marL="1143000" indent="-228600">
              <a:defRPr sz="3600">
                <a:solidFill>
                  <a:schemeClr val="tx1"/>
                </a:solidFill>
                <a:latin typeface="Calibri" panose="020F0502020204030204" pitchFamily="34" charset="0"/>
              </a:defRPr>
            </a:lvl3pPr>
            <a:lvl4pPr marL="1600200" indent="-228600">
              <a:defRPr sz="3600">
                <a:solidFill>
                  <a:schemeClr val="tx1"/>
                </a:solidFill>
                <a:latin typeface="Calibri" panose="020F0502020204030204" pitchFamily="34" charset="0"/>
              </a:defRPr>
            </a:lvl4pPr>
            <a:lvl5pPr marL="2057400" indent="-228600">
              <a:defRPr sz="3600">
                <a:solidFill>
                  <a:schemeClr val="tx1"/>
                </a:solidFill>
                <a:latin typeface="Calibri" panose="020F0502020204030204" pitchFamily="34" charset="0"/>
              </a:defRPr>
            </a:lvl5pPr>
            <a:lvl6pPr marL="2514600" indent="-228600" defTabSz="1827213" fontAlgn="base">
              <a:spcBef>
                <a:spcPct val="0"/>
              </a:spcBef>
              <a:spcAft>
                <a:spcPct val="0"/>
              </a:spcAft>
              <a:defRPr sz="3600">
                <a:solidFill>
                  <a:schemeClr val="tx1"/>
                </a:solidFill>
                <a:latin typeface="Calibri" panose="020F0502020204030204" pitchFamily="34" charset="0"/>
              </a:defRPr>
            </a:lvl6pPr>
            <a:lvl7pPr marL="2971800" indent="-228600" defTabSz="1827213" fontAlgn="base">
              <a:spcBef>
                <a:spcPct val="0"/>
              </a:spcBef>
              <a:spcAft>
                <a:spcPct val="0"/>
              </a:spcAft>
              <a:defRPr sz="3600">
                <a:solidFill>
                  <a:schemeClr val="tx1"/>
                </a:solidFill>
                <a:latin typeface="Calibri" panose="020F0502020204030204" pitchFamily="34" charset="0"/>
              </a:defRPr>
            </a:lvl7pPr>
            <a:lvl8pPr marL="3429000" indent="-228600" defTabSz="1827213" fontAlgn="base">
              <a:spcBef>
                <a:spcPct val="0"/>
              </a:spcBef>
              <a:spcAft>
                <a:spcPct val="0"/>
              </a:spcAft>
              <a:defRPr sz="3600">
                <a:solidFill>
                  <a:schemeClr val="tx1"/>
                </a:solidFill>
                <a:latin typeface="Calibri" panose="020F0502020204030204" pitchFamily="34" charset="0"/>
              </a:defRPr>
            </a:lvl8pPr>
            <a:lvl9pPr marL="3886200" indent="-228600" defTabSz="1827213" fontAlgn="base">
              <a:spcBef>
                <a:spcPct val="0"/>
              </a:spcBef>
              <a:spcAft>
                <a:spcPct val="0"/>
              </a:spcAft>
              <a:defRPr sz="3600">
                <a:solidFill>
                  <a:schemeClr val="tx1"/>
                </a:solidFill>
                <a:latin typeface="Calibri" panose="020F0502020204030204" pitchFamily="34" charset="0"/>
              </a:defRPr>
            </a:lvl9pPr>
          </a:lstStyle>
          <a:p>
            <a:pPr algn="r" eaLnBrk="1" hangingPunct="1">
              <a:lnSpc>
                <a:spcPct val="150000"/>
              </a:lnSpc>
            </a:pPr>
            <a:r>
              <a:rPr lang="fr-FR" sz="1600" b="1">
                <a:solidFill>
                  <a:srgbClr val="1F3864"/>
                </a:solidFill>
                <a:latin typeface="Times New Roman" panose="02020603050405020304" pitchFamily="18" charset="0"/>
                <a:cs typeface="Times New Roman" panose="02020603050405020304" pitchFamily="18" charset="0"/>
              </a:rPr>
              <a:t>ANALYSE DE CV</a:t>
            </a:r>
          </a:p>
        </p:txBody>
      </p:sp>
      <p:pic>
        <p:nvPicPr>
          <p:cNvPr id="60" name="Picture 3" descr="lettre"/>
          <p:cNvPicPr>
            <a:picLocks noChangeAspect="1"/>
          </p:cNvPicPr>
          <p:nvPr/>
        </p:nvPicPr>
        <p:blipFill>
          <a:blip r:embed="rId21" cstate="print"/>
          <a:stretch>
            <a:fillRect/>
          </a:stretch>
        </p:blipFill>
        <p:spPr>
          <a:xfrm>
            <a:off x="1691640" y="5074920"/>
            <a:ext cx="2194560" cy="1371600"/>
          </a:xfrm>
          <a:prstGeom prst="rect">
            <a:avLst/>
          </a:prstGeom>
          <a:ln w="12700">
            <a:solidFill>
              <a:srgbClr val="7F7F7F"/>
            </a:solidFill>
          </a:ln>
        </p:spPr>
      </p:pic>
      <p:pic>
        <p:nvPicPr>
          <p:cNvPr id="61" name="Picture 4" descr="match"/>
          <p:cNvPicPr>
            <a:picLocks noChangeAspect="1"/>
          </p:cNvPicPr>
          <p:nvPr/>
        </p:nvPicPr>
        <p:blipFill>
          <a:blip r:embed="rId20"/>
          <a:stretch>
            <a:fillRect/>
          </a:stretch>
        </p:blipFill>
        <p:spPr>
          <a:xfrm>
            <a:off x="7863840" y="1783080"/>
            <a:ext cx="2194560" cy="1371600"/>
          </a:xfrm>
          <a:prstGeom prst="rect">
            <a:avLst/>
          </a:prstGeom>
          <a:ln w="12700">
            <a:solidFill>
              <a:srgbClr val="7F7F7F"/>
            </a:solidFill>
          </a:ln>
        </p:spPr>
      </p:pic>
      <p:pic>
        <p:nvPicPr>
          <p:cNvPr id="62" name="Picture 5" descr="entretien"/>
          <p:cNvPicPr>
            <a:picLocks noChangeAspect="1"/>
          </p:cNvPicPr>
          <p:nvPr/>
        </p:nvPicPr>
        <p:blipFill>
          <a:blip r:embed="rId22"/>
          <a:stretch>
            <a:fillRect/>
          </a:stretch>
        </p:blipFill>
        <p:spPr>
          <a:xfrm>
            <a:off x="7635240" y="4892040"/>
            <a:ext cx="2194560" cy="1371600"/>
          </a:xfrm>
          <a:prstGeom prst="rect">
            <a:avLst/>
          </a:prstGeom>
          <a:ln w="12700">
            <a:solidFill>
              <a:srgbClr val="7F7F7F"/>
            </a:solidFill>
          </a:ln>
        </p:spPr>
      </p:pic>
      <p:sp>
        <p:nvSpPr>
          <p:cNvPr id="63" name="Freeform 18"/>
          <p:cNvSpPr>
            <a:spLocks/>
          </p:cNvSpPr>
          <p:nvPr/>
        </p:nvSpPr>
        <p:spPr bwMode="auto">
          <a:xfrm rot="10800000">
            <a:off x="5007903" y="3704981"/>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id-ID">
              <a:solidFill>
                <a:schemeClr val="tx2"/>
              </a:solidFill>
            </a:endParaRPr>
          </a:p>
        </p:txBody>
      </p:sp>
      <p:sp>
        <p:nvSpPr>
          <p:cNvPr id="64" name="Freeform 17"/>
          <p:cNvSpPr>
            <a:spLocks/>
          </p:cNvSpPr>
          <p:nvPr/>
        </p:nvSpPr>
        <p:spPr bwMode="auto">
          <a:xfrm rot="10800000">
            <a:off x="5950878" y="3878018"/>
            <a:ext cx="1260475" cy="1354138"/>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solidFill>
                <a:schemeClr val="tx2"/>
              </a:solidFill>
            </a:endParaRPr>
          </a:p>
        </p:txBody>
      </p:sp>
      <p:pic>
        <p:nvPicPr>
          <p:cNvPr id="65" name="Picture 9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428715" y="4322449"/>
            <a:ext cx="304800" cy="304800"/>
          </a:xfrm>
          <a:prstGeom prst="rect">
            <a:avLst/>
          </a:prstGeom>
        </p:spPr>
      </p:pic>
      <p:pic>
        <p:nvPicPr>
          <p:cNvPr id="66" name="Picture 9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412386" y="4294037"/>
            <a:ext cx="304800" cy="304800"/>
          </a:xfrm>
          <a:prstGeom prst="rect">
            <a:avLst/>
          </a:prstGeom>
        </p:spPr>
      </p:pic>
      <p:pic>
        <p:nvPicPr>
          <p:cNvPr id="67" name="Picture 2" descr="cv"/>
          <p:cNvPicPr>
            <a:picLocks noChangeAspect="1"/>
          </p:cNvPicPr>
          <p:nvPr/>
        </p:nvPicPr>
        <p:blipFill>
          <a:blip r:embed="rId19" cstate="print"/>
          <a:stretch>
            <a:fillRect/>
          </a:stretch>
        </p:blipFill>
        <p:spPr>
          <a:xfrm>
            <a:off x="1600200" y="1920240"/>
            <a:ext cx="2194560" cy="1371600"/>
          </a:xfrm>
          <a:prstGeom prst="rect">
            <a:avLst/>
          </a:prstGeom>
          <a:ln w="12700">
            <a:solidFill>
              <a:srgbClr val="7F7F7F"/>
            </a:solidFill>
          </a:ln>
        </p:spPr>
      </p:pic>
      <p:sp>
        <p:nvSpPr>
          <p:cNvPr id="71" name="Freeform 20"/>
          <p:cNvSpPr>
            <a:spLocks/>
          </p:cNvSpPr>
          <p:nvPr/>
        </p:nvSpPr>
        <p:spPr bwMode="auto">
          <a:xfrm rot="10800000">
            <a:off x="6095049" y="2529275"/>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id-ID">
              <a:solidFill>
                <a:schemeClr val="tx2"/>
              </a:solidFill>
            </a:endParaRPr>
          </a:p>
        </p:txBody>
      </p:sp>
      <p:cxnSp>
        <p:nvCxnSpPr>
          <p:cNvPr id="68" name="Straight Connector 122"/>
          <p:cNvCxnSpPr/>
          <p:nvPr/>
        </p:nvCxnSpPr>
        <p:spPr>
          <a:xfrm>
            <a:off x="6733515" y="4806713"/>
            <a:ext cx="1724246" cy="111430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2" name="Picture 7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80501" y="3184585"/>
            <a:ext cx="304800" cy="304800"/>
          </a:xfrm>
          <a:prstGeom prst="rect">
            <a:avLst/>
          </a:prstGeom>
        </p:spPr>
      </p:pic>
      <p:pic>
        <p:nvPicPr>
          <p:cNvPr id="73" name="Picture 7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46496" y="3186308"/>
            <a:ext cx="304800" cy="304800"/>
          </a:xfrm>
          <a:prstGeom prst="rect">
            <a:avLst/>
          </a:prstGeom>
        </p:spPr>
      </p:pic>
      <p:cxnSp>
        <p:nvCxnSpPr>
          <p:cNvPr id="74" name="Straight Connector 121"/>
          <p:cNvCxnSpPr/>
          <p:nvPr/>
        </p:nvCxnSpPr>
        <p:spPr>
          <a:xfrm flipV="1">
            <a:off x="6440847" y="2496911"/>
            <a:ext cx="1465729" cy="614969"/>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Straight Connector 122"/>
          <p:cNvCxnSpPr/>
          <p:nvPr/>
        </p:nvCxnSpPr>
        <p:spPr>
          <a:xfrm>
            <a:off x="3927004" y="2668448"/>
            <a:ext cx="1722509" cy="77281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Straight Connector 124"/>
          <p:cNvCxnSpPr/>
          <p:nvPr/>
        </p:nvCxnSpPr>
        <p:spPr>
          <a:xfrm flipV="1">
            <a:off x="4226571" y="5023748"/>
            <a:ext cx="1491902" cy="24698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77" name="Rectangle 7"/>
          <p:cNvSpPr>
            <a:spLocks noChangeArrowheads="1"/>
          </p:cNvSpPr>
          <p:nvPr/>
        </p:nvSpPr>
        <p:spPr bwMode="auto">
          <a:xfrm>
            <a:off x="1342560" y="4557381"/>
            <a:ext cx="3131941"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Calibri" panose="020F0502020204030204" pitchFamily="34" charset="0"/>
              </a:defRPr>
            </a:lvl1pPr>
            <a:lvl2pPr marL="742950" indent="-285750">
              <a:defRPr sz="3600">
                <a:solidFill>
                  <a:schemeClr val="tx1"/>
                </a:solidFill>
                <a:latin typeface="Calibri" panose="020F0502020204030204" pitchFamily="34" charset="0"/>
              </a:defRPr>
            </a:lvl2pPr>
            <a:lvl3pPr marL="1143000" indent="-228600">
              <a:defRPr sz="3600">
                <a:solidFill>
                  <a:schemeClr val="tx1"/>
                </a:solidFill>
                <a:latin typeface="Calibri" panose="020F0502020204030204" pitchFamily="34" charset="0"/>
              </a:defRPr>
            </a:lvl3pPr>
            <a:lvl4pPr marL="1600200" indent="-228600">
              <a:defRPr sz="3600">
                <a:solidFill>
                  <a:schemeClr val="tx1"/>
                </a:solidFill>
                <a:latin typeface="Calibri" panose="020F0502020204030204" pitchFamily="34" charset="0"/>
              </a:defRPr>
            </a:lvl4pPr>
            <a:lvl5pPr marL="2057400" indent="-228600">
              <a:defRPr sz="3600">
                <a:solidFill>
                  <a:schemeClr val="tx1"/>
                </a:solidFill>
                <a:latin typeface="Calibri" panose="020F0502020204030204" pitchFamily="34" charset="0"/>
              </a:defRPr>
            </a:lvl5pPr>
            <a:lvl6pPr marL="2514600" indent="-228600" defTabSz="1827213" fontAlgn="base">
              <a:spcBef>
                <a:spcPct val="0"/>
              </a:spcBef>
              <a:spcAft>
                <a:spcPct val="0"/>
              </a:spcAft>
              <a:defRPr sz="3600">
                <a:solidFill>
                  <a:schemeClr val="tx1"/>
                </a:solidFill>
                <a:latin typeface="Calibri" panose="020F0502020204030204" pitchFamily="34" charset="0"/>
              </a:defRPr>
            </a:lvl6pPr>
            <a:lvl7pPr marL="2971800" indent="-228600" defTabSz="1827213" fontAlgn="base">
              <a:spcBef>
                <a:spcPct val="0"/>
              </a:spcBef>
              <a:spcAft>
                <a:spcPct val="0"/>
              </a:spcAft>
              <a:defRPr sz="3600">
                <a:solidFill>
                  <a:schemeClr val="tx1"/>
                </a:solidFill>
                <a:latin typeface="Calibri" panose="020F0502020204030204" pitchFamily="34" charset="0"/>
              </a:defRPr>
            </a:lvl7pPr>
            <a:lvl8pPr marL="3429000" indent="-228600" defTabSz="1827213" fontAlgn="base">
              <a:spcBef>
                <a:spcPct val="0"/>
              </a:spcBef>
              <a:spcAft>
                <a:spcPct val="0"/>
              </a:spcAft>
              <a:defRPr sz="3600">
                <a:solidFill>
                  <a:schemeClr val="tx1"/>
                </a:solidFill>
                <a:latin typeface="Calibri" panose="020F0502020204030204" pitchFamily="34" charset="0"/>
              </a:defRPr>
            </a:lvl8pPr>
            <a:lvl9pPr marL="3886200" indent="-228600" defTabSz="1827213" fontAlgn="base">
              <a:spcBef>
                <a:spcPct val="0"/>
              </a:spcBef>
              <a:spcAft>
                <a:spcPct val="0"/>
              </a:spcAft>
              <a:defRPr sz="3600">
                <a:solidFill>
                  <a:schemeClr val="tx1"/>
                </a:solidFill>
                <a:latin typeface="Calibri" panose="020F0502020204030204" pitchFamily="34" charset="0"/>
              </a:defRPr>
            </a:lvl9pPr>
          </a:lstStyle>
          <a:p>
            <a:pPr algn="r" eaLnBrk="1" hangingPunct="1">
              <a:lnSpc>
                <a:spcPct val="150000"/>
              </a:lnSpc>
            </a:pPr>
            <a:r>
              <a:rPr lang="fr-FR" sz="1600" b="1">
                <a:solidFill>
                  <a:srgbClr val="1F3864"/>
                </a:solidFill>
                <a:latin typeface="Times New Roman" panose="02020603050405020304" pitchFamily="18" charset="0"/>
                <a:cs typeface="Times New Roman" panose="02020603050405020304" pitchFamily="18" charset="0"/>
              </a:rPr>
              <a:t>LETTRE DE MOTIVATION</a:t>
            </a:r>
          </a:p>
        </p:txBody>
      </p:sp>
      <p:sp>
        <p:nvSpPr>
          <p:cNvPr id="78" name="Rectangle 7"/>
          <p:cNvSpPr>
            <a:spLocks noChangeArrowheads="1"/>
          </p:cNvSpPr>
          <p:nvPr/>
        </p:nvSpPr>
        <p:spPr bwMode="auto">
          <a:xfrm>
            <a:off x="7086600" y="4389120"/>
            <a:ext cx="3291840"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Calibri" panose="020F0502020204030204" pitchFamily="34" charset="0"/>
              </a:defRPr>
            </a:lvl1pPr>
            <a:lvl2pPr marL="742950" indent="-285750">
              <a:defRPr sz="3600">
                <a:solidFill>
                  <a:schemeClr val="tx1"/>
                </a:solidFill>
                <a:latin typeface="Calibri" panose="020F0502020204030204" pitchFamily="34" charset="0"/>
              </a:defRPr>
            </a:lvl2pPr>
            <a:lvl3pPr marL="1143000" indent="-228600">
              <a:defRPr sz="3600">
                <a:solidFill>
                  <a:schemeClr val="tx1"/>
                </a:solidFill>
                <a:latin typeface="Calibri" panose="020F0502020204030204" pitchFamily="34" charset="0"/>
              </a:defRPr>
            </a:lvl3pPr>
            <a:lvl4pPr marL="1600200" indent="-228600">
              <a:defRPr sz="3600">
                <a:solidFill>
                  <a:schemeClr val="tx1"/>
                </a:solidFill>
                <a:latin typeface="Calibri" panose="020F0502020204030204" pitchFamily="34" charset="0"/>
              </a:defRPr>
            </a:lvl4pPr>
            <a:lvl5pPr marL="2057400" indent="-228600">
              <a:defRPr sz="3600">
                <a:solidFill>
                  <a:schemeClr val="tx1"/>
                </a:solidFill>
                <a:latin typeface="Calibri" panose="020F0502020204030204" pitchFamily="34" charset="0"/>
              </a:defRPr>
            </a:lvl5pPr>
            <a:lvl6pPr marL="2514600" indent="-228600" defTabSz="1827213" fontAlgn="base">
              <a:spcBef>
                <a:spcPct val="0"/>
              </a:spcBef>
              <a:spcAft>
                <a:spcPct val="0"/>
              </a:spcAft>
              <a:defRPr sz="3600">
                <a:solidFill>
                  <a:schemeClr val="tx1"/>
                </a:solidFill>
                <a:latin typeface="Calibri" panose="020F0502020204030204" pitchFamily="34" charset="0"/>
              </a:defRPr>
            </a:lvl6pPr>
            <a:lvl7pPr marL="2971800" indent="-228600" defTabSz="1827213" fontAlgn="base">
              <a:spcBef>
                <a:spcPct val="0"/>
              </a:spcBef>
              <a:spcAft>
                <a:spcPct val="0"/>
              </a:spcAft>
              <a:defRPr sz="3600">
                <a:solidFill>
                  <a:schemeClr val="tx1"/>
                </a:solidFill>
                <a:latin typeface="Calibri" panose="020F0502020204030204" pitchFamily="34" charset="0"/>
              </a:defRPr>
            </a:lvl7pPr>
            <a:lvl8pPr marL="3429000" indent="-228600" defTabSz="1827213" fontAlgn="base">
              <a:spcBef>
                <a:spcPct val="0"/>
              </a:spcBef>
              <a:spcAft>
                <a:spcPct val="0"/>
              </a:spcAft>
              <a:defRPr sz="3600">
                <a:solidFill>
                  <a:schemeClr val="tx1"/>
                </a:solidFill>
                <a:latin typeface="Calibri" panose="020F0502020204030204" pitchFamily="34" charset="0"/>
              </a:defRPr>
            </a:lvl8pPr>
            <a:lvl9pPr marL="3886200" indent="-228600" defTabSz="1827213" fontAlgn="base">
              <a:spcBef>
                <a:spcPct val="0"/>
              </a:spcBef>
              <a:spcAft>
                <a:spcPct val="0"/>
              </a:spcAft>
              <a:defRPr sz="3600">
                <a:solidFill>
                  <a:schemeClr val="tx1"/>
                </a:solidFill>
                <a:latin typeface="Calibri" panose="020F0502020204030204" pitchFamily="34" charset="0"/>
              </a:defRPr>
            </a:lvl9pPr>
          </a:lstStyle>
          <a:p>
            <a:pPr algn="r" eaLnBrk="1" hangingPunct="1">
              <a:lnSpc>
                <a:spcPct val="150000"/>
              </a:lnSpc>
            </a:pPr>
            <a:r>
              <a:rPr lang="fr-FR" sz="1600" b="1">
                <a:solidFill>
                  <a:srgbClr val="1F3864"/>
                </a:solidFill>
                <a:latin typeface="Times New Roman" panose="02020603050405020304" pitchFamily="18" charset="0"/>
                <a:cs typeface="Times New Roman" panose="02020603050405020304" pitchFamily="18" charset="0"/>
              </a:rPr>
              <a:t>SIMULATION D'ENTRETIEN</a:t>
            </a:r>
          </a:p>
        </p:txBody>
      </p:sp>
      <p:sp>
        <p:nvSpPr>
          <p:cNvPr id="79" name="Rectangle 7"/>
          <p:cNvSpPr>
            <a:spLocks noChangeArrowheads="1"/>
          </p:cNvSpPr>
          <p:nvPr/>
        </p:nvSpPr>
        <p:spPr bwMode="auto">
          <a:xfrm>
            <a:off x="7086600" y="1280160"/>
            <a:ext cx="3291840"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Calibri" panose="020F0502020204030204" pitchFamily="34" charset="0"/>
              </a:defRPr>
            </a:lvl1pPr>
            <a:lvl2pPr marL="742950" indent="-285750">
              <a:defRPr sz="3600">
                <a:solidFill>
                  <a:schemeClr val="tx1"/>
                </a:solidFill>
                <a:latin typeface="Calibri" panose="020F0502020204030204" pitchFamily="34" charset="0"/>
              </a:defRPr>
            </a:lvl2pPr>
            <a:lvl3pPr marL="1143000" indent="-228600">
              <a:defRPr sz="3600">
                <a:solidFill>
                  <a:schemeClr val="tx1"/>
                </a:solidFill>
                <a:latin typeface="Calibri" panose="020F0502020204030204" pitchFamily="34" charset="0"/>
              </a:defRPr>
            </a:lvl3pPr>
            <a:lvl4pPr marL="1600200" indent="-228600">
              <a:defRPr sz="3600">
                <a:solidFill>
                  <a:schemeClr val="tx1"/>
                </a:solidFill>
                <a:latin typeface="Calibri" panose="020F0502020204030204" pitchFamily="34" charset="0"/>
              </a:defRPr>
            </a:lvl4pPr>
            <a:lvl5pPr marL="2057400" indent="-228600">
              <a:defRPr sz="3600">
                <a:solidFill>
                  <a:schemeClr val="tx1"/>
                </a:solidFill>
                <a:latin typeface="Calibri" panose="020F0502020204030204" pitchFamily="34" charset="0"/>
              </a:defRPr>
            </a:lvl5pPr>
            <a:lvl6pPr marL="2514600" indent="-228600" defTabSz="1827213" fontAlgn="base">
              <a:spcBef>
                <a:spcPct val="0"/>
              </a:spcBef>
              <a:spcAft>
                <a:spcPct val="0"/>
              </a:spcAft>
              <a:defRPr sz="3600">
                <a:solidFill>
                  <a:schemeClr val="tx1"/>
                </a:solidFill>
                <a:latin typeface="Calibri" panose="020F0502020204030204" pitchFamily="34" charset="0"/>
              </a:defRPr>
            </a:lvl6pPr>
            <a:lvl7pPr marL="2971800" indent="-228600" defTabSz="1827213" fontAlgn="base">
              <a:spcBef>
                <a:spcPct val="0"/>
              </a:spcBef>
              <a:spcAft>
                <a:spcPct val="0"/>
              </a:spcAft>
              <a:defRPr sz="3600">
                <a:solidFill>
                  <a:schemeClr val="tx1"/>
                </a:solidFill>
                <a:latin typeface="Calibri" panose="020F0502020204030204" pitchFamily="34" charset="0"/>
              </a:defRPr>
            </a:lvl7pPr>
            <a:lvl8pPr marL="3429000" indent="-228600" defTabSz="1827213" fontAlgn="base">
              <a:spcBef>
                <a:spcPct val="0"/>
              </a:spcBef>
              <a:spcAft>
                <a:spcPct val="0"/>
              </a:spcAft>
              <a:defRPr sz="3600">
                <a:solidFill>
                  <a:schemeClr val="tx1"/>
                </a:solidFill>
                <a:latin typeface="Calibri" panose="020F0502020204030204" pitchFamily="34" charset="0"/>
              </a:defRPr>
            </a:lvl8pPr>
            <a:lvl9pPr marL="3886200" indent="-228600" defTabSz="1827213" fontAlgn="base">
              <a:spcBef>
                <a:spcPct val="0"/>
              </a:spcBef>
              <a:spcAft>
                <a:spcPct val="0"/>
              </a:spcAft>
              <a:defRPr sz="3600">
                <a:solidFill>
                  <a:schemeClr val="tx1"/>
                </a:solidFill>
                <a:latin typeface="Calibri" panose="020F0502020204030204" pitchFamily="34" charset="0"/>
              </a:defRPr>
            </a:lvl9pPr>
          </a:lstStyle>
          <a:p>
            <a:pPr algn="r" eaLnBrk="1" hangingPunct="1">
              <a:lnSpc>
                <a:spcPct val="150000"/>
              </a:lnSpc>
            </a:pPr>
            <a:r>
              <a:rPr lang="fr-FR" sz="1600" b="1">
                <a:solidFill>
                  <a:srgbClr val="1F3864"/>
                </a:solidFill>
                <a:latin typeface="Times New Roman" panose="02020603050405020304" pitchFamily="18" charset="0"/>
                <a:cs typeface="Times New Roman" panose="02020603050405020304" pitchFamily="18" charset="0"/>
              </a:rPr>
              <a:t>MATCHING INTELLIGENT</a:t>
            </a:r>
          </a:p>
        </p:txBody>
      </p:sp>
    </p:spTree>
    <p:extLst>
      <p:ext uri="{BB962C8B-B14F-4D97-AF65-F5344CB8AC3E}">
        <p14:creationId xmlns:p14="http://schemas.microsoft.com/office/powerpoint/2010/main" val="17895102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animEffect transition="in" filter="wipe(down)">
                                      <p:cBhvr>
                                        <p:cTn id="21" dur="500"/>
                                        <p:tgtEl>
                                          <p:spTgt spid="6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wipe(down)">
                                      <p:cBhvr>
                                        <p:cTn id="26" dur="500"/>
                                        <p:tgtEl>
                                          <p:spTgt spid="64"/>
                                        </p:tgtEl>
                                      </p:cBhvr>
                                    </p:animEffect>
                                  </p:childTnLst>
                                </p:cTn>
                              </p:par>
                              <p:par>
                                <p:cTn id="27" presetID="10"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fade">
                                      <p:cBhvr>
                                        <p:cTn id="29" dur="500"/>
                                        <p:tgtEl>
                                          <p:spTgt spid="60"/>
                                        </p:tgtEl>
                                      </p:cBhvr>
                                    </p:animEffect>
                                  </p:childTnLst>
                                </p:cTn>
                              </p:par>
                              <p:par>
                                <p:cTn id="30" presetID="10" presetClass="entr" presetSubtype="0" fill="hold"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5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down)">
                                      <p:cBhvr>
                                        <p:cTn id="37" dur="500"/>
                                        <p:tgtEl>
                                          <p:spTgt spid="7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fade">
                                      <p:cBhvr>
                                        <p:cTn id="40" dur="500"/>
                                        <p:tgtEl>
                                          <p:spTgt spid="7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fade">
                                      <p:cBhvr>
                                        <p:cTn id="43" dur="500"/>
                                        <p:tgtEl>
                                          <p:spTgt spid="7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fade">
                                      <p:cBhvr>
                                        <p:cTn id="4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8" grpId="0"/>
      <p:bldP spid="63" grpId="0" animBg="1"/>
      <p:bldP spid="64" grpId="0" animBg="1"/>
      <p:bldP spid="71" grpId="0" animBg="1"/>
      <p:bldP spid="77" grpId="0"/>
      <p:bldP spid="78" grpId="0"/>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Group 35"/>
          <p:cNvGrpSpPr/>
          <p:nvPr/>
        </p:nvGrpSpPr>
        <p:grpSpPr>
          <a:xfrm>
            <a:off x="-1408220" y="3959039"/>
            <a:ext cx="828000" cy="828000"/>
            <a:chOff x="-846043" y="3948343"/>
            <a:chExt cx="828000" cy="828000"/>
          </a:xfrm>
        </p:grpSpPr>
        <p:sp>
          <p:nvSpPr>
            <p:cNvPr id="37" name="Oval 36"/>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9" name="Group 38"/>
          <p:cNvGrpSpPr/>
          <p:nvPr/>
        </p:nvGrpSpPr>
        <p:grpSpPr>
          <a:xfrm>
            <a:off x="-1329277" y="2996396"/>
            <a:ext cx="828000" cy="828000"/>
            <a:chOff x="-846043" y="2989694"/>
            <a:chExt cx="828000" cy="828000"/>
          </a:xfrm>
        </p:grpSpPr>
        <p:sp>
          <p:nvSpPr>
            <p:cNvPr id="40" name="Oval 39"/>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1" name="Picture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2" name="Group 41"/>
          <p:cNvGrpSpPr/>
          <p:nvPr/>
        </p:nvGrpSpPr>
        <p:grpSpPr>
          <a:xfrm>
            <a:off x="-1390177" y="4921682"/>
            <a:ext cx="828000" cy="828000"/>
            <a:chOff x="-828000" y="4906992"/>
            <a:chExt cx="828000" cy="828000"/>
          </a:xfrm>
        </p:grpSpPr>
        <p:sp>
          <p:nvSpPr>
            <p:cNvPr id="43" name="Oval 42"/>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5" name="Group 44"/>
          <p:cNvGrpSpPr/>
          <p:nvPr/>
        </p:nvGrpSpPr>
        <p:grpSpPr>
          <a:xfrm>
            <a:off x="-1272072" y="936967"/>
            <a:ext cx="828000" cy="828000"/>
            <a:chOff x="-846043" y="1075146"/>
            <a:chExt cx="828000" cy="828000"/>
          </a:xfrm>
        </p:grpSpPr>
        <p:sp>
          <p:nvSpPr>
            <p:cNvPr id="46" name="Oval 45"/>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8" name="Group 47"/>
          <p:cNvGrpSpPr/>
          <p:nvPr/>
        </p:nvGrpSpPr>
        <p:grpSpPr>
          <a:xfrm>
            <a:off x="-1163117" y="75320"/>
            <a:ext cx="828000" cy="828000"/>
            <a:chOff x="-846043" y="136827"/>
            <a:chExt cx="828000" cy="828000"/>
          </a:xfrm>
        </p:grpSpPr>
        <p:sp>
          <p:nvSpPr>
            <p:cNvPr id="49" name="Oval 48"/>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0" name="Picture 4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1" name="Group 50"/>
          <p:cNvGrpSpPr/>
          <p:nvPr/>
        </p:nvGrpSpPr>
        <p:grpSpPr>
          <a:xfrm>
            <a:off x="-1408220" y="5884325"/>
            <a:ext cx="828000" cy="828000"/>
            <a:chOff x="-828000" y="5845311"/>
            <a:chExt cx="828000" cy="828000"/>
          </a:xfrm>
        </p:grpSpPr>
        <p:sp>
          <p:nvSpPr>
            <p:cNvPr id="52" name="Oval 51"/>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4" name="Group 53"/>
          <p:cNvGrpSpPr/>
          <p:nvPr/>
        </p:nvGrpSpPr>
        <p:grpSpPr>
          <a:xfrm>
            <a:off x="583779" y="2013314"/>
            <a:ext cx="828000" cy="828000"/>
            <a:chOff x="-846043" y="2028997"/>
            <a:chExt cx="828000" cy="828000"/>
          </a:xfrm>
          <a:solidFill>
            <a:schemeClr val="bg1"/>
          </a:solidFill>
        </p:grpSpPr>
        <p:sp>
          <p:nvSpPr>
            <p:cNvPr id="55" name="Oval 54"/>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6" name="Picture 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7" name="Freeform 56"/>
          <p:cNvSpPr/>
          <p:nvPr/>
        </p:nvSpPr>
        <p:spPr>
          <a:xfrm>
            <a:off x="-56228" y="-8767452"/>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1532952" y="3902195"/>
            <a:ext cx="3454792"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PROPOSITION DE SOLUTION</a:t>
            </a:r>
          </a:p>
        </p:txBody>
      </p:sp>
      <p:pic>
        <p:nvPicPr>
          <p:cNvPr id="5" name="Picture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51746" y="75320"/>
            <a:ext cx="2060711" cy="2060711"/>
          </a:xfrm>
          <a:prstGeom prst="rect">
            <a:avLst/>
          </a:prstGeom>
        </p:spPr>
      </p:pic>
      <p:sp>
        <p:nvSpPr>
          <p:cNvPr id="29" name="Rectangle 28">
            <a:extLst>
              <a:ext uri="{FF2B5EF4-FFF2-40B4-BE49-F238E27FC236}">
                <a16:creationId xmlns:a16="http://schemas.microsoft.com/office/drawing/2014/main" id="{471FA961-8140-81A8-DF38-CCCB828DE23B}"/>
              </a:ext>
            </a:extLst>
          </p:cNvPr>
          <p:cNvSpPr/>
          <p:nvPr/>
        </p:nvSpPr>
        <p:spPr>
          <a:xfrm>
            <a:off x="1737360" y="380100"/>
            <a:ext cx="7680960" cy="523220"/>
          </a:xfrm>
          <a:prstGeom prst="rect">
            <a:avLst/>
          </a:prstGeom>
        </p:spPr>
        <p:txBody>
          <a:bodyPr wrap="square">
            <a:spAutoFit/>
          </a:bodyPr>
          <a:lstStyle/>
          <a:p>
            <a:r>
              <a:rPr lang="fr-FR" sz="2400" b="1">
                <a:latin typeface="Times New Roman" panose="02020603050405020304" pitchFamily="18" charset="0"/>
                <a:cs typeface="Times New Roman" panose="02020603050405020304" pitchFamily="18" charset="0"/>
              </a:rPr>
              <a:t>LE MODULE IA : SCORE DE COMPATIBILITÉ</a:t>
            </a:r>
          </a:p>
        </p:txBody>
      </p:sp>
      <p:sp>
        <p:nvSpPr>
          <p:cNvPr id="58" name="Carte IA 58"/>
          <p:cNvSpPr/>
          <p:nvPr/>
        </p:nvSpPr>
        <p:spPr>
          <a:xfrm>
            <a:off x="1600200" y="1325880"/>
            <a:ext cx="329184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59" name="Pastille 59"/>
          <p:cNvSpPr/>
          <p:nvPr/>
        </p:nvSpPr>
        <p:spPr>
          <a:xfrm>
            <a:off x="1783080" y="1627632"/>
            <a:ext cx="548640" cy="548640"/>
          </a:xfrm>
          <a:prstGeom prst="ellipse">
            <a:avLst/>
          </a:prstGeom>
          <a:solidFill>
            <a:srgbClr val="2E75B6"/>
          </a:solidFill>
          <a:ln>
            <a:noFill/>
          </a:ln>
        </p:spPr>
        <p:txBody>
          <a:bodyPr wrap="square" lIns="0" tIns="0" rIns="0" bIns="0" rtlCol="0" anchor="ctr">
            <a:normAutofit/>
          </a:bodyPr>
          <a:lstStyle/>
          <a:p>
            <a:pPr algn="ctr">
              <a:spcAft>
                <a:spcPts val="0"/>
              </a:spcAft>
              <a:buNone/>
            </a:pPr>
            <a:r>
              <a:rPr lang="fr-FR" sz="1800" b="1" i="0">
                <a:solidFill>
                  <a:srgbClr val="FFFFFF"/>
                </a:solidFill>
                <a:latin typeface="Calibri"/>
                <a:cs typeface="Calibri"/>
              </a:rPr>
              <a:t>1</a:t>
            </a:r>
          </a:p>
        </p:txBody>
      </p:sp>
      <p:sp>
        <p:nvSpPr>
          <p:cNvPr id="60" name="Texte 60"/>
          <p:cNvSpPr txBox="1"/>
          <p:nvPr/>
        </p:nvSpPr>
        <p:spPr>
          <a:xfrm>
            <a:off x="2514600" y="1490472"/>
            <a:ext cx="2286000" cy="822960"/>
          </a:xfrm>
          <a:prstGeom prst="rect">
            <a:avLst/>
          </a:prstGeom>
          <a:noFill/>
        </p:spPr>
        <p:txBody>
          <a:bodyPr wrap="square" lIns="0" tIns="0" rIns="0" bIns="0" rtlCol="0" anchor="ctr">
            <a:noAutofit/>
          </a:bodyPr>
          <a:lstStyle/>
          <a:p>
            <a:pPr algn="l">
              <a:spcAft>
                <a:spcPts val="0"/>
              </a:spcAft>
              <a:buNone/>
            </a:pPr>
            <a:r>
              <a:rPr lang="fr-FR" sz="1700" b="1" i="0">
                <a:solidFill>
                  <a:srgbClr val="1F3864"/>
                </a:solidFill>
                <a:latin typeface="Calibri"/>
                <a:cs typeface="Calibri"/>
              </a:rPr>
              <a:t>100 % interne</a:t>
            </a:r>
          </a:p>
          <a:p>
            <a:pPr algn="l">
              <a:spcAft>
                <a:spcPts val="0"/>
              </a:spcAft>
              <a:buNone/>
            </a:pPr>
            <a:r>
              <a:rPr lang="fr-FR" sz="1300" b="0" i="0">
                <a:solidFill>
                  <a:srgbClr val="595959"/>
                </a:solidFill>
                <a:latin typeface="Calibri"/>
                <a:cs typeface="Calibri"/>
              </a:rPr>
              <a:t>aucune API externe, aucune clé</a:t>
            </a:r>
          </a:p>
        </p:txBody>
      </p:sp>
      <p:sp>
        <p:nvSpPr>
          <p:cNvPr id="61" name="Carte IA 61"/>
          <p:cNvSpPr/>
          <p:nvPr/>
        </p:nvSpPr>
        <p:spPr>
          <a:xfrm>
            <a:off x="1600200" y="2697480"/>
            <a:ext cx="329184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2" name="Pastille 62"/>
          <p:cNvSpPr/>
          <p:nvPr/>
        </p:nvSpPr>
        <p:spPr>
          <a:xfrm>
            <a:off x="1783080" y="2999232"/>
            <a:ext cx="548640" cy="548640"/>
          </a:xfrm>
          <a:prstGeom prst="ellipse">
            <a:avLst/>
          </a:prstGeom>
          <a:solidFill>
            <a:srgbClr val="2E75B6"/>
          </a:solidFill>
          <a:ln>
            <a:noFill/>
          </a:ln>
        </p:spPr>
        <p:txBody>
          <a:bodyPr wrap="square" lIns="0" tIns="0" rIns="0" bIns="0" rtlCol="0" anchor="ctr">
            <a:normAutofit/>
          </a:bodyPr>
          <a:lstStyle/>
          <a:p>
            <a:pPr algn="ctr">
              <a:spcAft>
                <a:spcPts val="0"/>
              </a:spcAft>
              <a:buNone/>
            </a:pPr>
            <a:r>
              <a:rPr lang="fr-FR" sz="1800" b="1" i="0">
                <a:solidFill>
                  <a:srgbClr val="FFFFFF"/>
                </a:solidFill>
                <a:latin typeface="Calibri"/>
                <a:cs typeface="Calibri"/>
              </a:rPr>
              <a:t>2</a:t>
            </a:r>
          </a:p>
        </p:txBody>
      </p:sp>
      <p:sp>
        <p:nvSpPr>
          <p:cNvPr id="63" name="Texte 63"/>
          <p:cNvSpPr txBox="1"/>
          <p:nvPr/>
        </p:nvSpPr>
        <p:spPr>
          <a:xfrm>
            <a:off x="2514600" y="2862072"/>
            <a:ext cx="2286000" cy="822960"/>
          </a:xfrm>
          <a:prstGeom prst="rect">
            <a:avLst/>
          </a:prstGeom>
          <a:noFill/>
        </p:spPr>
        <p:txBody>
          <a:bodyPr wrap="square" lIns="0" tIns="0" rIns="0" bIns="0" rtlCol="0" anchor="ctr">
            <a:noAutofit/>
          </a:bodyPr>
          <a:lstStyle/>
          <a:p>
            <a:pPr algn="l">
              <a:spcAft>
                <a:spcPts val="0"/>
              </a:spcAft>
              <a:buNone/>
            </a:pPr>
            <a:r>
              <a:rPr lang="fr-FR" sz="1700" b="1" i="0">
                <a:solidFill>
                  <a:srgbClr val="1F3864"/>
                </a:solidFill>
                <a:latin typeface="Calibri"/>
                <a:cs typeface="Calibri"/>
              </a:rPr>
              <a:t>158 compétences</a:t>
            </a:r>
          </a:p>
          <a:p>
            <a:pPr algn="l">
              <a:spcAft>
                <a:spcPts val="0"/>
              </a:spcAft>
              <a:buNone/>
            </a:pPr>
            <a:r>
              <a:rPr lang="fr-FR" sz="1300" b="0" i="0">
                <a:solidFill>
                  <a:srgbClr val="595959"/>
                </a:solidFill>
                <a:latin typeface="Calibri"/>
                <a:cs typeface="Calibri"/>
              </a:rPr>
              <a:t>référentiel avec synonymes</a:t>
            </a:r>
          </a:p>
        </p:txBody>
      </p:sp>
      <p:sp>
        <p:nvSpPr>
          <p:cNvPr id="64" name="Carte IA 64"/>
          <p:cNvSpPr/>
          <p:nvPr/>
        </p:nvSpPr>
        <p:spPr>
          <a:xfrm>
            <a:off x="1600200" y="4069080"/>
            <a:ext cx="329184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5" name="Pastille 65"/>
          <p:cNvSpPr/>
          <p:nvPr/>
        </p:nvSpPr>
        <p:spPr>
          <a:xfrm>
            <a:off x="1783080" y="4370832"/>
            <a:ext cx="548640" cy="548640"/>
          </a:xfrm>
          <a:prstGeom prst="ellipse">
            <a:avLst/>
          </a:prstGeom>
          <a:solidFill>
            <a:srgbClr val="2E75B6"/>
          </a:solidFill>
          <a:ln>
            <a:noFill/>
          </a:ln>
        </p:spPr>
        <p:txBody>
          <a:bodyPr wrap="square" lIns="0" tIns="0" rIns="0" bIns="0" rtlCol="0" anchor="ctr">
            <a:normAutofit/>
          </a:bodyPr>
          <a:lstStyle/>
          <a:p>
            <a:pPr algn="ctr">
              <a:spcAft>
                <a:spcPts val="0"/>
              </a:spcAft>
              <a:buNone/>
            </a:pPr>
            <a:r>
              <a:rPr lang="fr-FR" sz="1800" b="1" i="0">
                <a:solidFill>
                  <a:srgbClr val="FFFFFF"/>
                </a:solidFill>
                <a:latin typeface="Calibri"/>
                <a:cs typeface="Calibri"/>
              </a:rPr>
              <a:t>3</a:t>
            </a:r>
          </a:p>
        </p:txBody>
      </p:sp>
      <p:sp>
        <p:nvSpPr>
          <p:cNvPr id="66" name="Texte 66"/>
          <p:cNvSpPr txBox="1"/>
          <p:nvPr/>
        </p:nvSpPr>
        <p:spPr>
          <a:xfrm>
            <a:off x="2514600" y="4233672"/>
            <a:ext cx="2286000" cy="822960"/>
          </a:xfrm>
          <a:prstGeom prst="rect">
            <a:avLst/>
          </a:prstGeom>
          <a:noFill/>
        </p:spPr>
        <p:txBody>
          <a:bodyPr wrap="square" lIns="0" tIns="0" rIns="0" bIns="0" rtlCol="0" anchor="ctr">
            <a:noAutofit/>
          </a:bodyPr>
          <a:lstStyle/>
          <a:p>
            <a:pPr algn="l">
              <a:spcAft>
                <a:spcPts val="0"/>
              </a:spcAft>
              <a:buNone/>
            </a:pPr>
            <a:r>
              <a:rPr lang="fr-FR" sz="1700" b="1" i="0">
                <a:solidFill>
                  <a:srgbClr val="1F3864"/>
                </a:solidFill>
                <a:latin typeface="Calibri"/>
                <a:cs typeface="Calibri"/>
              </a:rPr>
              <a:t>Score de 0 à 100</a:t>
            </a:r>
          </a:p>
          <a:p>
            <a:pPr algn="l">
              <a:spcAft>
                <a:spcPts val="0"/>
              </a:spcAft>
              <a:buNone/>
            </a:pPr>
            <a:r>
              <a:rPr lang="fr-FR" sz="1300" b="0" i="0">
                <a:solidFill>
                  <a:srgbClr val="595959"/>
                </a:solidFill>
                <a:latin typeface="Calibri"/>
                <a:cs typeface="Calibri"/>
              </a:rPr>
              <a:t>toujours accompagné d'une explication</a:t>
            </a:r>
          </a:p>
        </p:txBody>
      </p:sp>
      <p:sp>
        <p:nvSpPr>
          <p:cNvPr id="67" name="Texte 67"/>
          <p:cNvSpPr txBox="1"/>
          <p:nvPr/>
        </p:nvSpPr>
        <p:spPr>
          <a:xfrm>
            <a:off x="5349240" y="1280160"/>
            <a:ext cx="3657600" cy="365760"/>
          </a:xfrm>
          <a:prstGeom prst="rect">
            <a:avLst/>
          </a:prstGeom>
          <a:noFill/>
        </p:spPr>
        <p:txBody>
          <a:bodyPr wrap="square" lIns="0" tIns="0" rIns="0" bIns="0" rtlCol="0" anchor="t">
            <a:noAutofit/>
          </a:bodyPr>
          <a:lstStyle/>
          <a:p>
            <a:pPr algn="l">
              <a:spcAft>
                <a:spcPts val="0"/>
              </a:spcAft>
              <a:buNone/>
            </a:pPr>
            <a:r>
              <a:rPr lang="fr-FR" sz="1800" b="1" i="0">
                <a:solidFill>
                  <a:srgbClr val="1F3864"/>
                </a:solidFill>
                <a:latin typeface="Calibri"/>
                <a:cs typeface="Calibri"/>
              </a:rPr>
              <a:t>Pondération du score</a:t>
            </a:r>
          </a:p>
        </p:txBody>
      </p:sp>
      <p:sp>
        <p:nvSpPr>
          <p:cNvPr id="68" name="Texte 68"/>
          <p:cNvSpPr txBox="1"/>
          <p:nvPr/>
        </p:nvSpPr>
        <p:spPr>
          <a:xfrm>
            <a:off x="5349240" y="1828800"/>
            <a:ext cx="3474720" cy="274320"/>
          </a:xfrm>
          <a:prstGeom prst="rect">
            <a:avLst/>
          </a:prstGeom>
          <a:noFill/>
        </p:spPr>
        <p:txBody>
          <a:bodyPr wrap="square" lIns="0" tIns="0" rIns="0" bIns="0" rtlCol="0" anchor="t">
            <a:noAutofit/>
          </a:bodyPr>
          <a:lstStyle/>
          <a:p>
            <a:pPr algn="l">
              <a:spcAft>
                <a:spcPts val="0"/>
              </a:spcAft>
              <a:buNone/>
            </a:pPr>
            <a:r>
              <a:rPr lang="fr-FR" sz="1400" b="0" i="0">
                <a:solidFill>
                  <a:srgbClr val="1F3864"/>
                </a:solidFill>
                <a:latin typeface="Calibri"/>
                <a:cs typeface="Calibri"/>
              </a:rPr>
              <a:t>Compétences</a:t>
            </a:r>
          </a:p>
        </p:txBody>
      </p:sp>
      <p:sp>
        <p:nvSpPr>
          <p:cNvPr id="69" name="Barre 69"/>
          <p:cNvSpPr/>
          <p:nvPr/>
        </p:nvSpPr>
        <p:spPr>
          <a:xfrm>
            <a:off x="5349240" y="2130552"/>
            <a:ext cx="2743200" cy="274320"/>
          </a:xfrm>
          <a:prstGeom prst="rect">
            <a:avLst/>
          </a:prstGeom>
          <a:solidFill>
            <a:srgbClr val="2E75B6"/>
          </a:solidFill>
          <a:ln>
            <a:noFill/>
          </a:ln>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70" name="Texte 70"/>
          <p:cNvSpPr txBox="1"/>
          <p:nvPr/>
        </p:nvSpPr>
        <p:spPr>
          <a:xfrm>
            <a:off x="8183880" y="2103120"/>
            <a:ext cx="731520" cy="329184"/>
          </a:xfrm>
          <a:prstGeom prst="rect">
            <a:avLst/>
          </a:prstGeom>
          <a:noFill/>
        </p:spPr>
        <p:txBody>
          <a:bodyPr wrap="square" lIns="0" tIns="0" rIns="0" bIns="0" rtlCol="0" anchor="ctr">
            <a:noAutofit/>
          </a:bodyPr>
          <a:lstStyle/>
          <a:p>
            <a:pPr algn="l">
              <a:spcAft>
                <a:spcPts val="0"/>
              </a:spcAft>
              <a:buNone/>
            </a:pPr>
            <a:r>
              <a:rPr lang="fr-FR" sz="1400" b="1" i="0">
                <a:solidFill>
                  <a:srgbClr val="1F3864"/>
                </a:solidFill>
                <a:latin typeface="Calibri"/>
                <a:cs typeface="Calibri"/>
              </a:rPr>
              <a:t>45 %</a:t>
            </a:r>
          </a:p>
        </p:txBody>
      </p:sp>
      <p:sp>
        <p:nvSpPr>
          <p:cNvPr id="71" name="Texte 71"/>
          <p:cNvSpPr txBox="1"/>
          <p:nvPr/>
        </p:nvSpPr>
        <p:spPr>
          <a:xfrm>
            <a:off x="5349240" y="2578608"/>
            <a:ext cx="3474720" cy="274320"/>
          </a:xfrm>
          <a:prstGeom prst="rect">
            <a:avLst/>
          </a:prstGeom>
          <a:noFill/>
        </p:spPr>
        <p:txBody>
          <a:bodyPr wrap="square" lIns="0" tIns="0" rIns="0" bIns="0" rtlCol="0" anchor="t">
            <a:noAutofit/>
          </a:bodyPr>
          <a:lstStyle/>
          <a:p>
            <a:pPr algn="l">
              <a:spcAft>
                <a:spcPts val="0"/>
              </a:spcAft>
              <a:buNone/>
            </a:pPr>
            <a:r>
              <a:rPr lang="fr-FR" sz="1400" b="0" i="0">
                <a:solidFill>
                  <a:srgbClr val="1F3864"/>
                </a:solidFill>
                <a:latin typeface="Calibri"/>
                <a:cs typeface="Calibri"/>
              </a:rPr>
              <a:t>Expérience</a:t>
            </a:r>
          </a:p>
        </p:txBody>
      </p:sp>
      <p:sp>
        <p:nvSpPr>
          <p:cNvPr id="72" name="Barre 72"/>
          <p:cNvSpPr/>
          <p:nvPr/>
        </p:nvSpPr>
        <p:spPr>
          <a:xfrm>
            <a:off x="5349240" y="2880360"/>
            <a:ext cx="1219200" cy="274320"/>
          </a:xfrm>
          <a:prstGeom prst="rect">
            <a:avLst/>
          </a:prstGeom>
          <a:solidFill>
            <a:srgbClr val="5B9BD5"/>
          </a:solidFill>
          <a:ln>
            <a:noFill/>
          </a:ln>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73" name="Texte 73"/>
          <p:cNvSpPr txBox="1"/>
          <p:nvPr/>
        </p:nvSpPr>
        <p:spPr>
          <a:xfrm>
            <a:off x="6659880" y="2852928"/>
            <a:ext cx="731520" cy="329184"/>
          </a:xfrm>
          <a:prstGeom prst="rect">
            <a:avLst/>
          </a:prstGeom>
          <a:noFill/>
        </p:spPr>
        <p:txBody>
          <a:bodyPr wrap="square" lIns="0" tIns="0" rIns="0" bIns="0" rtlCol="0" anchor="ctr">
            <a:noAutofit/>
          </a:bodyPr>
          <a:lstStyle/>
          <a:p>
            <a:pPr algn="l">
              <a:spcAft>
                <a:spcPts val="0"/>
              </a:spcAft>
              <a:buNone/>
            </a:pPr>
            <a:r>
              <a:rPr lang="fr-FR" sz="1400" b="1" i="0">
                <a:solidFill>
                  <a:srgbClr val="1F3864"/>
                </a:solidFill>
                <a:latin typeface="Calibri"/>
                <a:cs typeface="Calibri"/>
              </a:rPr>
              <a:t>20 %</a:t>
            </a:r>
          </a:p>
        </p:txBody>
      </p:sp>
      <p:sp>
        <p:nvSpPr>
          <p:cNvPr id="74" name="Texte 74"/>
          <p:cNvSpPr txBox="1"/>
          <p:nvPr/>
        </p:nvSpPr>
        <p:spPr>
          <a:xfrm>
            <a:off x="5349240" y="3328416"/>
            <a:ext cx="3474720" cy="274320"/>
          </a:xfrm>
          <a:prstGeom prst="rect">
            <a:avLst/>
          </a:prstGeom>
          <a:noFill/>
        </p:spPr>
        <p:txBody>
          <a:bodyPr wrap="square" lIns="0" tIns="0" rIns="0" bIns="0" rtlCol="0" anchor="t">
            <a:noAutofit/>
          </a:bodyPr>
          <a:lstStyle/>
          <a:p>
            <a:pPr algn="l">
              <a:spcAft>
                <a:spcPts val="0"/>
              </a:spcAft>
              <a:buNone/>
            </a:pPr>
            <a:r>
              <a:rPr lang="fr-FR" sz="1400" b="0" i="0">
                <a:solidFill>
                  <a:srgbClr val="1F3864"/>
                </a:solidFill>
                <a:latin typeface="Calibri"/>
                <a:cs typeface="Calibri"/>
              </a:rPr>
              <a:t>Vocabulaire (similarité cosinus)</a:t>
            </a:r>
          </a:p>
        </p:txBody>
      </p:sp>
      <p:sp>
        <p:nvSpPr>
          <p:cNvPr id="75" name="Barre 75"/>
          <p:cNvSpPr/>
          <p:nvPr/>
        </p:nvSpPr>
        <p:spPr>
          <a:xfrm>
            <a:off x="5349240" y="3630168"/>
            <a:ext cx="914400" cy="274320"/>
          </a:xfrm>
          <a:prstGeom prst="rect">
            <a:avLst/>
          </a:prstGeom>
          <a:solidFill>
            <a:srgbClr val="9DC3E6"/>
          </a:solidFill>
          <a:ln>
            <a:noFill/>
          </a:ln>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76" name="Texte 76"/>
          <p:cNvSpPr txBox="1"/>
          <p:nvPr/>
        </p:nvSpPr>
        <p:spPr>
          <a:xfrm>
            <a:off x="6355080" y="3602736"/>
            <a:ext cx="731520" cy="329184"/>
          </a:xfrm>
          <a:prstGeom prst="rect">
            <a:avLst/>
          </a:prstGeom>
          <a:noFill/>
        </p:spPr>
        <p:txBody>
          <a:bodyPr wrap="square" lIns="0" tIns="0" rIns="0" bIns="0" rtlCol="0" anchor="ctr">
            <a:noAutofit/>
          </a:bodyPr>
          <a:lstStyle/>
          <a:p>
            <a:pPr algn="l">
              <a:spcAft>
                <a:spcPts val="0"/>
              </a:spcAft>
              <a:buNone/>
            </a:pPr>
            <a:r>
              <a:rPr lang="fr-FR" sz="1400" b="1" i="0">
                <a:solidFill>
                  <a:srgbClr val="1F3864"/>
                </a:solidFill>
                <a:latin typeface="Calibri"/>
                <a:cs typeface="Calibri"/>
              </a:rPr>
              <a:t>15 %</a:t>
            </a:r>
          </a:p>
        </p:txBody>
      </p:sp>
      <p:sp>
        <p:nvSpPr>
          <p:cNvPr id="77" name="Texte 77"/>
          <p:cNvSpPr txBox="1"/>
          <p:nvPr/>
        </p:nvSpPr>
        <p:spPr>
          <a:xfrm>
            <a:off x="5349240" y="4078224"/>
            <a:ext cx="3474720" cy="274320"/>
          </a:xfrm>
          <a:prstGeom prst="rect">
            <a:avLst/>
          </a:prstGeom>
          <a:noFill/>
        </p:spPr>
        <p:txBody>
          <a:bodyPr wrap="square" lIns="0" tIns="0" rIns="0" bIns="0" rtlCol="0" anchor="t">
            <a:noAutofit/>
          </a:bodyPr>
          <a:lstStyle/>
          <a:p>
            <a:pPr algn="l">
              <a:spcAft>
                <a:spcPts val="0"/>
              </a:spcAft>
              <a:buNone/>
            </a:pPr>
            <a:r>
              <a:rPr lang="fr-FR" sz="1400" b="0" i="0">
                <a:solidFill>
                  <a:srgbClr val="1F3864"/>
                </a:solidFill>
                <a:latin typeface="Calibri"/>
                <a:cs typeface="Calibri"/>
              </a:rPr>
              <a:t>Localisation</a:t>
            </a:r>
          </a:p>
        </p:txBody>
      </p:sp>
      <p:sp>
        <p:nvSpPr>
          <p:cNvPr id="78" name="Barre 78"/>
          <p:cNvSpPr/>
          <p:nvPr/>
        </p:nvSpPr>
        <p:spPr>
          <a:xfrm>
            <a:off x="5349240" y="4379976"/>
            <a:ext cx="609600" cy="274320"/>
          </a:xfrm>
          <a:prstGeom prst="rect">
            <a:avLst/>
          </a:prstGeom>
          <a:solidFill>
            <a:srgbClr val="FFC000"/>
          </a:solidFill>
          <a:ln>
            <a:noFill/>
          </a:ln>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79" name="Texte 79"/>
          <p:cNvSpPr txBox="1"/>
          <p:nvPr/>
        </p:nvSpPr>
        <p:spPr>
          <a:xfrm>
            <a:off x="6050280" y="4352544"/>
            <a:ext cx="731520" cy="329184"/>
          </a:xfrm>
          <a:prstGeom prst="rect">
            <a:avLst/>
          </a:prstGeom>
          <a:noFill/>
        </p:spPr>
        <p:txBody>
          <a:bodyPr wrap="square" lIns="0" tIns="0" rIns="0" bIns="0" rtlCol="0" anchor="ctr">
            <a:noAutofit/>
          </a:bodyPr>
          <a:lstStyle/>
          <a:p>
            <a:pPr algn="l">
              <a:spcAft>
                <a:spcPts val="0"/>
              </a:spcAft>
              <a:buNone/>
            </a:pPr>
            <a:r>
              <a:rPr lang="fr-FR" sz="1400" b="1" i="0">
                <a:solidFill>
                  <a:srgbClr val="1F3864"/>
                </a:solidFill>
                <a:latin typeface="Calibri"/>
                <a:cs typeface="Calibri"/>
              </a:rPr>
              <a:t>10 %</a:t>
            </a:r>
          </a:p>
        </p:txBody>
      </p:sp>
      <p:sp>
        <p:nvSpPr>
          <p:cNvPr id="80" name="Texte 80"/>
          <p:cNvSpPr txBox="1"/>
          <p:nvPr/>
        </p:nvSpPr>
        <p:spPr>
          <a:xfrm>
            <a:off x="5349240" y="4828032"/>
            <a:ext cx="3474720" cy="274320"/>
          </a:xfrm>
          <a:prstGeom prst="rect">
            <a:avLst/>
          </a:prstGeom>
          <a:noFill/>
        </p:spPr>
        <p:txBody>
          <a:bodyPr wrap="square" lIns="0" tIns="0" rIns="0" bIns="0" rtlCol="0" anchor="t">
            <a:noAutofit/>
          </a:bodyPr>
          <a:lstStyle/>
          <a:p>
            <a:pPr algn="l">
              <a:spcAft>
                <a:spcPts val="0"/>
              </a:spcAft>
              <a:buNone/>
            </a:pPr>
            <a:r>
              <a:rPr lang="fr-FR" sz="1400" b="0" i="0">
                <a:solidFill>
                  <a:srgbClr val="1F3864"/>
                </a:solidFill>
                <a:latin typeface="Calibri"/>
                <a:cs typeface="Calibri"/>
              </a:rPr>
              <a:t>Formation</a:t>
            </a:r>
          </a:p>
        </p:txBody>
      </p:sp>
      <p:sp>
        <p:nvSpPr>
          <p:cNvPr id="81" name="Barre 81"/>
          <p:cNvSpPr/>
          <p:nvPr/>
        </p:nvSpPr>
        <p:spPr>
          <a:xfrm>
            <a:off x="5349240" y="5129784"/>
            <a:ext cx="609600" cy="274320"/>
          </a:xfrm>
          <a:prstGeom prst="rect">
            <a:avLst/>
          </a:prstGeom>
          <a:solidFill>
            <a:srgbClr val="F4B183"/>
          </a:solidFill>
          <a:ln>
            <a:noFill/>
          </a:ln>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82" name="Texte 82"/>
          <p:cNvSpPr txBox="1"/>
          <p:nvPr/>
        </p:nvSpPr>
        <p:spPr>
          <a:xfrm>
            <a:off x="6050280" y="5102352"/>
            <a:ext cx="731520" cy="329184"/>
          </a:xfrm>
          <a:prstGeom prst="rect">
            <a:avLst/>
          </a:prstGeom>
          <a:noFill/>
        </p:spPr>
        <p:txBody>
          <a:bodyPr wrap="square" lIns="0" tIns="0" rIns="0" bIns="0" rtlCol="0" anchor="ctr">
            <a:noAutofit/>
          </a:bodyPr>
          <a:lstStyle/>
          <a:p>
            <a:pPr algn="l">
              <a:spcAft>
                <a:spcPts val="0"/>
              </a:spcAft>
              <a:buNone/>
            </a:pPr>
            <a:r>
              <a:rPr lang="fr-FR" sz="1400" b="1" i="0">
                <a:solidFill>
                  <a:srgbClr val="1F3864"/>
                </a:solidFill>
                <a:latin typeface="Calibri"/>
                <a:cs typeface="Calibri"/>
              </a:rPr>
              <a:t>10 %</a:t>
            </a:r>
          </a:p>
        </p:txBody>
      </p:sp>
      <p:sp>
        <p:nvSpPr>
          <p:cNvPr id="83" name="Texte 83"/>
          <p:cNvSpPr txBox="1"/>
          <p:nvPr/>
        </p:nvSpPr>
        <p:spPr>
          <a:xfrm>
            <a:off x="1600200" y="5760720"/>
            <a:ext cx="7498080" cy="365760"/>
          </a:xfrm>
          <a:prstGeom prst="rect">
            <a:avLst/>
          </a:prstGeom>
          <a:noFill/>
        </p:spPr>
        <p:txBody>
          <a:bodyPr wrap="square" lIns="0" tIns="0" rIns="0" bIns="0" rtlCol="0" anchor="t">
            <a:noAutofit/>
          </a:bodyPr>
          <a:lstStyle/>
          <a:p>
            <a:pPr algn="l">
              <a:spcAft>
                <a:spcPts val="0"/>
              </a:spcAft>
              <a:buNone/>
            </a:pPr>
            <a:r>
              <a:rPr lang="fr-FR" sz="1300" b="0" i="1">
                <a:solidFill>
                  <a:srgbClr val="595959"/>
                </a:solidFill>
                <a:latin typeface="Calibri"/>
                <a:cs typeface="Calibri"/>
              </a:rPr>
              <a:t>Un critère non renseigné est exclu et son poids est redistribué sur les autres.</a:t>
            </a:r>
          </a:p>
        </p:txBody>
      </p:sp>
    </p:spTree>
    <p:extLst>
      <p:ext uri="{BB962C8B-B14F-4D97-AF65-F5344CB8AC3E}">
        <p14:creationId xmlns:p14="http://schemas.microsoft.com/office/powerpoint/2010/main" val="14169079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600"/>
                                        <p:tgtEl>
                                          <p:spTgt spid="5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600"/>
                                        <p:tgtEl>
                                          <p:spTgt spid="59"/>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600"/>
                                        <p:tgtEl>
                                          <p:spTgt spid="60"/>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600"/>
                                        <p:tgtEl>
                                          <p:spTgt spid="61"/>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600"/>
                                        <p:tgtEl>
                                          <p:spTgt spid="62"/>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600"/>
                                        <p:tgtEl>
                                          <p:spTgt spid="63"/>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600"/>
                                        <p:tgtEl>
                                          <p:spTgt spid="64"/>
                                        </p:tgtEl>
                                      </p:cBhvr>
                                    </p:animEffect>
                                  </p:childTnLst>
                                </p:cTn>
                              </p:par>
                              <p:par>
                                <p:cTn id="26" presetID="10" presetClass="entr" presetSubtype="0" fill="hold" grpId="0" nodeType="withEffect">
                                  <p:stCondLst>
                                    <p:cond delay="175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600"/>
                                        <p:tgtEl>
                                          <p:spTgt spid="65"/>
                                        </p:tgtEl>
                                      </p:cBhvr>
                                    </p:animEffect>
                                  </p:childTnLst>
                                </p:cTn>
                              </p:par>
                              <p:par>
                                <p:cTn id="29" presetID="10" presetClass="entr" presetSubtype="0" fill="hold" grpId="0" nodeType="withEffect">
                                  <p:stCondLst>
                                    <p:cond delay="200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600"/>
                                        <p:tgtEl>
                                          <p:spTgt spid="6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7"/>
                                        </p:tgtEl>
                                        <p:attrNameLst>
                                          <p:attrName>style.visibility</p:attrName>
                                        </p:attrNameLst>
                                      </p:cBhvr>
                                      <p:to>
                                        <p:strVal val="visible"/>
                                      </p:to>
                                    </p:set>
                                    <p:animEffect transition="in" filter="fade">
                                      <p:cBhvr>
                                        <p:cTn id="36" dur="600"/>
                                        <p:tgtEl>
                                          <p:spTgt spid="67"/>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68"/>
                                        </p:tgtEl>
                                        <p:attrNameLst>
                                          <p:attrName>style.visibility</p:attrName>
                                        </p:attrNameLst>
                                      </p:cBhvr>
                                      <p:to>
                                        <p:strVal val="visible"/>
                                      </p:to>
                                    </p:set>
                                    <p:animEffect transition="in" filter="fade">
                                      <p:cBhvr>
                                        <p:cTn id="39" dur="600"/>
                                        <p:tgtEl>
                                          <p:spTgt spid="68"/>
                                        </p:tgtEl>
                                      </p:cBhvr>
                                    </p:animEffect>
                                  </p:childTnLst>
                                </p:cTn>
                              </p:par>
                              <p:par>
                                <p:cTn id="40" presetID="22" presetClass="entr" presetSubtype="8" fill="hold" grpId="0" nodeType="withEffect">
                                  <p:stCondLst>
                                    <p:cond delay="400"/>
                                  </p:stCondLst>
                                  <p:childTnLst>
                                    <p:set>
                                      <p:cBhvr>
                                        <p:cTn id="41" dur="1" fill="hold">
                                          <p:stCondLst>
                                            <p:cond delay="0"/>
                                          </p:stCondLst>
                                        </p:cTn>
                                        <p:tgtEl>
                                          <p:spTgt spid="69"/>
                                        </p:tgtEl>
                                        <p:attrNameLst>
                                          <p:attrName>style.visibility</p:attrName>
                                        </p:attrNameLst>
                                      </p:cBhvr>
                                      <p:to>
                                        <p:strVal val="visible"/>
                                      </p:to>
                                    </p:set>
                                    <p:animEffect transition="in" filter="wipe(left)">
                                      <p:cBhvr>
                                        <p:cTn id="42" dur="700"/>
                                        <p:tgtEl>
                                          <p:spTgt spid="69"/>
                                        </p:tgtEl>
                                      </p:cBhvr>
                                    </p:animEffect>
                                  </p:childTnLst>
                                </p:cTn>
                              </p:par>
                              <p:par>
                                <p:cTn id="43" presetID="10" presetClass="entr" presetSubtype="0" fill="hold" grpId="0" nodeType="withEffect">
                                  <p:stCondLst>
                                    <p:cond delay="600"/>
                                  </p:stCondLst>
                                  <p:childTnLst>
                                    <p:set>
                                      <p:cBhvr>
                                        <p:cTn id="44" dur="1" fill="hold">
                                          <p:stCondLst>
                                            <p:cond delay="0"/>
                                          </p:stCondLst>
                                        </p:cTn>
                                        <p:tgtEl>
                                          <p:spTgt spid="70"/>
                                        </p:tgtEl>
                                        <p:attrNameLst>
                                          <p:attrName>style.visibility</p:attrName>
                                        </p:attrNameLst>
                                      </p:cBhvr>
                                      <p:to>
                                        <p:strVal val="visible"/>
                                      </p:to>
                                    </p:set>
                                    <p:animEffect transition="in" filter="fade">
                                      <p:cBhvr>
                                        <p:cTn id="45" dur="600"/>
                                        <p:tgtEl>
                                          <p:spTgt spid="70"/>
                                        </p:tgtEl>
                                      </p:cBhvr>
                                    </p:animEffect>
                                  </p:childTnLst>
                                </p:cTn>
                              </p:par>
                              <p:par>
                                <p:cTn id="46" presetID="10" presetClass="entr" presetSubtype="0" fill="hold" grpId="0" nodeType="withEffect">
                                  <p:stCondLst>
                                    <p:cond delay="800"/>
                                  </p:stCondLst>
                                  <p:childTnLst>
                                    <p:set>
                                      <p:cBhvr>
                                        <p:cTn id="47" dur="1" fill="hold">
                                          <p:stCondLst>
                                            <p:cond delay="0"/>
                                          </p:stCondLst>
                                        </p:cTn>
                                        <p:tgtEl>
                                          <p:spTgt spid="71"/>
                                        </p:tgtEl>
                                        <p:attrNameLst>
                                          <p:attrName>style.visibility</p:attrName>
                                        </p:attrNameLst>
                                      </p:cBhvr>
                                      <p:to>
                                        <p:strVal val="visible"/>
                                      </p:to>
                                    </p:set>
                                    <p:animEffect transition="in" filter="fade">
                                      <p:cBhvr>
                                        <p:cTn id="48" dur="600"/>
                                        <p:tgtEl>
                                          <p:spTgt spid="71"/>
                                        </p:tgtEl>
                                      </p:cBhvr>
                                    </p:animEffect>
                                  </p:childTnLst>
                                </p:cTn>
                              </p:par>
                              <p:par>
                                <p:cTn id="49" presetID="22" presetClass="entr" presetSubtype="8" fill="hold" grpId="0" nodeType="withEffect">
                                  <p:stCondLst>
                                    <p:cond delay="100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700"/>
                                        <p:tgtEl>
                                          <p:spTgt spid="72"/>
                                        </p:tgtEl>
                                      </p:cBhvr>
                                    </p:animEffect>
                                  </p:childTnLst>
                                </p:cTn>
                              </p:par>
                              <p:par>
                                <p:cTn id="52" presetID="10" presetClass="entr" presetSubtype="0" fill="hold" grpId="0" nodeType="withEffect">
                                  <p:stCondLst>
                                    <p:cond delay="1200"/>
                                  </p:stCondLst>
                                  <p:childTnLst>
                                    <p:set>
                                      <p:cBhvr>
                                        <p:cTn id="53" dur="1" fill="hold">
                                          <p:stCondLst>
                                            <p:cond delay="0"/>
                                          </p:stCondLst>
                                        </p:cTn>
                                        <p:tgtEl>
                                          <p:spTgt spid="73"/>
                                        </p:tgtEl>
                                        <p:attrNameLst>
                                          <p:attrName>style.visibility</p:attrName>
                                        </p:attrNameLst>
                                      </p:cBhvr>
                                      <p:to>
                                        <p:strVal val="visible"/>
                                      </p:to>
                                    </p:set>
                                    <p:animEffect transition="in" filter="fade">
                                      <p:cBhvr>
                                        <p:cTn id="54" dur="600"/>
                                        <p:tgtEl>
                                          <p:spTgt spid="73"/>
                                        </p:tgtEl>
                                      </p:cBhvr>
                                    </p:animEffect>
                                  </p:childTnLst>
                                </p:cTn>
                              </p:par>
                              <p:par>
                                <p:cTn id="55" presetID="10" presetClass="entr" presetSubtype="0" fill="hold" grpId="0" nodeType="withEffect">
                                  <p:stCondLst>
                                    <p:cond delay="1400"/>
                                  </p:stCondLst>
                                  <p:childTnLst>
                                    <p:set>
                                      <p:cBhvr>
                                        <p:cTn id="56" dur="1" fill="hold">
                                          <p:stCondLst>
                                            <p:cond delay="0"/>
                                          </p:stCondLst>
                                        </p:cTn>
                                        <p:tgtEl>
                                          <p:spTgt spid="74"/>
                                        </p:tgtEl>
                                        <p:attrNameLst>
                                          <p:attrName>style.visibility</p:attrName>
                                        </p:attrNameLst>
                                      </p:cBhvr>
                                      <p:to>
                                        <p:strVal val="visible"/>
                                      </p:to>
                                    </p:set>
                                    <p:animEffect transition="in" filter="fade">
                                      <p:cBhvr>
                                        <p:cTn id="57" dur="600"/>
                                        <p:tgtEl>
                                          <p:spTgt spid="74"/>
                                        </p:tgtEl>
                                      </p:cBhvr>
                                    </p:animEffect>
                                  </p:childTnLst>
                                </p:cTn>
                              </p:par>
                              <p:par>
                                <p:cTn id="58" presetID="22" presetClass="entr" presetSubtype="8" fill="hold" grpId="0" nodeType="withEffect">
                                  <p:stCondLst>
                                    <p:cond delay="1600"/>
                                  </p:stCondLst>
                                  <p:childTnLst>
                                    <p:set>
                                      <p:cBhvr>
                                        <p:cTn id="59" dur="1" fill="hold">
                                          <p:stCondLst>
                                            <p:cond delay="0"/>
                                          </p:stCondLst>
                                        </p:cTn>
                                        <p:tgtEl>
                                          <p:spTgt spid="75"/>
                                        </p:tgtEl>
                                        <p:attrNameLst>
                                          <p:attrName>style.visibility</p:attrName>
                                        </p:attrNameLst>
                                      </p:cBhvr>
                                      <p:to>
                                        <p:strVal val="visible"/>
                                      </p:to>
                                    </p:set>
                                    <p:animEffect transition="in" filter="wipe(left)">
                                      <p:cBhvr>
                                        <p:cTn id="60" dur="700"/>
                                        <p:tgtEl>
                                          <p:spTgt spid="75"/>
                                        </p:tgtEl>
                                      </p:cBhvr>
                                    </p:animEffect>
                                  </p:childTnLst>
                                </p:cTn>
                              </p:par>
                              <p:par>
                                <p:cTn id="61" presetID="10" presetClass="entr" presetSubtype="0" fill="hold" grpId="0" nodeType="withEffect">
                                  <p:stCondLst>
                                    <p:cond delay="1800"/>
                                  </p:stCondLst>
                                  <p:childTnLst>
                                    <p:set>
                                      <p:cBhvr>
                                        <p:cTn id="62" dur="1" fill="hold">
                                          <p:stCondLst>
                                            <p:cond delay="0"/>
                                          </p:stCondLst>
                                        </p:cTn>
                                        <p:tgtEl>
                                          <p:spTgt spid="76"/>
                                        </p:tgtEl>
                                        <p:attrNameLst>
                                          <p:attrName>style.visibility</p:attrName>
                                        </p:attrNameLst>
                                      </p:cBhvr>
                                      <p:to>
                                        <p:strVal val="visible"/>
                                      </p:to>
                                    </p:set>
                                    <p:animEffect transition="in" filter="fade">
                                      <p:cBhvr>
                                        <p:cTn id="63" dur="600"/>
                                        <p:tgtEl>
                                          <p:spTgt spid="76"/>
                                        </p:tgtEl>
                                      </p:cBhvr>
                                    </p:animEffect>
                                  </p:childTnLst>
                                </p:cTn>
                              </p:par>
                              <p:par>
                                <p:cTn id="64" presetID="10" presetClass="entr" presetSubtype="0" fill="hold" grpId="0" nodeType="withEffect">
                                  <p:stCondLst>
                                    <p:cond delay="2000"/>
                                  </p:stCondLst>
                                  <p:childTnLst>
                                    <p:set>
                                      <p:cBhvr>
                                        <p:cTn id="65" dur="1" fill="hold">
                                          <p:stCondLst>
                                            <p:cond delay="0"/>
                                          </p:stCondLst>
                                        </p:cTn>
                                        <p:tgtEl>
                                          <p:spTgt spid="77"/>
                                        </p:tgtEl>
                                        <p:attrNameLst>
                                          <p:attrName>style.visibility</p:attrName>
                                        </p:attrNameLst>
                                      </p:cBhvr>
                                      <p:to>
                                        <p:strVal val="visible"/>
                                      </p:to>
                                    </p:set>
                                    <p:animEffect transition="in" filter="fade">
                                      <p:cBhvr>
                                        <p:cTn id="66" dur="600"/>
                                        <p:tgtEl>
                                          <p:spTgt spid="77"/>
                                        </p:tgtEl>
                                      </p:cBhvr>
                                    </p:animEffect>
                                  </p:childTnLst>
                                </p:cTn>
                              </p:par>
                              <p:par>
                                <p:cTn id="67" presetID="22" presetClass="entr" presetSubtype="8" fill="hold" grpId="0" nodeType="withEffect">
                                  <p:stCondLst>
                                    <p:cond delay="2200"/>
                                  </p:stCondLst>
                                  <p:childTnLst>
                                    <p:set>
                                      <p:cBhvr>
                                        <p:cTn id="68" dur="1" fill="hold">
                                          <p:stCondLst>
                                            <p:cond delay="0"/>
                                          </p:stCondLst>
                                        </p:cTn>
                                        <p:tgtEl>
                                          <p:spTgt spid="78"/>
                                        </p:tgtEl>
                                        <p:attrNameLst>
                                          <p:attrName>style.visibility</p:attrName>
                                        </p:attrNameLst>
                                      </p:cBhvr>
                                      <p:to>
                                        <p:strVal val="visible"/>
                                      </p:to>
                                    </p:set>
                                    <p:animEffect transition="in" filter="wipe(left)">
                                      <p:cBhvr>
                                        <p:cTn id="69" dur="700"/>
                                        <p:tgtEl>
                                          <p:spTgt spid="78"/>
                                        </p:tgtEl>
                                      </p:cBhvr>
                                    </p:animEffect>
                                  </p:childTnLst>
                                </p:cTn>
                              </p:par>
                              <p:par>
                                <p:cTn id="70" presetID="10" presetClass="entr" presetSubtype="0" fill="hold" grpId="0" nodeType="withEffect">
                                  <p:stCondLst>
                                    <p:cond delay="2400"/>
                                  </p:stCondLst>
                                  <p:childTnLst>
                                    <p:set>
                                      <p:cBhvr>
                                        <p:cTn id="71" dur="1" fill="hold">
                                          <p:stCondLst>
                                            <p:cond delay="0"/>
                                          </p:stCondLst>
                                        </p:cTn>
                                        <p:tgtEl>
                                          <p:spTgt spid="79"/>
                                        </p:tgtEl>
                                        <p:attrNameLst>
                                          <p:attrName>style.visibility</p:attrName>
                                        </p:attrNameLst>
                                      </p:cBhvr>
                                      <p:to>
                                        <p:strVal val="visible"/>
                                      </p:to>
                                    </p:set>
                                    <p:animEffect transition="in" filter="fade">
                                      <p:cBhvr>
                                        <p:cTn id="72" dur="600"/>
                                        <p:tgtEl>
                                          <p:spTgt spid="79"/>
                                        </p:tgtEl>
                                      </p:cBhvr>
                                    </p:animEffect>
                                  </p:childTnLst>
                                </p:cTn>
                              </p:par>
                              <p:par>
                                <p:cTn id="73" presetID="10" presetClass="entr" presetSubtype="0" fill="hold" grpId="0" nodeType="withEffect">
                                  <p:stCondLst>
                                    <p:cond delay="2600"/>
                                  </p:stCondLst>
                                  <p:childTnLst>
                                    <p:set>
                                      <p:cBhvr>
                                        <p:cTn id="74" dur="1" fill="hold">
                                          <p:stCondLst>
                                            <p:cond delay="0"/>
                                          </p:stCondLst>
                                        </p:cTn>
                                        <p:tgtEl>
                                          <p:spTgt spid="80"/>
                                        </p:tgtEl>
                                        <p:attrNameLst>
                                          <p:attrName>style.visibility</p:attrName>
                                        </p:attrNameLst>
                                      </p:cBhvr>
                                      <p:to>
                                        <p:strVal val="visible"/>
                                      </p:to>
                                    </p:set>
                                    <p:animEffect transition="in" filter="fade">
                                      <p:cBhvr>
                                        <p:cTn id="75" dur="600"/>
                                        <p:tgtEl>
                                          <p:spTgt spid="80"/>
                                        </p:tgtEl>
                                      </p:cBhvr>
                                    </p:animEffect>
                                  </p:childTnLst>
                                </p:cTn>
                              </p:par>
                              <p:par>
                                <p:cTn id="76" presetID="22" presetClass="entr" presetSubtype="8" fill="hold" grpId="0" nodeType="withEffect">
                                  <p:stCondLst>
                                    <p:cond delay="2800"/>
                                  </p:stCondLst>
                                  <p:childTnLst>
                                    <p:set>
                                      <p:cBhvr>
                                        <p:cTn id="77" dur="1" fill="hold">
                                          <p:stCondLst>
                                            <p:cond delay="0"/>
                                          </p:stCondLst>
                                        </p:cTn>
                                        <p:tgtEl>
                                          <p:spTgt spid="81"/>
                                        </p:tgtEl>
                                        <p:attrNameLst>
                                          <p:attrName>style.visibility</p:attrName>
                                        </p:attrNameLst>
                                      </p:cBhvr>
                                      <p:to>
                                        <p:strVal val="visible"/>
                                      </p:to>
                                    </p:set>
                                    <p:animEffect transition="in" filter="wipe(left)">
                                      <p:cBhvr>
                                        <p:cTn id="78" dur="700"/>
                                        <p:tgtEl>
                                          <p:spTgt spid="81"/>
                                        </p:tgtEl>
                                      </p:cBhvr>
                                    </p:animEffect>
                                  </p:childTnLst>
                                </p:cTn>
                              </p:par>
                              <p:par>
                                <p:cTn id="79" presetID="10" presetClass="entr" presetSubtype="0" fill="hold" grpId="0" nodeType="withEffect">
                                  <p:stCondLst>
                                    <p:cond delay="3000"/>
                                  </p:stCondLst>
                                  <p:childTnLst>
                                    <p:set>
                                      <p:cBhvr>
                                        <p:cTn id="80" dur="1" fill="hold">
                                          <p:stCondLst>
                                            <p:cond delay="0"/>
                                          </p:stCondLst>
                                        </p:cTn>
                                        <p:tgtEl>
                                          <p:spTgt spid="82"/>
                                        </p:tgtEl>
                                        <p:attrNameLst>
                                          <p:attrName>style.visibility</p:attrName>
                                        </p:attrNameLst>
                                      </p:cBhvr>
                                      <p:to>
                                        <p:strVal val="visible"/>
                                      </p:to>
                                    </p:set>
                                    <p:animEffect transition="in" filter="fade">
                                      <p:cBhvr>
                                        <p:cTn id="81" dur="600"/>
                                        <p:tgtEl>
                                          <p:spTgt spid="82"/>
                                        </p:tgtEl>
                                      </p:cBhvr>
                                    </p:animEffect>
                                  </p:childTnLst>
                                </p:cTn>
                              </p:par>
                              <p:par>
                                <p:cTn id="82" presetID="10" presetClass="entr" presetSubtype="0" fill="hold" grpId="0" nodeType="withEffect">
                                  <p:stCondLst>
                                    <p:cond delay="3200"/>
                                  </p:stCondLst>
                                  <p:childTnLst>
                                    <p:set>
                                      <p:cBhvr>
                                        <p:cTn id="83" dur="1" fill="hold">
                                          <p:stCondLst>
                                            <p:cond delay="0"/>
                                          </p:stCondLst>
                                        </p:cTn>
                                        <p:tgtEl>
                                          <p:spTgt spid="83"/>
                                        </p:tgtEl>
                                        <p:attrNameLst>
                                          <p:attrName>style.visibility</p:attrName>
                                        </p:attrNameLst>
                                      </p:cBhvr>
                                      <p:to>
                                        <p:strVal val="visible"/>
                                      </p:to>
                                    </p:set>
                                    <p:animEffect transition="in" filter="fade">
                                      <p:cBhvr>
                                        <p:cTn id="84" dur="6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Group 35"/>
          <p:cNvGrpSpPr/>
          <p:nvPr/>
        </p:nvGrpSpPr>
        <p:grpSpPr>
          <a:xfrm>
            <a:off x="-1408220" y="3959039"/>
            <a:ext cx="828000" cy="828000"/>
            <a:chOff x="-846043" y="3948343"/>
            <a:chExt cx="828000" cy="828000"/>
          </a:xfrm>
        </p:grpSpPr>
        <p:sp>
          <p:nvSpPr>
            <p:cNvPr id="37" name="Oval 36"/>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9" name="Group 38"/>
          <p:cNvGrpSpPr/>
          <p:nvPr/>
        </p:nvGrpSpPr>
        <p:grpSpPr>
          <a:xfrm>
            <a:off x="-1329277" y="2996396"/>
            <a:ext cx="828000" cy="828000"/>
            <a:chOff x="-846043" y="2989694"/>
            <a:chExt cx="828000" cy="828000"/>
          </a:xfrm>
        </p:grpSpPr>
        <p:sp>
          <p:nvSpPr>
            <p:cNvPr id="40" name="Oval 39"/>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1" name="Picture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2" name="Group 41"/>
          <p:cNvGrpSpPr/>
          <p:nvPr/>
        </p:nvGrpSpPr>
        <p:grpSpPr>
          <a:xfrm>
            <a:off x="-1390177" y="4921682"/>
            <a:ext cx="828000" cy="828000"/>
            <a:chOff x="-828000" y="4906992"/>
            <a:chExt cx="828000" cy="828000"/>
          </a:xfrm>
        </p:grpSpPr>
        <p:sp>
          <p:nvSpPr>
            <p:cNvPr id="43" name="Oval 42"/>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5" name="Group 44"/>
          <p:cNvGrpSpPr/>
          <p:nvPr/>
        </p:nvGrpSpPr>
        <p:grpSpPr>
          <a:xfrm>
            <a:off x="-1272072" y="936967"/>
            <a:ext cx="828000" cy="828000"/>
            <a:chOff x="-846043" y="1075146"/>
            <a:chExt cx="828000" cy="828000"/>
          </a:xfrm>
        </p:grpSpPr>
        <p:sp>
          <p:nvSpPr>
            <p:cNvPr id="46" name="Oval 45"/>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8" name="Group 47"/>
          <p:cNvGrpSpPr/>
          <p:nvPr/>
        </p:nvGrpSpPr>
        <p:grpSpPr>
          <a:xfrm>
            <a:off x="-1163117" y="75320"/>
            <a:ext cx="828000" cy="828000"/>
            <a:chOff x="-846043" y="136827"/>
            <a:chExt cx="828000" cy="828000"/>
          </a:xfrm>
        </p:grpSpPr>
        <p:sp>
          <p:nvSpPr>
            <p:cNvPr id="49" name="Oval 48"/>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0" name="Picture 4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1" name="Group 50"/>
          <p:cNvGrpSpPr/>
          <p:nvPr/>
        </p:nvGrpSpPr>
        <p:grpSpPr>
          <a:xfrm>
            <a:off x="-1408220" y="5884325"/>
            <a:ext cx="828000" cy="828000"/>
            <a:chOff x="-828000" y="5845311"/>
            <a:chExt cx="828000" cy="828000"/>
          </a:xfrm>
        </p:grpSpPr>
        <p:sp>
          <p:nvSpPr>
            <p:cNvPr id="52" name="Oval 51"/>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4" name="Group 53"/>
          <p:cNvGrpSpPr/>
          <p:nvPr/>
        </p:nvGrpSpPr>
        <p:grpSpPr>
          <a:xfrm>
            <a:off x="583779" y="2013314"/>
            <a:ext cx="828000" cy="828000"/>
            <a:chOff x="-846043" y="2028997"/>
            <a:chExt cx="828000" cy="828000"/>
          </a:xfrm>
          <a:solidFill>
            <a:schemeClr val="bg1"/>
          </a:solidFill>
        </p:grpSpPr>
        <p:sp>
          <p:nvSpPr>
            <p:cNvPr id="55" name="Oval 54"/>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6" name="Picture 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7" name="Freeform 56"/>
          <p:cNvSpPr/>
          <p:nvPr/>
        </p:nvSpPr>
        <p:spPr>
          <a:xfrm>
            <a:off x="-56228" y="-8767452"/>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1532952" y="3902195"/>
            <a:ext cx="3454792"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PROPOSITION DE SOLUTION</a:t>
            </a:r>
          </a:p>
        </p:txBody>
      </p:sp>
      <p:pic>
        <p:nvPicPr>
          <p:cNvPr id="5" name="Picture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51746" y="75320"/>
            <a:ext cx="2060711" cy="2060711"/>
          </a:xfrm>
          <a:prstGeom prst="rect">
            <a:avLst/>
          </a:prstGeom>
        </p:spPr>
      </p:pic>
      <p:sp>
        <p:nvSpPr>
          <p:cNvPr id="29" name="Rectangle 28">
            <a:extLst>
              <a:ext uri="{FF2B5EF4-FFF2-40B4-BE49-F238E27FC236}">
                <a16:creationId xmlns:a16="http://schemas.microsoft.com/office/drawing/2014/main" id="{471FA961-8140-81A8-DF38-CCCB828DE23B}"/>
              </a:ext>
            </a:extLst>
          </p:cNvPr>
          <p:cNvSpPr/>
          <p:nvPr/>
        </p:nvSpPr>
        <p:spPr>
          <a:xfrm>
            <a:off x="1737360" y="380100"/>
            <a:ext cx="7680960" cy="523220"/>
          </a:xfrm>
          <a:prstGeom prst="rect">
            <a:avLst/>
          </a:prstGeom>
        </p:spPr>
        <p:txBody>
          <a:bodyPr wrap="square">
            <a:spAutoFit/>
          </a:bodyPr>
          <a:lstStyle/>
          <a:p>
            <a:r>
              <a:rPr lang="fr-FR" sz="2400" b="1">
                <a:latin typeface="Times New Roman" panose="02020603050405020304" pitchFamily="18" charset="0"/>
                <a:cs typeface="Times New Roman" panose="02020603050405020304" pitchFamily="18" charset="0"/>
              </a:rPr>
              <a:t>PLANIFICATION ET COÛT DU PROJET</a:t>
            </a:r>
          </a:p>
        </p:txBody>
      </p:sp>
      <p:sp>
        <p:nvSpPr>
          <p:cNvPr id="58" name="Cadre 58"/>
          <p:cNvSpPr/>
          <p:nvPr/>
        </p:nvSpPr>
        <p:spPr>
          <a:xfrm>
            <a:off x="1527048" y="1161288"/>
            <a:ext cx="4992624" cy="3540744"/>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59" name="Diagramme de Gantt 59" descr="Diagramme de Gantt"/>
          <p:cNvPicPr>
            <a:picLocks noChangeAspect="1"/>
          </p:cNvPicPr>
          <p:nvPr/>
        </p:nvPicPr>
        <p:blipFill>
          <a:blip r:embed="rId12"/>
          <a:stretch>
            <a:fillRect/>
          </a:stretch>
        </p:blipFill>
        <p:spPr>
          <a:xfrm>
            <a:off x="1600200" y="1234440"/>
            <a:ext cx="4846320" cy="3394440"/>
          </a:xfrm>
          <a:prstGeom prst="rect">
            <a:avLst/>
          </a:prstGeom>
        </p:spPr>
      </p:pic>
      <p:sp>
        <p:nvSpPr>
          <p:cNvPr id="60" name="Texte 60"/>
          <p:cNvSpPr txBox="1"/>
          <p:nvPr/>
        </p:nvSpPr>
        <p:spPr>
          <a:xfrm>
            <a:off x="1600200" y="4766040"/>
            <a:ext cx="4846320" cy="320040"/>
          </a:xfrm>
          <a:prstGeom prst="rect">
            <a:avLst/>
          </a:prstGeom>
          <a:noFill/>
        </p:spPr>
        <p:txBody>
          <a:bodyPr wrap="square" lIns="0" tIns="0" rIns="0" bIns="0" rtlCol="0" anchor="t">
            <a:noAutofit/>
          </a:bodyPr>
          <a:lstStyle/>
          <a:p>
            <a:pPr algn="ctr">
              <a:spcAft>
                <a:spcPts val="0"/>
              </a:spcAft>
              <a:buNone/>
            </a:pPr>
            <a:r>
              <a:rPr lang="fr-FR" sz="1300" b="0" i="1">
                <a:solidFill>
                  <a:srgbClr val="1F3864"/>
                </a:solidFill>
                <a:latin typeface="Calibri"/>
                <a:cs typeface="Calibri"/>
              </a:rPr>
              <a:t>Diagramme de Gantt – 12 semaines</a:t>
            </a:r>
          </a:p>
        </p:txBody>
      </p:sp>
      <p:sp>
        <p:nvSpPr>
          <p:cNvPr id="61" name="Carte 61"/>
          <p:cNvSpPr/>
          <p:nvPr/>
        </p:nvSpPr>
        <p:spPr>
          <a:xfrm>
            <a:off x="6812280" y="1234440"/>
            <a:ext cx="274320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2" name="Texte 62"/>
          <p:cNvSpPr txBox="1"/>
          <p:nvPr/>
        </p:nvSpPr>
        <p:spPr>
          <a:xfrm>
            <a:off x="6949440" y="1344168"/>
            <a:ext cx="2514600" cy="914400"/>
          </a:xfrm>
          <a:prstGeom prst="rect">
            <a:avLst/>
          </a:prstGeom>
          <a:noFill/>
        </p:spPr>
        <p:txBody>
          <a:bodyPr wrap="square" lIns="0" tIns="0" rIns="0" bIns="0" rtlCol="0" anchor="ctr">
            <a:noAutofit/>
          </a:bodyPr>
          <a:lstStyle/>
          <a:p>
            <a:pPr algn="l">
              <a:spcAft>
                <a:spcPts val="0"/>
              </a:spcAft>
              <a:buNone/>
            </a:pPr>
            <a:r>
              <a:rPr lang="fr-FR" sz="2100" b="1" i="0">
                <a:solidFill>
                  <a:srgbClr val="2E75B6"/>
                </a:solidFill>
                <a:latin typeface="Calibri"/>
                <a:cs typeface="Calibri"/>
              </a:rPr>
              <a:t>12 semaines</a:t>
            </a:r>
          </a:p>
          <a:p>
            <a:pPr algn="l">
              <a:spcAft>
                <a:spcPts val="0"/>
              </a:spcAft>
              <a:buNone/>
            </a:pPr>
            <a:r>
              <a:rPr lang="fr-FR" sz="1200" b="0" i="0">
                <a:solidFill>
                  <a:srgbClr val="1F3864"/>
                </a:solidFill>
                <a:latin typeface="Calibri"/>
                <a:cs typeface="Calibri"/>
              </a:rPr>
              <a:t>du 1er juillet au 30 septembre 2026</a:t>
            </a:r>
          </a:p>
        </p:txBody>
      </p:sp>
      <p:sp>
        <p:nvSpPr>
          <p:cNvPr id="63" name="Carte 63"/>
          <p:cNvSpPr/>
          <p:nvPr/>
        </p:nvSpPr>
        <p:spPr>
          <a:xfrm>
            <a:off x="6812280" y="2606040"/>
            <a:ext cx="274320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4" name="Texte 64"/>
          <p:cNvSpPr txBox="1"/>
          <p:nvPr/>
        </p:nvSpPr>
        <p:spPr>
          <a:xfrm>
            <a:off x="6949440" y="2715768"/>
            <a:ext cx="2514600" cy="914400"/>
          </a:xfrm>
          <a:prstGeom prst="rect">
            <a:avLst/>
          </a:prstGeom>
          <a:noFill/>
        </p:spPr>
        <p:txBody>
          <a:bodyPr wrap="square" lIns="0" tIns="0" rIns="0" bIns="0" rtlCol="0" anchor="ctr">
            <a:noAutofit/>
          </a:bodyPr>
          <a:lstStyle/>
          <a:p>
            <a:pPr algn="l">
              <a:spcAft>
                <a:spcPts val="0"/>
              </a:spcAft>
              <a:buNone/>
            </a:pPr>
            <a:r>
              <a:rPr lang="fr-FR" sz="2100" b="1" i="0">
                <a:solidFill>
                  <a:srgbClr val="2E75B6"/>
                </a:solidFill>
                <a:latin typeface="Calibri"/>
                <a:cs typeface="Calibri"/>
              </a:rPr>
              <a:t>6 intervenants</a:t>
            </a:r>
          </a:p>
          <a:p>
            <a:pPr algn="l">
              <a:spcAft>
                <a:spcPts val="0"/>
              </a:spcAft>
              <a:buNone/>
            </a:pPr>
            <a:r>
              <a:rPr lang="fr-FR" sz="1200" b="0" i="0">
                <a:solidFill>
                  <a:srgbClr val="1F3864"/>
                </a:solidFill>
                <a:latin typeface="Calibri"/>
                <a:cs typeface="Calibri"/>
              </a:rPr>
              <a:t>chef de projet, 4 développeurs, 1 testeur</a:t>
            </a:r>
          </a:p>
        </p:txBody>
      </p:sp>
      <p:sp>
        <p:nvSpPr>
          <p:cNvPr id="65" name="Carte 65"/>
          <p:cNvSpPr/>
          <p:nvPr/>
        </p:nvSpPr>
        <p:spPr>
          <a:xfrm>
            <a:off x="6812280" y="3977640"/>
            <a:ext cx="2743200" cy="1143000"/>
          </a:xfrm>
          <a:prstGeom prst="roundRect">
            <a:avLst>
              <a:gd name="adj" fmla="val 12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6" name="Texte 66"/>
          <p:cNvSpPr txBox="1"/>
          <p:nvPr/>
        </p:nvSpPr>
        <p:spPr>
          <a:xfrm>
            <a:off x="6949440" y="4087368"/>
            <a:ext cx="2514600" cy="914400"/>
          </a:xfrm>
          <a:prstGeom prst="rect">
            <a:avLst/>
          </a:prstGeom>
          <a:noFill/>
        </p:spPr>
        <p:txBody>
          <a:bodyPr wrap="square" lIns="0" tIns="0" rIns="0" bIns="0" rtlCol="0" anchor="ctr">
            <a:noAutofit/>
          </a:bodyPr>
          <a:lstStyle/>
          <a:p>
            <a:pPr algn="l">
              <a:spcAft>
                <a:spcPts val="0"/>
              </a:spcAft>
              <a:buNone/>
            </a:pPr>
            <a:r>
              <a:rPr lang="fr-FR" sz="2100" b="1" i="0">
                <a:solidFill>
                  <a:srgbClr val="2E75B6"/>
                </a:solidFill>
                <a:latin typeface="Calibri"/>
                <a:cs typeface="Calibri"/>
              </a:rPr>
              <a:t>10 315 500 FCFA</a:t>
            </a:r>
          </a:p>
          <a:p>
            <a:pPr algn="l">
              <a:spcAft>
                <a:spcPts val="0"/>
              </a:spcAft>
              <a:buNone/>
            </a:pPr>
            <a:r>
              <a:rPr lang="fr-FR" sz="1200" b="0" i="0">
                <a:solidFill>
                  <a:srgbClr val="1F3864"/>
                </a:solidFill>
                <a:latin typeface="Calibri"/>
                <a:cs typeface="Calibri"/>
              </a:rPr>
              <a:t>coût total estimé (imprévus 15 % inclus)</a:t>
            </a:r>
          </a:p>
        </p:txBody>
      </p:sp>
    </p:spTree>
    <p:extLst>
      <p:ext uri="{BB962C8B-B14F-4D97-AF65-F5344CB8AC3E}">
        <p14:creationId xmlns:p14="http://schemas.microsoft.com/office/powerpoint/2010/main" val="14169079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600"/>
                                        <p:tgtEl>
                                          <p:spTgt spid="58"/>
                                        </p:tgtEl>
                                      </p:cBhvr>
                                    </p:animEffect>
                                  </p:childTnLst>
                                </p:cTn>
                              </p:par>
                              <p:par>
                                <p:cTn id="8" presetID="10" presetClass="entr" presetSubtype="0" fill="hold" nodeType="withEffect">
                                  <p:stCondLst>
                                    <p:cond delay="30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600"/>
                                        <p:tgtEl>
                                          <p:spTgt spid="59"/>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600"/>
                                        <p:tgtEl>
                                          <p:spTgt spid="6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600"/>
                                        <p:tgtEl>
                                          <p:spTgt spid="61"/>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2"/>
                                        </p:tgtEl>
                                        <p:attrNameLst>
                                          <p:attrName>style.visibility</p:attrName>
                                        </p:attrNameLst>
                                      </p:cBhvr>
                                      <p:to>
                                        <p:strVal val="visible"/>
                                      </p:to>
                                    </p:set>
                                    <p:animEffect transition="in" filter="fade">
                                      <p:cBhvr>
                                        <p:cTn id="21" dur="600"/>
                                        <p:tgtEl>
                                          <p:spTgt spid="62"/>
                                        </p:tgtEl>
                                      </p:cBhvr>
                                    </p:animEffect>
                                  </p:childTnLst>
                                </p:cTn>
                              </p:par>
                              <p:par>
                                <p:cTn id="22" presetID="10" presetClass="entr" presetSubtype="0" fill="hold" grpId="0" nodeType="withEffect">
                                  <p:stCondLst>
                                    <p:cond delay="600"/>
                                  </p:stCondLst>
                                  <p:childTnLst>
                                    <p:set>
                                      <p:cBhvr>
                                        <p:cTn id="23" dur="1" fill="hold">
                                          <p:stCondLst>
                                            <p:cond delay="0"/>
                                          </p:stCondLst>
                                        </p:cTn>
                                        <p:tgtEl>
                                          <p:spTgt spid="63"/>
                                        </p:tgtEl>
                                        <p:attrNameLst>
                                          <p:attrName>style.visibility</p:attrName>
                                        </p:attrNameLst>
                                      </p:cBhvr>
                                      <p:to>
                                        <p:strVal val="visible"/>
                                      </p:to>
                                    </p:set>
                                    <p:animEffect transition="in" filter="fade">
                                      <p:cBhvr>
                                        <p:cTn id="24" dur="600"/>
                                        <p:tgtEl>
                                          <p:spTgt spid="63"/>
                                        </p:tgtEl>
                                      </p:cBhvr>
                                    </p:animEffect>
                                  </p:childTnLst>
                                </p:cTn>
                              </p:par>
                              <p:par>
                                <p:cTn id="25" presetID="10" presetClass="entr" presetSubtype="0" fill="hold" grpId="0" nodeType="withEffect">
                                  <p:stCondLst>
                                    <p:cond delay="900"/>
                                  </p:stCondLst>
                                  <p:childTnLst>
                                    <p:set>
                                      <p:cBhvr>
                                        <p:cTn id="26" dur="1" fill="hold">
                                          <p:stCondLst>
                                            <p:cond delay="0"/>
                                          </p:stCondLst>
                                        </p:cTn>
                                        <p:tgtEl>
                                          <p:spTgt spid="64"/>
                                        </p:tgtEl>
                                        <p:attrNameLst>
                                          <p:attrName>style.visibility</p:attrName>
                                        </p:attrNameLst>
                                      </p:cBhvr>
                                      <p:to>
                                        <p:strVal val="visible"/>
                                      </p:to>
                                    </p:set>
                                    <p:animEffect transition="in" filter="fade">
                                      <p:cBhvr>
                                        <p:cTn id="27" dur="600"/>
                                        <p:tgtEl>
                                          <p:spTgt spid="64"/>
                                        </p:tgtEl>
                                      </p:cBhvr>
                                    </p:animEffect>
                                  </p:childTnLst>
                                </p:cTn>
                              </p:par>
                              <p:par>
                                <p:cTn id="28" presetID="10" presetClass="entr" presetSubtype="0" fill="hold" grpId="0" nodeType="withEffect">
                                  <p:stCondLst>
                                    <p:cond delay="120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600"/>
                                        <p:tgtEl>
                                          <p:spTgt spid="65"/>
                                        </p:tgtEl>
                                      </p:cBhvr>
                                    </p:animEffect>
                                  </p:childTnLst>
                                </p:cTn>
                              </p:par>
                              <p:par>
                                <p:cTn id="31" presetID="10" presetClass="entr" presetSubtype="0" fill="hold" grpId="0" nodeType="withEffect">
                                  <p:stCondLst>
                                    <p:cond delay="150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6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0" grpId="0"/>
      <p:bldP spid="61" grpId="0"/>
      <p:bldP spid="62" grpId="0"/>
      <p:bldP spid="63" grpId="0"/>
      <p:bldP spid="64" grpId="0"/>
      <p:bldP spid="65" grpId="0"/>
      <p:bldP spid="6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 name="Group 64"/>
          <p:cNvGrpSpPr/>
          <p:nvPr/>
        </p:nvGrpSpPr>
        <p:grpSpPr>
          <a:xfrm>
            <a:off x="-1408220" y="3959039"/>
            <a:ext cx="828000" cy="828000"/>
            <a:chOff x="-846043" y="3948343"/>
            <a:chExt cx="828000" cy="828000"/>
          </a:xfrm>
        </p:grpSpPr>
        <p:sp>
          <p:nvSpPr>
            <p:cNvPr id="66" name="Oval 6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67" name="Picture 6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68" name="Group 67"/>
          <p:cNvGrpSpPr/>
          <p:nvPr/>
        </p:nvGrpSpPr>
        <p:grpSpPr>
          <a:xfrm>
            <a:off x="591151" y="2894675"/>
            <a:ext cx="828000" cy="828000"/>
            <a:chOff x="-846043" y="2989694"/>
            <a:chExt cx="828000" cy="828000"/>
          </a:xfrm>
        </p:grpSpPr>
        <p:sp>
          <p:nvSpPr>
            <p:cNvPr id="69" name="Oval 6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0" name="Picture 6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71" name="Group 70"/>
          <p:cNvGrpSpPr/>
          <p:nvPr/>
        </p:nvGrpSpPr>
        <p:grpSpPr>
          <a:xfrm>
            <a:off x="-1390177" y="4921682"/>
            <a:ext cx="828000" cy="828000"/>
            <a:chOff x="-828000" y="4906992"/>
            <a:chExt cx="828000" cy="828000"/>
          </a:xfrm>
        </p:grpSpPr>
        <p:sp>
          <p:nvSpPr>
            <p:cNvPr id="72" name="Oval 7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3" name="Picture 7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74" name="Group 73"/>
          <p:cNvGrpSpPr/>
          <p:nvPr/>
        </p:nvGrpSpPr>
        <p:grpSpPr>
          <a:xfrm>
            <a:off x="-1298334" y="1119907"/>
            <a:ext cx="828000" cy="828000"/>
            <a:chOff x="-846043" y="1075146"/>
            <a:chExt cx="828000" cy="828000"/>
          </a:xfrm>
        </p:grpSpPr>
        <p:sp>
          <p:nvSpPr>
            <p:cNvPr id="75" name="Oval 7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6" name="Picture 7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77" name="Group 76"/>
          <p:cNvGrpSpPr/>
          <p:nvPr/>
        </p:nvGrpSpPr>
        <p:grpSpPr>
          <a:xfrm>
            <a:off x="-1163117" y="75320"/>
            <a:ext cx="828000" cy="828000"/>
            <a:chOff x="-846043" y="136827"/>
            <a:chExt cx="828000" cy="828000"/>
          </a:xfrm>
        </p:grpSpPr>
        <p:sp>
          <p:nvSpPr>
            <p:cNvPr id="78" name="Oval 7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9" name="Picture 7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80" name="Group 79"/>
          <p:cNvGrpSpPr/>
          <p:nvPr/>
        </p:nvGrpSpPr>
        <p:grpSpPr>
          <a:xfrm>
            <a:off x="-1408220" y="5884325"/>
            <a:ext cx="828000" cy="828000"/>
            <a:chOff x="-828000" y="5845311"/>
            <a:chExt cx="828000" cy="828000"/>
          </a:xfrm>
        </p:grpSpPr>
        <p:sp>
          <p:nvSpPr>
            <p:cNvPr id="81" name="Oval 8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82" name="Picture 8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83" name="Group 82"/>
          <p:cNvGrpSpPr/>
          <p:nvPr/>
        </p:nvGrpSpPr>
        <p:grpSpPr>
          <a:xfrm>
            <a:off x="-1298333" y="2066675"/>
            <a:ext cx="828000" cy="828000"/>
            <a:chOff x="-846043" y="2028997"/>
            <a:chExt cx="828000" cy="828000"/>
          </a:xfrm>
          <a:solidFill>
            <a:schemeClr val="bg1"/>
          </a:solidFill>
        </p:grpSpPr>
        <p:sp>
          <p:nvSpPr>
            <p:cNvPr id="84" name="Oval 8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85" name="Picture 8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86" name="Freeform 85"/>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983617" y="4592032"/>
            <a:ext cx="2564642"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METHODOLOGIE</a:t>
            </a:r>
          </a:p>
        </p:txBody>
      </p:sp>
      <p:pic>
        <p:nvPicPr>
          <p:cNvPr id="25" name="Image 4">
            <a:extLst>
              <a:ext uri="{FF2B5EF4-FFF2-40B4-BE49-F238E27FC236}">
                <a16:creationId xmlns:a16="http://schemas.microsoft.com/office/drawing/2014/main" id="{186C0FD7-8484-44A5-90FE-03533E9805F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23139" y="1351783"/>
            <a:ext cx="2747722" cy="2422976"/>
          </a:xfrm>
          <a:prstGeom prst="rect">
            <a:avLst/>
          </a:prstGeom>
        </p:spPr>
      </p:pic>
      <p:sp>
        <p:nvSpPr>
          <p:cNvPr id="27" name="Rectangle 26">
            <a:extLst>
              <a:ext uri="{FF2B5EF4-FFF2-40B4-BE49-F238E27FC236}">
                <a16:creationId xmlns:a16="http://schemas.microsoft.com/office/drawing/2014/main" id="{BB58943A-AAB7-41B7-ABBE-A54934AAC461}"/>
              </a:ext>
            </a:extLst>
          </p:cNvPr>
          <p:cNvSpPr/>
          <p:nvPr/>
        </p:nvSpPr>
        <p:spPr>
          <a:xfrm>
            <a:off x="8247434" y="3948700"/>
            <a:ext cx="4783475" cy="458074"/>
          </a:xfrm>
          <a:prstGeom prst="rect">
            <a:avLst/>
          </a:prstGeom>
        </p:spPr>
        <p:txBody>
          <a:bodyPr wrap="square">
            <a:spAutoFit/>
          </a:bodyPr>
          <a:lstStyle/>
          <a:p>
            <a:pPr lvl="0" defTabSz="457200">
              <a:lnSpc>
                <a:spcPct val="150000"/>
              </a:lnSpc>
              <a:defRPr/>
            </a:pPr>
            <a:r>
              <a:rPr lang="en-US" b="1" dirty="0">
                <a:latin typeface="Times New Roman" panose="02020603050405020304" pitchFamily="18" charset="0"/>
                <a:cs typeface="Times New Roman" panose="02020603050405020304" pitchFamily="18" charset="0"/>
              </a:rPr>
              <a:t>2 Track Unified Process </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3" name="Rectangle 2"/>
          <p:cNvSpPr/>
          <p:nvPr/>
        </p:nvSpPr>
        <p:spPr>
          <a:xfrm>
            <a:off x="1755669" y="3928389"/>
            <a:ext cx="4159751" cy="458074"/>
          </a:xfrm>
          <a:prstGeom prst="rect">
            <a:avLst/>
          </a:prstGeom>
        </p:spPr>
        <p:txBody>
          <a:bodyPr wrap="square">
            <a:spAutoFit/>
          </a:bodyPr>
          <a:lstStyle/>
          <a:p>
            <a:pPr>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Unified Modeling Language</a:t>
            </a:r>
            <a:r>
              <a:rPr lang="en-US" dirty="0">
                <a:latin typeface="Times New Roman" panose="02020603050405020304" pitchFamily="18" charset="0"/>
                <a:ea typeface="Calibri" panose="020F0502020204030204" pitchFamily="34" charset="0"/>
                <a:cs typeface="Times New Roman" panose="02020603050405020304" pitchFamily="18" charset="0"/>
              </a:rPr>
              <a:t> (UML) </a:t>
            </a:r>
          </a:p>
        </p:txBody>
      </p:sp>
      <p:pic>
        <p:nvPicPr>
          <p:cNvPr id="9218" name="Picture 2" descr="link anne GIF by WD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4557157" y="1589377"/>
            <a:ext cx="1905000" cy="1905000"/>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p:cNvGrpSpPr/>
          <p:nvPr/>
        </p:nvGrpSpPr>
        <p:grpSpPr>
          <a:xfrm>
            <a:off x="6549598" y="982472"/>
            <a:ext cx="3005219" cy="2938366"/>
            <a:chOff x="0" y="0"/>
            <a:chExt cx="6144260" cy="5901055"/>
          </a:xfrm>
        </p:grpSpPr>
        <p:pic>
          <p:nvPicPr>
            <p:cNvPr id="33" name="Picture 32"/>
            <p:cNvPicPr/>
            <p:nvPr/>
          </p:nvPicPr>
          <p:blipFill>
            <a:blip r:embed="rId11"/>
            <a:stretch>
              <a:fillRect/>
            </a:stretch>
          </p:blipFill>
          <p:spPr>
            <a:xfrm>
              <a:off x="0" y="0"/>
              <a:ext cx="6144260" cy="5901055"/>
            </a:xfrm>
            <a:prstGeom prst="rect">
              <a:avLst/>
            </a:prstGeom>
          </p:spPr>
        </p:pic>
        <p:sp>
          <p:nvSpPr>
            <p:cNvPr id="34" name="Rectangle 33"/>
            <p:cNvSpPr/>
            <p:nvPr/>
          </p:nvSpPr>
          <p:spPr>
            <a:xfrm>
              <a:off x="203505" y="382016"/>
              <a:ext cx="38021" cy="171355"/>
            </a:xfrm>
            <a:prstGeom prst="rect">
              <a:avLst/>
            </a:prstGeom>
            <a:ln>
              <a:noFill/>
            </a:ln>
          </p:spPr>
          <p:txBody>
            <a:bodyPr vert="horz" lIns="0" tIns="0" rIns="0" bIns="0" rtlCol="0">
              <a:noAutofit/>
            </a:bodyPr>
            <a:lstStyle/>
            <a:p>
              <a:pPr marL="6350" indent="-6350" algn="l">
                <a:lnSpc>
                  <a:spcPct val="107000"/>
                </a:lnSpc>
                <a:spcAft>
                  <a:spcPts val="800"/>
                </a:spcAft>
              </a:pPr>
              <a:r>
                <a:rPr lang="en-US" sz="1000">
                  <a:solidFill>
                    <a:srgbClr val="000000"/>
                  </a:solidFill>
                  <a:effectLst/>
                  <a:latin typeface="Calibri" panose="020F0502020204030204" pitchFamily="34" charset="0"/>
                  <a:ea typeface="Calibri" panose="020F050202020403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sp>
          <p:nvSpPr>
            <p:cNvPr id="35" name="Rectangle 34"/>
            <p:cNvSpPr/>
            <p:nvPr/>
          </p:nvSpPr>
          <p:spPr>
            <a:xfrm>
              <a:off x="203505" y="741680"/>
              <a:ext cx="38021" cy="171355"/>
            </a:xfrm>
            <a:prstGeom prst="rect">
              <a:avLst/>
            </a:prstGeom>
            <a:ln>
              <a:noFill/>
            </a:ln>
          </p:spPr>
          <p:txBody>
            <a:bodyPr vert="horz" lIns="0" tIns="0" rIns="0" bIns="0" rtlCol="0">
              <a:noAutofit/>
            </a:bodyPr>
            <a:lstStyle/>
            <a:p>
              <a:pPr marL="6350" indent="-6350" algn="l">
                <a:lnSpc>
                  <a:spcPct val="107000"/>
                </a:lnSpc>
                <a:spcAft>
                  <a:spcPts val="800"/>
                </a:spcAft>
              </a:pPr>
              <a:r>
                <a:rPr lang="en-US" sz="1000">
                  <a:solidFill>
                    <a:srgbClr val="000000"/>
                  </a:solidFill>
                  <a:effectLst/>
                  <a:latin typeface="Calibri" panose="020F0502020204030204" pitchFamily="34" charset="0"/>
                  <a:ea typeface="Calibri" panose="020F050202020403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sp>
          <p:nvSpPr>
            <p:cNvPr id="36" name="Rectangle 35"/>
            <p:cNvSpPr/>
            <p:nvPr/>
          </p:nvSpPr>
          <p:spPr>
            <a:xfrm>
              <a:off x="203505" y="1101344"/>
              <a:ext cx="38021" cy="171355"/>
            </a:xfrm>
            <a:prstGeom prst="rect">
              <a:avLst/>
            </a:prstGeom>
            <a:ln>
              <a:noFill/>
            </a:ln>
          </p:spPr>
          <p:txBody>
            <a:bodyPr vert="horz" lIns="0" tIns="0" rIns="0" bIns="0" rtlCol="0">
              <a:noAutofit/>
            </a:bodyPr>
            <a:lstStyle/>
            <a:p>
              <a:pPr marL="6350" indent="-6350" algn="l">
                <a:lnSpc>
                  <a:spcPct val="107000"/>
                </a:lnSpc>
                <a:spcAft>
                  <a:spcPts val="800"/>
                </a:spcAft>
              </a:pPr>
              <a:r>
                <a:rPr lang="en-US" sz="1000">
                  <a:solidFill>
                    <a:srgbClr val="000000"/>
                  </a:solidFill>
                  <a:effectLst/>
                  <a:latin typeface="Calibri" panose="020F0502020204030204" pitchFamily="34" charset="0"/>
                  <a:ea typeface="Calibri" panose="020F050202020403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sp>
          <p:nvSpPr>
            <p:cNvPr id="37" name="Rectangle 36"/>
            <p:cNvSpPr/>
            <p:nvPr/>
          </p:nvSpPr>
          <p:spPr>
            <a:xfrm>
              <a:off x="203505" y="1461008"/>
              <a:ext cx="38021" cy="171355"/>
            </a:xfrm>
            <a:prstGeom prst="rect">
              <a:avLst/>
            </a:prstGeom>
            <a:ln>
              <a:noFill/>
            </a:ln>
          </p:spPr>
          <p:txBody>
            <a:bodyPr vert="horz" lIns="0" tIns="0" rIns="0" bIns="0" rtlCol="0">
              <a:noAutofit/>
            </a:bodyPr>
            <a:lstStyle/>
            <a:p>
              <a:pPr marL="6350" indent="-6350" algn="l">
                <a:lnSpc>
                  <a:spcPct val="107000"/>
                </a:lnSpc>
                <a:spcAft>
                  <a:spcPts val="800"/>
                </a:spcAft>
              </a:pPr>
              <a:r>
                <a:rPr lang="en-US" sz="1000">
                  <a:solidFill>
                    <a:srgbClr val="000000"/>
                  </a:solidFill>
                  <a:effectLst/>
                  <a:latin typeface="Calibri" panose="020F0502020204030204" pitchFamily="34" charset="0"/>
                  <a:ea typeface="Calibri" panose="020F050202020403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sp>
          <p:nvSpPr>
            <p:cNvPr id="38" name="Rectangle 37"/>
            <p:cNvSpPr/>
            <p:nvPr/>
          </p:nvSpPr>
          <p:spPr>
            <a:xfrm>
              <a:off x="2032635" y="1461008"/>
              <a:ext cx="38021" cy="171355"/>
            </a:xfrm>
            <a:prstGeom prst="rect">
              <a:avLst/>
            </a:prstGeom>
            <a:ln>
              <a:noFill/>
            </a:ln>
          </p:spPr>
          <p:txBody>
            <a:bodyPr vert="horz" lIns="0" tIns="0" rIns="0" bIns="0" rtlCol="0">
              <a:noAutofit/>
            </a:bodyPr>
            <a:lstStyle/>
            <a:p>
              <a:pPr marL="6350" indent="-6350" algn="l">
                <a:lnSpc>
                  <a:spcPct val="107000"/>
                </a:lnSpc>
                <a:spcAft>
                  <a:spcPts val="800"/>
                </a:spcAft>
              </a:pPr>
              <a:r>
                <a:rPr lang="en-US" sz="1000">
                  <a:solidFill>
                    <a:srgbClr val="000000"/>
                  </a:solidFill>
                  <a:effectLst/>
                  <a:latin typeface="Calibri" panose="020F0502020204030204" pitchFamily="34" charset="0"/>
                  <a:ea typeface="Calibri" panose="020F050202020403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p:txBody>
        </p:sp>
      </p:grpSp>
      <p:sp>
        <p:nvSpPr>
          <p:cNvPr id="4" name="ZoneTexte 3">
            <a:extLst>
              <a:ext uri="{FF2B5EF4-FFF2-40B4-BE49-F238E27FC236}">
                <a16:creationId xmlns:a16="http://schemas.microsoft.com/office/drawing/2014/main" id="{E04B577E-200E-4F94-8A3D-F0FA16840196}"/>
              </a:ext>
            </a:extLst>
          </p:cNvPr>
          <p:cNvSpPr txBox="1"/>
          <p:nvPr/>
        </p:nvSpPr>
        <p:spPr>
          <a:xfrm>
            <a:off x="2522766" y="165674"/>
            <a:ext cx="5435600" cy="369332"/>
          </a:xfrm>
          <a:prstGeom prst="rect">
            <a:avLst/>
          </a:prstGeom>
          <a:noFill/>
        </p:spPr>
        <p:txBody>
          <a:bodyPr wrap="square" rtlCol="0">
            <a:spAutoFit/>
          </a:bodyPr>
          <a:lstStyle/>
          <a:p>
            <a:r>
              <a:rPr lang="fr-FR"/>
              <a:t>MÉTHODE D'ANALYSE</a:t>
            </a:r>
          </a:p>
        </p:txBody>
      </p:sp>
    </p:spTree>
    <p:extLst>
      <p:ext uri="{BB962C8B-B14F-4D97-AF65-F5344CB8AC3E}">
        <p14:creationId xmlns:p14="http://schemas.microsoft.com/office/powerpoint/2010/main" val="25039294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80">
                                          <p:stCondLst>
                                            <p:cond delay="0"/>
                                          </p:stCondLst>
                                        </p:cTn>
                                        <p:tgtEl>
                                          <p:spTgt spid="25"/>
                                        </p:tgtEl>
                                      </p:cBhvr>
                                    </p:animEffect>
                                    <p:anim calcmode="lin" valueType="num">
                                      <p:cBhvr>
                                        <p:cTn id="8"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3" dur="26">
                                          <p:stCondLst>
                                            <p:cond delay="650"/>
                                          </p:stCondLst>
                                        </p:cTn>
                                        <p:tgtEl>
                                          <p:spTgt spid="25"/>
                                        </p:tgtEl>
                                      </p:cBhvr>
                                      <p:to x="100000" y="60000"/>
                                    </p:animScale>
                                    <p:animScale>
                                      <p:cBhvr>
                                        <p:cTn id="14" dur="166" decel="50000">
                                          <p:stCondLst>
                                            <p:cond delay="676"/>
                                          </p:stCondLst>
                                        </p:cTn>
                                        <p:tgtEl>
                                          <p:spTgt spid="25"/>
                                        </p:tgtEl>
                                      </p:cBhvr>
                                      <p:to x="100000" y="100000"/>
                                    </p:animScale>
                                    <p:animScale>
                                      <p:cBhvr>
                                        <p:cTn id="15" dur="26">
                                          <p:stCondLst>
                                            <p:cond delay="1312"/>
                                          </p:stCondLst>
                                        </p:cTn>
                                        <p:tgtEl>
                                          <p:spTgt spid="25"/>
                                        </p:tgtEl>
                                      </p:cBhvr>
                                      <p:to x="100000" y="80000"/>
                                    </p:animScale>
                                    <p:animScale>
                                      <p:cBhvr>
                                        <p:cTn id="16" dur="166" decel="50000">
                                          <p:stCondLst>
                                            <p:cond delay="1338"/>
                                          </p:stCondLst>
                                        </p:cTn>
                                        <p:tgtEl>
                                          <p:spTgt spid="25"/>
                                        </p:tgtEl>
                                      </p:cBhvr>
                                      <p:to x="100000" y="100000"/>
                                    </p:animScale>
                                    <p:animScale>
                                      <p:cBhvr>
                                        <p:cTn id="17" dur="26">
                                          <p:stCondLst>
                                            <p:cond delay="1642"/>
                                          </p:stCondLst>
                                        </p:cTn>
                                        <p:tgtEl>
                                          <p:spTgt spid="25"/>
                                        </p:tgtEl>
                                      </p:cBhvr>
                                      <p:to x="100000" y="90000"/>
                                    </p:animScale>
                                    <p:animScale>
                                      <p:cBhvr>
                                        <p:cTn id="18" dur="166" decel="50000">
                                          <p:stCondLst>
                                            <p:cond delay="1668"/>
                                          </p:stCondLst>
                                        </p:cTn>
                                        <p:tgtEl>
                                          <p:spTgt spid="25"/>
                                        </p:tgtEl>
                                      </p:cBhvr>
                                      <p:to x="100000" y="100000"/>
                                    </p:animScale>
                                    <p:animScale>
                                      <p:cBhvr>
                                        <p:cTn id="19" dur="26">
                                          <p:stCondLst>
                                            <p:cond delay="1808"/>
                                          </p:stCondLst>
                                        </p:cTn>
                                        <p:tgtEl>
                                          <p:spTgt spid="25"/>
                                        </p:tgtEl>
                                      </p:cBhvr>
                                      <p:to x="100000" y="95000"/>
                                    </p:animScale>
                                    <p:animScale>
                                      <p:cBhvr>
                                        <p:cTn id="20" dur="166" decel="50000">
                                          <p:stCondLst>
                                            <p:cond delay="1834"/>
                                          </p:stCondLst>
                                        </p:cTn>
                                        <p:tgtEl>
                                          <p:spTgt spid="2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down)">
                                      <p:cBhvr>
                                        <p:cTn id="25" dur="580">
                                          <p:stCondLst>
                                            <p:cond delay="0"/>
                                          </p:stCondLst>
                                        </p:cTn>
                                        <p:tgtEl>
                                          <p:spTgt spid="32"/>
                                        </p:tgtEl>
                                      </p:cBhvr>
                                    </p:animEffect>
                                    <p:anim calcmode="lin" valueType="num">
                                      <p:cBhvr>
                                        <p:cTn id="26"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31" dur="26">
                                          <p:stCondLst>
                                            <p:cond delay="650"/>
                                          </p:stCondLst>
                                        </p:cTn>
                                        <p:tgtEl>
                                          <p:spTgt spid="32"/>
                                        </p:tgtEl>
                                      </p:cBhvr>
                                      <p:to x="100000" y="60000"/>
                                    </p:animScale>
                                    <p:animScale>
                                      <p:cBhvr>
                                        <p:cTn id="32" dur="166" decel="50000">
                                          <p:stCondLst>
                                            <p:cond delay="676"/>
                                          </p:stCondLst>
                                        </p:cTn>
                                        <p:tgtEl>
                                          <p:spTgt spid="32"/>
                                        </p:tgtEl>
                                      </p:cBhvr>
                                      <p:to x="100000" y="100000"/>
                                    </p:animScale>
                                    <p:animScale>
                                      <p:cBhvr>
                                        <p:cTn id="33" dur="26">
                                          <p:stCondLst>
                                            <p:cond delay="1312"/>
                                          </p:stCondLst>
                                        </p:cTn>
                                        <p:tgtEl>
                                          <p:spTgt spid="32"/>
                                        </p:tgtEl>
                                      </p:cBhvr>
                                      <p:to x="100000" y="80000"/>
                                    </p:animScale>
                                    <p:animScale>
                                      <p:cBhvr>
                                        <p:cTn id="34" dur="166" decel="50000">
                                          <p:stCondLst>
                                            <p:cond delay="1338"/>
                                          </p:stCondLst>
                                        </p:cTn>
                                        <p:tgtEl>
                                          <p:spTgt spid="32"/>
                                        </p:tgtEl>
                                      </p:cBhvr>
                                      <p:to x="100000" y="100000"/>
                                    </p:animScale>
                                    <p:animScale>
                                      <p:cBhvr>
                                        <p:cTn id="35" dur="26">
                                          <p:stCondLst>
                                            <p:cond delay="1642"/>
                                          </p:stCondLst>
                                        </p:cTn>
                                        <p:tgtEl>
                                          <p:spTgt spid="32"/>
                                        </p:tgtEl>
                                      </p:cBhvr>
                                      <p:to x="100000" y="90000"/>
                                    </p:animScale>
                                    <p:animScale>
                                      <p:cBhvr>
                                        <p:cTn id="36" dur="166" decel="50000">
                                          <p:stCondLst>
                                            <p:cond delay="1668"/>
                                          </p:stCondLst>
                                        </p:cTn>
                                        <p:tgtEl>
                                          <p:spTgt spid="32"/>
                                        </p:tgtEl>
                                      </p:cBhvr>
                                      <p:to x="100000" y="100000"/>
                                    </p:animScale>
                                    <p:animScale>
                                      <p:cBhvr>
                                        <p:cTn id="37" dur="26">
                                          <p:stCondLst>
                                            <p:cond delay="1808"/>
                                          </p:stCondLst>
                                        </p:cTn>
                                        <p:tgtEl>
                                          <p:spTgt spid="32"/>
                                        </p:tgtEl>
                                      </p:cBhvr>
                                      <p:to x="100000" y="95000"/>
                                    </p:animScale>
                                    <p:animScale>
                                      <p:cBhvr>
                                        <p:cTn id="38" dur="166" decel="50000">
                                          <p:stCondLst>
                                            <p:cond delay="1834"/>
                                          </p:stCondLst>
                                        </p:cTn>
                                        <p:tgtEl>
                                          <p:spTgt spid="32"/>
                                        </p:tgtEl>
                                      </p:cBhvr>
                                      <p:to x="100000" y="100000"/>
                                    </p:animScale>
                                  </p:childTnLst>
                                </p:cTn>
                              </p:par>
                              <p:par>
                                <p:cTn id="39" presetID="53" presetClass="entr" presetSubtype="16" fill="hold" nodeType="withEffect">
                                  <p:stCondLst>
                                    <p:cond delay="0"/>
                                  </p:stCondLst>
                                  <p:childTnLst>
                                    <p:set>
                                      <p:cBhvr>
                                        <p:cTn id="40" dur="1" fill="hold">
                                          <p:stCondLst>
                                            <p:cond delay="0"/>
                                          </p:stCondLst>
                                        </p:cTn>
                                        <p:tgtEl>
                                          <p:spTgt spid="9218"/>
                                        </p:tgtEl>
                                        <p:attrNameLst>
                                          <p:attrName>style.visibility</p:attrName>
                                        </p:attrNameLst>
                                      </p:cBhvr>
                                      <p:to>
                                        <p:strVal val="visible"/>
                                      </p:to>
                                    </p:set>
                                    <p:anim calcmode="lin" valueType="num">
                                      <p:cBhvr>
                                        <p:cTn id="41" dur="500" fill="hold"/>
                                        <p:tgtEl>
                                          <p:spTgt spid="9218"/>
                                        </p:tgtEl>
                                        <p:attrNameLst>
                                          <p:attrName>ppt_w</p:attrName>
                                        </p:attrNameLst>
                                      </p:cBhvr>
                                      <p:tavLst>
                                        <p:tav tm="0">
                                          <p:val>
                                            <p:fltVal val="0"/>
                                          </p:val>
                                        </p:tav>
                                        <p:tav tm="100000">
                                          <p:val>
                                            <p:strVal val="#ppt_w"/>
                                          </p:val>
                                        </p:tav>
                                      </p:tavLst>
                                    </p:anim>
                                    <p:anim calcmode="lin" valueType="num">
                                      <p:cBhvr>
                                        <p:cTn id="42" dur="500" fill="hold"/>
                                        <p:tgtEl>
                                          <p:spTgt spid="9218"/>
                                        </p:tgtEl>
                                        <p:attrNameLst>
                                          <p:attrName>ppt_h</p:attrName>
                                        </p:attrNameLst>
                                      </p:cBhvr>
                                      <p:tavLst>
                                        <p:tav tm="0">
                                          <p:val>
                                            <p:fltVal val="0"/>
                                          </p:val>
                                        </p:tav>
                                        <p:tav tm="100000">
                                          <p:val>
                                            <p:strVal val="#ppt_h"/>
                                          </p:val>
                                        </p:tav>
                                      </p:tavLst>
                                    </p:anim>
                                    <p:animEffect transition="in" filter="fade">
                                      <p:cBhvr>
                                        <p:cTn id="43" dur="500"/>
                                        <p:tgtEl>
                                          <p:spTgt spid="9218"/>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1000"/>
                                        <p:tgtEl>
                                          <p:spTgt spid="3"/>
                                        </p:tgtEl>
                                      </p:cBhvr>
                                    </p:animEffect>
                                    <p:anim calcmode="lin" valueType="num">
                                      <p:cBhvr>
                                        <p:cTn id="49" dur="1000" fill="hold"/>
                                        <p:tgtEl>
                                          <p:spTgt spid="3"/>
                                        </p:tgtEl>
                                        <p:attrNameLst>
                                          <p:attrName>ppt_x</p:attrName>
                                        </p:attrNameLst>
                                      </p:cBhvr>
                                      <p:tavLst>
                                        <p:tav tm="0">
                                          <p:val>
                                            <p:strVal val="#ppt_x"/>
                                          </p:val>
                                        </p:tav>
                                        <p:tav tm="100000">
                                          <p:val>
                                            <p:strVal val="#ppt_x"/>
                                          </p:val>
                                        </p:tav>
                                      </p:tavLst>
                                    </p:anim>
                                    <p:anim calcmode="lin" valueType="num">
                                      <p:cBhvr>
                                        <p:cTn id="5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1000"/>
                                        <p:tgtEl>
                                          <p:spTgt spid="27"/>
                                        </p:tgtEl>
                                      </p:cBhvr>
                                    </p:animEffect>
                                    <p:anim calcmode="lin" valueType="num">
                                      <p:cBhvr>
                                        <p:cTn id="56" dur="1000" fill="hold"/>
                                        <p:tgtEl>
                                          <p:spTgt spid="27"/>
                                        </p:tgtEl>
                                        <p:attrNameLst>
                                          <p:attrName>ppt_x</p:attrName>
                                        </p:attrNameLst>
                                      </p:cBhvr>
                                      <p:tavLst>
                                        <p:tav tm="0">
                                          <p:val>
                                            <p:strVal val="#ppt_x"/>
                                          </p:val>
                                        </p:tav>
                                        <p:tav tm="100000">
                                          <p:val>
                                            <p:strVal val="#ppt_x"/>
                                          </p:val>
                                        </p:tav>
                                      </p:tavLst>
                                    </p:anim>
                                    <p:anim calcmode="lin" valueType="num">
                                      <p:cBhvr>
                                        <p:cTn id="5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p:cNvGrpSpPr/>
          <p:nvPr/>
        </p:nvGrpSpPr>
        <p:grpSpPr>
          <a:xfrm>
            <a:off x="-1408220" y="3959039"/>
            <a:ext cx="828000" cy="828000"/>
            <a:chOff x="-846043" y="3948343"/>
            <a:chExt cx="828000" cy="828000"/>
          </a:xfrm>
        </p:grpSpPr>
        <p:sp>
          <p:nvSpPr>
            <p:cNvPr id="4" name="Oval 3"/>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6" name="Group 5"/>
          <p:cNvGrpSpPr/>
          <p:nvPr/>
        </p:nvGrpSpPr>
        <p:grpSpPr>
          <a:xfrm>
            <a:off x="3304855" y="45366"/>
            <a:ext cx="828000" cy="828000"/>
            <a:chOff x="-846043" y="2989694"/>
            <a:chExt cx="828000" cy="828000"/>
          </a:xfrm>
        </p:grpSpPr>
        <p:sp>
          <p:nvSpPr>
            <p:cNvPr id="7" name="Oval 6"/>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9" name="Group 8"/>
          <p:cNvGrpSpPr/>
          <p:nvPr/>
        </p:nvGrpSpPr>
        <p:grpSpPr>
          <a:xfrm>
            <a:off x="-1390177" y="4921682"/>
            <a:ext cx="828000" cy="828000"/>
            <a:chOff x="-828000" y="4906992"/>
            <a:chExt cx="828000" cy="828000"/>
          </a:xfrm>
        </p:grpSpPr>
        <p:sp>
          <p:nvSpPr>
            <p:cNvPr id="10" name="Oval 9"/>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2" name="Group 11"/>
          <p:cNvGrpSpPr/>
          <p:nvPr/>
        </p:nvGrpSpPr>
        <p:grpSpPr>
          <a:xfrm>
            <a:off x="-1298334" y="1119907"/>
            <a:ext cx="828000" cy="828000"/>
            <a:chOff x="-846043" y="1075146"/>
            <a:chExt cx="828000" cy="828000"/>
          </a:xfrm>
        </p:grpSpPr>
        <p:sp>
          <p:nvSpPr>
            <p:cNvPr id="13" name="Oval 12"/>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5" name="Group 14"/>
          <p:cNvGrpSpPr/>
          <p:nvPr/>
        </p:nvGrpSpPr>
        <p:grpSpPr>
          <a:xfrm>
            <a:off x="-1163117" y="75320"/>
            <a:ext cx="828000" cy="828000"/>
            <a:chOff x="-846043" y="136827"/>
            <a:chExt cx="828000" cy="828000"/>
          </a:xfrm>
        </p:grpSpPr>
        <p:sp>
          <p:nvSpPr>
            <p:cNvPr id="16" name="Oval 15"/>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8" name="Group 17"/>
          <p:cNvGrpSpPr/>
          <p:nvPr/>
        </p:nvGrpSpPr>
        <p:grpSpPr>
          <a:xfrm>
            <a:off x="-1408220" y="5884325"/>
            <a:ext cx="828000" cy="828000"/>
            <a:chOff x="-828000" y="5845311"/>
            <a:chExt cx="828000" cy="828000"/>
          </a:xfrm>
        </p:grpSpPr>
        <p:sp>
          <p:nvSpPr>
            <p:cNvPr id="19" name="Oval 18"/>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0" name="Picture 1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1" name="Group 20"/>
          <p:cNvGrpSpPr/>
          <p:nvPr/>
        </p:nvGrpSpPr>
        <p:grpSpPr>
          <a:xfrm>
            <a:off x="-1298333" y="2066675"/>
            <a:ext cx="828000" cy="828000"/>
            <a:chOff x="-846043" y="2028997"/>
            <a:chExt cx="828000" cy="828000"/>
          </a:xfrm>
          <a:solidFill>
            <a:schemeClr val="bg1"/>
          </a:solidFill>
        </p:grpSpPr>
        <p:sp>
          <p:nvSpPr>
            <p:cNvPr id="22" name="Oval 21"/>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3" name="Picture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4" name="Freeform 23"/>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Rectangle 24"/>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sp>
        <p:nvSpPr>
          <p:cNvPr id="26" name="Title 1">
            <a:extLst>
              <a:ext uri="{FF2B5EF4-FFF2-40B4-BE49-F238E27FC236}">
                <a16:creationId xmlns:a16="http://schemas.microsoft.com/office/drawing/2014/main" id="{DA5A2DD6-815B-4F13-928A-DE7BED54BFA7}"/>
              </a:ext>
            </a:extLst>
          </p:cNvPr>
          <p:cNvSpPr txBox="1">
            <a:spLocks/>
          </p:cNvSpPr>
          <p:nvPr/>
        </p:nvSpPr>
        <p:spPr>
          <a:xfrm>
            <a:off x="986389" y="152397"/>
            <a:ext cx="2579078" cy="72096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000" b="1">
                <a:latin typeface="Times New Roman" panose="02020603050405020304" pitchFamily="18" charset="0"/>
                <a:cs typeface="Times New Roman" panose="02020603050405020304" pitchFamily="18" charset="0"/>
              </a:rPr>
              <a:t>DIAGRAMME DE CAS D'UTILISATION</a:t>
            </a:r>
          </a:p>
        </p:txBody>
      </p:sp>
      <p:pic>
        <p:nvPicPr>
          <p:cNvPr id="2050" name="Picture 2" descr="stick_figure_at_podium_with_pointer_anim_500_wht_6795"/>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125203" y="2066675"/>
            <a:ext cx="2593652" cy="3083787"/>
          </a:xfrm>
          <a:prstGeom prst="rect">
            <a:avLst/>
          </a:prstGeom>
          <a:noFill/>
          <a:extLst>
            <a:ext uri="{909E8E84-426E-40DD-AFC4-6F175D3DCCD1}">
              <a14:hiddenFill xmlns:a14="http://schemas.microsoft.com/office/drawing/2010/main">
                <a:solidFill>
                  <a:srgbClr val="FFFFFF"/>
                </a:solidFill>
              </a14:hiddenFill>
            </a:ext>
          </a:extLst>
        </p:spPr>
      </p:pic>
      <p:sp>
        <p:nvSpPr>
          <p:cNvPr id="2051" name="Cadre 2051"/>
          <p:cNvSpPr/>
          <p:nvPr/>
        </p:nvSpPr>
        <p:spPr>
          <a:xfrm>
            <a:off x="3858768" y="795528"/>
            <a:ext cx="7827264" cy="5807456"/>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2052" name="Diagramme 2052" descr="Diagramme"/>
          <p:cNvPicPr>
            <a:picLocks noChangeAspect="1"/>
          </p:cNvPicPr>
          <p:nvPr/>
        </p:nvPicPr>
        <p:blipFill>
          <a:blip r:embed="rId10"/>
          <a:stretch>
            <a:fillRect/>
          </a:stretch>
        </p:blipFill>
        <p:spPr>
          <a:xfrm>
            <a:off x="3931920" y="868680"/>
            <a:ext cx="7680960" cy="5661152"/>
          </a:xfrm>
          <a:prstGeom prst="rect">
            <a:avLst/>
          </a:prstGeom>
        </p:spPr>
      </p:pic>
      <p:sp>
        <p:nvSpPr>
          <p:cNvPr id="2053" name="Texte 2053"/>
          <p:cNvSpPr txBox="1"/>
          <p:nvPr/>
        </p:nvSpPr>
        <p:spPr>
          <a:xfrm>
            <a:off x="868680" y="5440680"/>
            <a:ext cx="3017520" cy="640080"/>
          </a:xfrm>
          <a:prstGeom prst="rect">
            <a:avLst/>
          </a:prstGeom>
          <a:noFill/>
        </p:spPr>
        <p:txBody>
          <a:bodyPr wrap="square" lIns="0" tIns="0" rIns="0" bIns="0" rtlCol="0" anchor="t">
            <a:noAutofit/>
          </a:bodyPr>
          <a:lstStyle/>
          <a:p>
            <a:pPr algn="ctr">
              <a:spcAft>
                <a:spcPts val="0"/>
              </a:spcAft>
              <a:buNone/>
            </a:pPr>
            <a:r>
              <a:rPr lang="fr-FR" sz="1400" b="1" i="1">
                <a:solidFill>
                  <a:srgbClr val="1F3864"/>
                </a:solidFill>
                <a:latin typeface="Calibri"/>
                <a:cs typeface="Calibri"/>
              </a:rPr>
              <a:t>Vue globale : acteurs et fonctionnalités</a:t>
            </a:r>
          </a:p>
        </p:txBody>
      </p:sp>
    </p:spTree>
    <p:extLst>
      <p:ext uri="{BB962C8B-B14F-4D97-AF65-F5344CB8AC3E}">
        <p14:creationId xmlns:p14="http://schemas.microsoft.com/office/powerpoint/2010/main" val="10225235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051"/>
                                        </p:tgtEl>
                                        <p:attrNameLst>
                                          <p:attrName>style.visibility</p:attrName>
                                        </p:attrNameLst>
                                      </p:cBhvr>
                                      <p:to>
                                        <p:strVal val="visible"/>
                                      </p:to>
                                    </p:set>
                                    <p:animEffect transition="in" filter="fade">
                                      <p:cBhvr>
                                        <p:cTn id="14" dur="600"/>
                                        <p:tgtEl>
                                          <p:spTgt spid="2051"/>
                                        </p:tgtEl>
                                      </p:cBhvr>
                                    </p:animEffect>
                                  </p:childTnLst>
                                </p:cTn>
                              </p:par>
                              <p:par>
                                <p:cTn id="15" presetID="10" presetClass="entr" presetSubtype="0" fill="hold" nodeType="withEffect">
                                  <p:stCondLst>
                                    <p:cond delay="300"/>
                                  </p:stCondLst>
                                  <p:childTnLst>
                                    <p:set>
                                      <p:cBhvr>
                                        <p:cTn id="16" dur="1" fill="hold">
                                          <p:stCondLst>
                                            <p:cond delay="0"/>
                                          </p:stCondLst>
                                        </p:cTn>
                                        <p:tgtEl>
                                          <p:spTgt spid="2052"/>
                                        </p:tgtEl>
                                        <p:attrNameLst>
                                          <p:attrName>style.visibility</p:attrName>
                                        </p:attrNameLst>
                                      </p:cBhvr>
                                      <p:to>
                                        <p:strVal val="visible"/>
                                      </p:to>
                                    </p:set>
                                    <p:animEffect transition="in" filter="fade">
                                      <p:cBhvr>
                                        <p:cTn id="17" dur="600"/>
                                        <p:tgtEl>
                                          <p:spTgt spid="2052"/>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2053"/>
                                        </p:tgtEl>
                                        <p:attrNameLst>
                                          <p:attrName>style.visibility</p:attrName>
                                        </p:attrNameLst>
                                      </p:cBhvr>
                                      <p:to>
                                        <p:strVal val="visible"/>
                                      </p:to>
                                    </p:set>
                                    <p:animEffect transition="in" filter="fade">
                                      <p:cBhvr>
                                        <p:cTn id="20" dur="6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051" grpId="0"/>
      <p:bldP spid="205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1408220" y="3959039"/>
            <a:ext cx="828000" cy="828000"/>
            <a:chOff x="-846043" y="3948343"/>
            <a:chExt cx="828000" cy="828000"/>
          </a:xfrm>
        </p:grpSpPr>
        <p:sp>
          <p:nvSpPr>
            <p:cNvPr id="3" name="Oval 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5" name="Group 4"/>
          <p:cNvGrpSpPr/>
          <p:nvPr/>
        </p:nvGrpSpPr>
        <p:grpSpPr>
          <a:xfrm>
            <a:off x="3359201" y="-2293"/>
            <a:ext cx="828000" cy="828000"/>
            <a:chOff x="-846043" y="2989694"/>
            <a:chExt cx="828000" cy="828000"/>
          </a:xfrm>
        </p:grpSpPr>
        <p:sp>
          <p:nvSpPr>
            <p:cNvPr id="6" name="Oval 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8" name="Group 7"/>
          <p:cNvGrpSpPr/>
          <p:nvPr/>
        </p:nvGrpSpPr>
        <p:grpSpPr>
          <a:xfrm>
            <a:off x="-1390177" y="4921682"/>
            <a:ext cx="828000" cy="828000"/>
            <a:chOff x="-828000" y="4906992"/>
            <a:chExt cx="828000" cy="828000"/>
          </a:xfrm>
        </p:grpSpPr>
        <p:sp>
          <p:nvSpPr>
            <p:cNvPr id="9" name="Oval 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1" name="Group 10"/>
          <p:cNvGrpSpPr/>
          <p:nvPr/>
        </p:nvGrpSpPr>
        <p:grpSpPr>
          <a:xfrm>
            <a:off x="-1298334" y="1119907"/>
            <a:ext cx="828000" cy="828000"/>
            <a:chOff x="-846043" y="1075146"/>
            <a:chExt cx="828000" cy="828000"/>
          </a:xfrm>
        </p:grpSpPr>
        <p:sp>
          <p:nvSpPr>
            <p:cNvPr id="12" name="Oval 1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4" name="Group 13"/>
          <p:cNvGrpSpPr/>
          <p:nvPr/>
        </p:nvGrpSpPr>
        <p:grpSpPr>
          <a:xfrm>
            <a:off x="-1163117" y="75320"/>
            <a:ext cx="828000" cy="828000"/>
            <a:chOff x="-846043" y="136827"/>
            <a:chExt cx="828000" cy="828000"/>
          </a:xfrm>
        </p:grpSpPr>
        <p:sp>
          <p:nvSpPr>
            <p:cNvPr id="15" name="Oval 1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7" name="Group 16"/>
          <p:cNvGrpSpPr/>
          <p:nvPr/>
        </p:nvGrpSpPr>
        <p:grpSpPr>
          <a:xfrm>
            <a:off x="-1408220" y="5884325"/>
            <a:ext cx="828000" cy="828000"/>
            <a:chOff x="-828000" y="5845311"/>
            <a:chExt cx="828000" cy="828000"/>
          </a:xfrm>
        </p:grpSpPr>
        <p:sp>
          <p:nvSpPr>
            <p:cNvPr id="18" name="Oval 1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0" name="Group 19"/>
          <p:cNvGrpSpPr/>
          <p:nvPr/>
        </p:nvGrpSpPr>
        <p:grpSpPr>
          <a:xfrm>
            <a:off x="-1298333" y="2066675"/>
            <a:ext cx="828000" cy="828000"/>
            <a:chOff x="-846043" y="2028997"/>
            <a:chExt cx="828000" cy="828000"/>
          </a:xfrm>
          <a:solidFill>
            <a:schemeClr val="bg1"/>
          </a:solidFill>
        </p:grpSpPr>
        <p:sp>
          <p:nvSpPr>
            <p:cNvPr id="21" name="Oval 2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3" name="Freeform 22"/>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4" name="Rectangle 23"/>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sp>
        <p:nvSpPr>
          <p:cNvPr id="30" name="Title 1">
            <a:extLst>
              <a:ext uri="{FF2B5EF4-FFF2-40B4-BE49-F238E27FC236}">
                <a16:creationId xmlns:a16="http://schemas.microsoft.com/office/drawing/2014/main" id="{DA5A2DD6-815B-4F13-928A-DE7BED54BFA7}"/>
              </a:ext>
            </a:extLst>
          </p:cNvPr>
          <p:cNvSpPr txBox="1">
            <a:spLocks/>
          </p:cNvSpPr>
          <p:nvPr/>
        </p:nvSpPr>
        <p:spPr>
          <a:xfrm>
            <a:off x="861937" y="75320"/>
            <a:ext cx="2579078" cy="72096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latin typeface="Times New Roman" panose="02020603050405020304" pitchFamily="18" charset="0"/>
                <a:cs typeface="Times New Roman" panose="02020603050405020304" pitchFamily="18" charset="0"/>
              </a:rPr>
              <a:t>DIAGRAMME DE SEQUENCE</a:t>
            </a:r>
          </a:p>
        </p:txBody>
      </p:sp>
      <p:pic>
        <p:nvPicPr>
          <p:cNvPr id="3074" name="Picture 2" descr="stick_figure_at_podium_with_pointer_anim_500_wht_6795"/>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246438" y="1933309"/>
            <a:ext cx="2364262" cy="2853730"/>
          </a:xfrm>
          <a:prstGeom prst="rect">
            <a:avLst/>
          </a:prstGeom>
          <a:noFill/>
          <a:extLst>
            <a:ext uri="{909E8E84-426E-40DD-AFC4-6F175D3DCCD1}">
              <a14:hiddenFill xmlns:a14="http://schemas.microsoft.com/office/drawing/2010/main">
                <a:solidFill>
                  <a:srgbClr val="FFFFFF"/>
                </a:solidFill>
              </a14:hiddenFill>
            </a:ext>
          </a:extLst>
        </p:spPr>
      </p:pic>
      <p:sp>
        <p:nvSpPr>
          <p:cNvPr id="3075" name="Cadre 3075"/>
          <p:cNvSpPr/>
          <p:nvPr/>
        </p:nvSpPr>
        <p:spPr>
          <a:xfrm>
            <a:off x="4835932" y="795528"/>
            <a:ext cx="5872937" cy="5907024"/>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3076" name="Diagramme 3076" descr="Diagramme"/>
          <p:cNvPicPr>
            <a:picLocks noChangeAspect="1"/>
          </p:cNvPicPr>
          <p:nvPr/>
        </p:nvPicPr>
        <p:blipFill>
          <a:blip r:embed="rId10"/>
          <a:stretch>
            <a:fillRect/>
          </a:stretch>
        </p:blipFill>
        <p:spPr>
          <a:xfrm>
            <a:off x="4909084" y="868680"/>
            <a:ext cx="5726633" cy="5760720"/>
          </a:xfrm>
          <a:prstGeom prst="rect">
            <a:avLst/>
          </a:prstGeom>
        </p:spPr>
      </p:pic>
      <p:sp>
        <p:nvSpPr>
          <p:cNvPr id="3077" name="Texte 3077"/>
          <p:cNvSpPr txBox="1"/>
          <p:nvPr/>
        </p:nvSpPr>
        <p:spPr>
          <a:xfrm>
            <a:off x="868680" y="5440680"/>
            <a:ext cx="3017520" cy="640080"/>
          </a:xfrm>
          <a:prstGeom prst="rect">
            <a:avLst/>
          </a:prstGeom>
          <a:noFill/>
        </p:spPr>
        <p:txBody>
          <a:bodyPr wrap="square" lIns="0" tIns="0" rIns="0" bIns="0" rtlCol="0" anchor="t">
            <a:noAutofit/>
          </a:bodyPr>
          <a:lstStyle/>
          <a:p>
            <a:pPr algn="ctr">
              <a:spcAft>
                <a:spcPts val="0"/>
              </a:spcAft>
              <a:buNone/>
            </a:pPr>
            <a:r>
              <a:rPr lang="fr-FR" sz="1400" b="1" i="1">
                <a:solidFill>
                  <a:srgbClr val="1F3864"/>
                </a:solidFill>
                <a:latin typeface="Calibri"/>
                <a:cs typeface="Calibri"/>
              </a:rPr>
              <a:t>Cas : planifier un entretien</a:t>
            </a:r>
          </a:p>
        </p:txBody>
      </p:sp>
    </p:spTree>
    <p:extLst>
      <p:ext uri="{BB962C8B-B14F-4D97-AF65-F5344CB8AC3E}">
        <p14:creationId xmlns:p14="http://schemas.microsoft.com/office/powerpoint/2010/main" val="7873772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075"/>
                                        </p:tgtEl>
                                        <p:attrNameLst>
                                          <p:attrName>style.visibility</p:attrName>
                                        </p:attrNameLst>
                                      </p:cBhvr>
                                      <p:to>
                                        <p:strVal val="visible"/>
                                      </p:to>
                                    </p:set>
                                    <p:animEffect transition="in" filter="fade">
                                      <p:cBhvr>
                                        <p:cTn id="14" dur="600"/>
                                        <p:tgtEl>
                                          <p:spTgt spid="3075"/>
                                        </p:tgtEl>
                                      </p:cBhvr>
                                    </p:animEffect>
                                  </p:childTnLst>
                                </p:cTn>
                              </p:par>
                              <p:par>
                                <p:cTn id="15" presetID="10" presetClass="entr" presetSubtype="0" fill="hold" nodeType="withEffect">
                                  <p:stCondLst>
                                    <p:cond delay="300"/>
                                  </p:stCondLst>
                                  <p:childTnLst>
                                    <p:set>
                                      <p:cBhvr>
                                        <p:cTn id="16" dur="1" fill="hold">
                                          <p:stCondLst>
                                            <p:cond delay="0"/>
                                          </p:stCondLst>
                                        </p:cTn>
                                        <p:tgtEl>
                                          <p:spTgt spid="3076"/>
                                        </p:tgtEl>
                                        <p:attrNameLst>
                                          <p:attrName>style.visibility</p:attrName>
                                        </p:attrNameLst>
                                      </p:cBhvr>
                                      <p:to>
                                        <p:strVal val="visible"/>
                                      </p:to>
                                    </p:set>
                                    <p:animEffect transition="in" filter="fade">
                                      <p:cBhvr>
                                        <p:cTn id="17" dur="600"/>
                                        <p:tgtEl>
                                          <p:spTgt spid="3076"/>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3077"/>
                                        </p:tgtEl>
                                        <p:attrNameLst>
                                          <p:attrName>style.visibility</p:attrName>
                                        </p:attrNameLst>
                                      </p:cBhvr>
                                      <p:to>
                                        <p:strVal val="visible"/>
                                      </p:to>
                                    </p:set>
                                    <p:animEffect transition="in" filter="fade">
                                      <p:cBhvr>
                                        <p:cTn id="20" dur="6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75" grpId="0"/>
      <p:bldP spid="307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1326656" y="3770643"/>
            <a:ext cx="828000" cy="828000"/>
            <a:chOff x="-846043" y="3948343"/>
            <a:chExt cx="828000" cy="828000"/>
          </a:xfrm>
        </p:grpSpPr>
        <p:sp>
          <p:nvSpPr>
            <p:cNvPr id="3" name="Oval 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5" name="Group 4"/>
          <p:cNvGrpSpPr/>
          <p:nvPr/>
        </p:nvGrpSpPr>
        <p:grpSpPr>
          <a:xfrm>
            <a:off x="3164016" y="152397"/>
            <a:ext cx="828000" cy="828000"/>
            <a:chOff x="-846043" y="2989694"/>
            <a:chExt cx="828000" cy="828000"/>
          </a:xfrm>
        </p:grpSpPr>
        <p:sp>
          <p:nvSpPr>
            <p:cNvPr id="6" name="Oval 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8" name="Group 7"/>
          <p:cNvGrpSpPr/>
          <p:nvPr/>
        </p:nvGrpSpPr>
        <p:grpSpPr>
          <a:xfrm>
            <a:off x="-1390177" y="4921682"/>
            <a:ext cx="828000" cy="828000"/>
            <a:chOff x="-828000" y="4906992"/>
            <a:chExt cx="828000" cy="828000"/>
          </a:xfrm>
        </p:grpSpPr>
        <p:sp>
          <p:nvSpPr>
            <p:cNvPr id="9" name="Oval 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1" name="Group 10"/>
          <p:cNvGrpSpPr/>
          <p:nvPr/>
        </p:nvGrpSpPr>
        <p:grpSpPr>
          <a:xfrm>
            <a:off x="-1298334" y="1119907"/>
            <a:ext cx="828000" cy="828000"/>
            <a:chOff x="-846043" y="1075146"/>
            <a:chExt cx="828000" cy="828000"/>
          </a:xfrm>
        </p:grpSpPr>
        <p:sp>
          <p:nvSpPr>
            <p:cNvPr id="12" name="Oval 1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4" name="Group 13"/>
          <p:cNvGrpSpPr/>
          <p:nvPr/>
        </p:nvGrpSpPr>
        <p:grpSpPr>
          <a:xfrm>
            <a:off x="-1270658" y="-31132"/>
            <a:ext cx="828000" cy="828000"/>
            <a:chOff x="-846043" y="136827"/>
            <a:chExt cx="828000" cy="828000"/>
          </a:xfrm>
        </p:grpSpPr>
        <p:sp>
          <p:nvSpPr>
            <p:cNvPr id="15" name="Oval 1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7" name="Group 16"/>
          <p:cNvGrpSpPr/>
          <p:nvPr/>
        </p:nvGrpSpPr>
        <p:grpSpPr>
          <a:xfrm>
            <a:off x="-1418052" y="5884325"/>
            <a:ext cx="828000" cy="828000"/>
            <a:chOff x="-828000" y="5845311"/>
            <a:chExt cx="828000" cy="828000"/>
          </a:xfrm>
        </p:grpSpPr>
        <p:sp>
          <p:nvSpPr>
            <p:cNvPr id="18" name="Oval 1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0" name="Group 19"/>
          <p:cNvGrpSpPr/>
          <p:nvPr/>
        </p:nvGrpSpPr>
        <p:grpSpPr>
          <a:xfrm>
            <a:off x="-1390177" y="2484961"/>
            <a:ext cx="828000" cy="828000"/>
            <a:chOff x="-846043" y="2028997"/>
            <a:chExt cx="828000" cy="828000"/>
          </a:xfrm>
          <a:solidFill>
            <a:schemeClr val="bg1"/>
          </a:solidFill>
        </p:grpSpPr>
        <p:sp>
          <p:nvSpPr>
            <p:cNvPr id="21" name="Oval 2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3" name="Freeform 22"/>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4" name="Rectangle 23"/>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sp>
        <p:nvSpPr>
          <p:cNvPr id="29" name="Title 1">
            <a:extLst>
              <a:ext uri="{FF2B5EF4-FFF2-40B4-BE49-F238E27FC236}">
                <a16:creationId xmlns:a16="http://schemas.microsoft.com/office/drawing/2014/main" id="{099070D5-16E6-4762-B4EA-8598E7BDFB6D}"/>
              </a:ext>
            </a:extLst>
          </p:cNvPr>
          <p:cNvSpPr txBox="1">
            <a:spLocks/>
          </p:cNvSpPr>
          <p:nvPr/>
        </p:nvSpPr>
        <p:spPr>
          <a:xfrm>
            <a:off x="1043761" y="230542"/>
            <a:ext cx="2579078" cy="720969"/>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latin typeface="Times New Roman" panose="02020603050405020304" pitchFamily="18" charset="0"/>
                <a:cs typeface="Times New Roman" panose="02020603050405020304" pitchFamily="18" charset="0"/>
              </a:rPr>
              <a:t>DIAGRAMME D’ACTIVITE</a:t>
            </a:r>
          </a:p>
        </p:txBody>
      </p:sp>
      <p:pic>
        <p:nvPicPr>
          <p:cNvPr id="4098" name="Picture 2" descr="stick_figure_at_podium_with_pointer_anim_500_wht_6795"/>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109103" y="1947907"/>
            <a:ext cx="2560017" cy="3276922"/>
          </a:xfrm>
          <a:prstGeom prst="rect">
            <a:avLst/>
          </a:prstGeom>
          <a:noFill/>
          <a:extLst>
            <a:ext uri="{909E8E84-426E-40DD-AFC4-6F175D3DCCD1}">
              <a14:hiddenFill xmlns:a14="http://schemas.microsoft.com/office/drawing/2010/main">
                <a:solidFill>
                  <a:srgbClr val="FFFFFF"/>
                </a:solidFill>
              </a14:hiddenFill>
            </a:ext>
          </a:extLst>
        </p:spPr>
      </p:pic>
      <p:sp>
        <p:nvSpPr>
          <p:cNvPr id="4099" name="Cadre 4099"/>
          <p:cNvSpPr/>
          <p:nvPr/>
        </p:nvSpPr>
        <p:spPr>
          <a:xfrm>
            <a:off x="5232117" y="795528"/>
            <a:ext cx="5080566" cy="5907024"/>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4100" name="Diagramme 4100" descr="Diagramme"/>
          <p:cNvPicPr>
            <a:picLocks noChangeAspect="1"/>
          </p:cNvPicPr>
          <p:nvPr/>
        </p:nvPicPr>
        <p:blipFill>
          <a:blip r:embed="rId10"/>
          <a:stretch>
            <a:fillRect/>
          </a:stretch>
        </p:blipFill>
        <p:spPr>
          <a:xfrm>
            <a:off x="5305269" y="868680"/>
            <a:ext cx="4934262" cy="5760720"/>
          </a:xfrm>
          <a:prstGeom prst="rect">
            <a:avLst/>
          </a:prstGeom>
        </p:spPr>
      </p:pic>
      <p:sp>
        <p:nvSpPr>
          <p:cNvPr id="4101" name="Texte 4101"/>
          <p:cNvSpPr txBox="1"/>
          <p:nvPr/>
        </p:nvSpPr>
        <p:spPr>
          <a:xfrm>
            <a:off x="868680" y="5440680"/>
            <a:ext cx="3017520" cy="640080"/>
          </a:xfrm>
          <a:prstGeom prst="rect">
            <a:avLst/>
          </a:prstGeom>
          <a:noFill/>
        </p:spPr>
        <p:txBody>
          <a:bodyPr wrap="square" lIns="0" tIns="0" rIns="0" bIns="0" rtlCol="0" anchor="t">
            <a:noAutofit/>
          </a:bodyPr>
          <a:lstStyle/>
          <a:p>
            <a:pPr algn="ctr">
              <a:spcAft>
                <a:spcPts val="0"/>
              </a:spcAft>
              <a:buNone/>
            </a:pPr>
            <a:r>
              <a:rPr lang="fr-FR" sz="1400" b="1" i="1">
                <a:solidFill>
                  <a:srgbClr val="1F3864"/>
                </a:solidFill>
                <a:latin typeface="Calibri"/>
                <a:cs typeface="Calibri"/>
              </a:rPr>
              <a:t>Cas : sélectionner une candidature</a:t>
            </a:r>
          </a:p>
        </p:txBody>
      </p:sp>
    </p:spTree>
    <p:extLst>
      <p:ext uri="{BB962C8B-B14F-4D97-AF65-F5344CB8AC3E}">
        <p14:creationId xmlns:p14="http://schemas.microsoft.com/office/powerpoint/2010/main" val="380392130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fade">
                                      <p:cBhvr>
                                        <p:cTn id="12" dur="600"/>
                                        <p:tgtEl>
                                          <p:spTgt spid="4099"/>
                                        </p:tgtEl>
                                      </p:cBhvr>
                                    </p:animEffect>
                                  </p:childTnLst>
                                </p:cTn>
                              </p:par>
                              <p:par>
                                <p:cTn id="13" presetID="10" presetClass="entr" presetSubtype="0" fill="hold" nodeType="withEffect">
                                  <p:stCondLst>
                                    <p:cond delay="300"/>
                                  </p:stCondLst>
                                  <p:childTnLst>
                                    <p:set>
                                      <p:cBhvr>
                                        <p:cTn id="14" dur="1" fill="hold">
                                          <p:stCondLst>
                                            <p:cond delay="0"/>
                                          </p:stCondLst>
                                        </p:cTn>
                                        <p:tgtEl>
                                          <p:spTgt spid="4100"/>
                                        </p:tgtEl>
                                        <p:attrNameLst>
                                          <p:attrName>style.visibility</p:attrName>
                                        </p:attrNameLst>
                                      </p:cBhvr>
                                      <p:to>
                                        <p:strVal val="visible"/>
                                      </p:to>
                                    </p:set>
                                    <p:animEffect transition="in" filter="fade">
                                      <p:cBhvr>
                                        <p:cTn id="15" dur="600"/>
                                        <p:tgtEl>
                                          <p:spTgt spid="4100"/>
                                        </p:tgtEl>
                                      </p:cBhvr>
                                    </p:animEffect>
                                  </p:childTnLst>
                                </p:cTn>
                              </p:par>
                              <p:par>
                                <p:cTn id="16" presetID="10" presetClass="entr" presetSubtype="0" fill="hold" grpId="0" nodeType="withEffect">
                                  <p:stCondLst>
                                    <p:cond delay="600"/>
                                  </p:stCondLst>
                                  <p:childTnLst>
                                    <p:set>
                                      <p:cBhvr>
                                        <p:cTn id="17" dur="1" fill="hold">
                                          <p:stCondLst>
                                            <p:cond delay="0"/>
                                          </p:stCondLst>
                                        </p:cTn>
                                        <p:tgtEl>
                                          <p:spTgt spid="4101"/>
                                        </p:tgtEl>
                                        <p:attrNameLst>
                                          <p:attrName>style.visibility</p:attrName>
                                        </p:attrNameLst>
                                      </p:cBhvr>
                                      <p:to>
                                        <p:strVal val="visible"/>
                                      </p:to>
                                    </p:set>
                                    <p:animEffect transition="in" filter="fade">
                                      <p:cBhvr>
                                        <p:cTn id="18" dur="6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099" grpId="0"/>
      <p:bldP spid="410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3"/>
          <p:cNvGrpSpPr/>
          <p:nvPr/>
        </p:nvGrpSpPr>
        <p:grpSpPr>
          <a:xfrm>
            <a:off x="-1408220" y="3959039"/>
            <a:ext cx="828000" cy="828000"/>
            <a:chOff x="-846043" y="3948343"/>
            <a:chExt cx="828000" cy="828000"/>
          </a:xfrm>
        </p:grpSpPr>
        <p:sp>
          <p:nvSpPr>
            <p:cNvPr id="5" name="Oval 4"/>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7" name="Group 6"/>
          <p:cNvGrpSpPr/>
          <p:nvPr/>
        </p:nvGrpSpPr>
        <p:grpSpPr>
          <a:xfrm>
            <a:off x="2526895" y="256398"/>
            <a:ext cx="828000" cy="828000"/>
            <a:chOff x="-846043" y="2989694"/>
            <a:chExt cx="828000" cy="828000"/>
          </a:xfrm>
        </p:grpSpPr>
        <p:sp>
          <p:nvSpPr>
            <p:cNvPr id="8" name="Oval 7"/>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10" name="Group 9"/>
          <p:cNvGrpSpPr/>
          <p:nvPr/>
        </p:nvGrpSpPr>
        <p:grpSpPr>
          <a:xfrm>
            <a:off x="-1390177" y="4921682"/>
            <a:ext cx="828000" cy="828000"/>
            <a:chOff x="-828000" y="4906992"/>
            <a:chExt cx="828000" cy="828000"/>
          </a:xfrm>
        </p:grpSpPr>
        <p:sp>
          <p:nvSpPr>
            <p:cNvPr id="11" name="Oval 10"/>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3" name="Group 12"/>
          <p:cNvGrpSpPr/>
          <p:nvPr/>
        </p:nvGrpSpPr>
        <p:grpSpPr>
          <a:xfrm>
            <a:off x="-1298334" y="1119907"/>
            <a:ext cx="828000" cy="828000"/>
            <a:chOff x="-846043" y="1075146"/>
            <a:chExt cx="828000" cy="828000"/>
          </a:xfrm>
        </p:grpSpPr>
        <p:sp>
          <p:nvSpPr>
            <p:cNvPr id="14" name="Oval 13"/>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6" name="Group 15"/>
          <p:cNvGrpSpPr/>
          <p:nvPr/>
        </p:nvGrpSpPr>
        <p:grpSpPr>
          <a:xfrm>
            <a:off x="-1163117" y="75320"/>
            <a:ext cx="828000" cy="828000"/>
            <a:chOff x="-846043" y="136827"/>
            <a:chExt cx="828000" cy="828000"/>
          </a:xfrm>
        </p:grpSpPr>
        <p:sp>
          <p:nvSpPr>
            <p:cNvPr id="17" name="Oval 16"/>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9" name="Group 18"/>
          <p:cNvGrpSpPr/>
          <p:nvPr/>
        </p:nvGrpSpPr>
        <p:grpSpPr>
          <a:xfrm>
            <a:off x="-1408220" y="5884325"/>
            <a:ext cx="828000" cy="828000"/>
            <a:chOff x="-828000" y="5845311"/>
            <a:chExt cx="828000" cy="828000"/>
          </a:xfrm>
        </p:grpSpPr>
        <p:sp>
          <p:nvSpPr>
            <p:cNvPr id="20" name="Oval 19"/>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1" name="Picture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2" name="Group 21"/>
          <p:cNvGrpSpPr/>
          <p:nvPr/>
        </p:nvGrpSpPr>
        <p:grpSpPr>
          <a:xfrm>
            <a:off x="-1355580" y="2447753"/>
            <a:ext cx="828000" cy="828000"/>
            <a:chOff x="-846043" y="2028997"/>
            <a:chExt cx="828000" cy="828000"/>
          </a:xfrm>
          <a:solidFill>
            <a:schemeClr val="bg1"/>
          </a:solidFill>
        </p:grpSpPr>
        <p:sp>
          <p:nvSpPr>
            <p:cNvPr id="23" name="Oval 22"/>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4" name="Picture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5" name="Freeform 24"/>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Rectangle 25"/>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sp>
        <p:nvSpPr>
          <p:cNvPr id="27" name="Title 1">
            <a:extLst>
              <a:ext uri="{FF2B5EF4-FFF2-40B4-BE49-F238E27FC236}">
                <a16:creationId xmlns:a16="http://schemas.microsoft.com/office/drawing/2014/main" id="{DA5A2DD6-815B-4F13-928A-DE7BED54BFA7}"/>
              </a:ext>
            </a:extLst>
          </p:cNvPr>
          <p:cNvSpPr txBox="1">
            <a:spLocks/>
          </p:cNvSpPr>
          <p:nvPr/>
        </p:nvSpPr>
        <p:spPr>
          <a:xfrm>
            <a:off x="775817" y="94861"/>
            <a:ext cx="2579078" cy="72096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latin typeface="Times New Roman" panose="02020603050405020304" pitchFamily="18" charset="0"/>
                <a:cs typeface="Times New Roman" panose="02020603050405020304" pitchFamily="18" charset="0"/>
              </a:rPr>
              <a:t>DIAGRAMME DE CLASSE</a:t>
            </a:r>
          </a:p>
        </p:txBody>
      </p:sp>
      <p:pic>
        <p:nvPicPr>
          <p:cNvPr id="5122" name="Picture 2" descr="stick_figure_at_podium_with_pointer_anim_500_wht_6795"/>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1166951" y="2016400"/>
            <a:ext cx="3232284" cy="3301686"/>
          </a:xfrm>
          <a:prstGeom prst="rect">
            <a:avLst/>
          </a:prstGeom>
          <a:noFill/>
          <a:extLst>
            <a:ext uri="{909E8E84-426E-40DD-AFC4-6F175D3DCCD1}">
              <a14:hiddenFill xmlns:a14="http://schemas.microsoft.com/office/drawing/2010/main">
                <a:solidFill>
                  <a:srgbClr val="FFFFFF"/>
                </a:solidFill>
              </a14:hiddenFill>
            </a:ext>
          </a:extLst>
        </p:spPr>
      </p:pic>
      <p:sp>
        <p:nvSpPr>
          <p:cNvPr id="5123" name="Cadre 5123"/>
          <p:cNvSpPr/>
          <p:nvPr/>
        </p:nvSpPr>
        <p:spPr>
          <a:xfrm>
            <a:off x="4150728" y="795528"/>
            <a:ext cx="7243345" cy="5907024"/>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5124" name="Diagramme 5124" descr="Diagramme"/>
          <p:cNvPicPr>
            <a:picLocks noChangeAspect="1"/>
          </p:cNvPicPr>
          <p:nvPr/>
        </p:nvPicPr>
        <p:blipFill>
          <a:blip r:embed="rId10"/>
          <a:stretch>
            <a:fillRect/>
          </a:stretch>
        </p:blipFill>
        <p:spPr>
          <a:xfrm>
            <a:off x="4223880" y="868680"/>
            <a:ext cx="7097041" cy="5760720"/>
          </a:xfrm>
          <a:prstGeom prst="rect">
            <a:avLst/>
          </a:prstGeom>
        </p:spPr>
      </p:pic>
      <p:sp>
        <p:nvSpPr>
          <p:cNvPr id="5125" name="Texte 5125"/>
          <p:cNvSpPr txBox="1"/>
          <p:nvPr/>
        </p:nvSpPr>
        <p:spPr>
          <a:xfrm>
            <a:off x="868680" y="5440680"/>
            <a:ext cx="3017520" cy="640080"/>
          </a:xfrm>
          <a:prstGeom prst="rect">
            <a:avLst/>
          </a:prstGeom>
          <a:noFill/>
        </p:spPr>
        <p:txBody>
          <a:bodyPr wrap="square" lIns="0" tIns="0" rIns="0" bIns="0" rtlCol="0" anchor="t">
            <a:noAutofit/>
          </a:bodyPr>
          <a:lstStyle/>
          <a:p>
            <a:pPr algn="ctr">
              <a:spcAft>
                <a:spcPts val="0"/>
              </a:spcAft>
              <a:buNone/>
            </a:pPr>
            <a:r>
              <a:rPr lang="fr-FR" sz="1400" b="1" i="1">
                <a:solidFill>
                  <a:srgbClr val="1F3864"/>
                </a:solidFill>
                <a:latin typeface="Calibri"/>
                <a:cs typeface="Calibri"/>
              </a:rPr>
              <a:t>Entités principales et relations</a:t>
            </a:r>
          </a:p>
        </p:txBody>
      </p:sp>
    </p:spTree>
    <p:extLst>
      <p:ext uri="{BB962C8B-B14F-4D97-AF65-F5344CB8AC3E}">
        <p14:creationId xmlns:p14="http://schemas.microsoft.com/office/powerpoint/2010/main" val="233963138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123"/>
                                        </p:tgtEl>
                                        <p:attrNameLst>
                                          <p:attrName>style.visibility</p:attrName>
                                        </p:attrNameLst>
                                      </p:cBhvr>
                                      <p:to>
                                        <p:strVal val="visible"/>
                                      </p:to>
                                    </p:set>
                                    <p:animEffect transition="in" filter="fade">
                                      <p:cBhvr>
                                        <p:cTn id="14" dur="600"/>
                                        <p:tgtEl>
                                          <p:spTgt spid="5123"/>
                                        </p:tgtEl>
                                      </p:cBhvr>
                                    </p:animEffect>
                                  </p:childTnLst>
                                </p:cTn>
                              </p:par>
                              <p:par>
                                <p:cTn id="15" presetID="10" presetClass="entr" presetSubtype="0" fill="hold" nodeType="withEffect">
                                  <p:stCondLst>
                                    <p:cond delay="300"/>
                                  </p:stCondLst>
                                  <p:childTnLst>
                                    <p:set>
                                      <p:cBhvr>
                                        <p:cTn id="16" dur="1" fill="hold">
                                          <p:stCondLst>
                                            <p:cond delay="0"/>
                                          </p:stCondLst>
                                        </p:cTn>
                                        <p:tgtEl>
                                          <p:spTgt spid="5124"/>
                                        </p:tgtEl>
                                        <p:attrNameLst>
                                          <p:attrName>style.visibility</p:attrName>
                                        </p:attrNameLst>
                                      </p:cBhvr>
                                      <p:to>
                                        <p:strVal val="visible"/>
                                      </p:to>
                                    </p:set>
                                    <p:animEffect transition="in" filter="fade">
                                      <p:cBhvr>
                                        <p:cTn id="17" dur="600"/>
                                        <p:tgtEl>
                                          <p:spTgt spid="5124"/>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5125"/>
                                        </p:tgtEl>
                                        <p:attrNameLst>
                                          <p:attrName>style.visibility</p:attrName>
                                        </p:attrNameLst>
                                      </p:cBhvr>
                                      <p:to>
                                        <p:strVal val="visible"/>
                                      </p:to>
                                    </p:set>
                                    <p:animEffect transition="in" filter="fade">
                                      <p:cBhvr>
                                        <p:cTn id="20" dur="6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123" grpId="0"/>
      <p:bldP spid="512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1408220" y="3959039"/>
            <a:ext cx="828000" cy="828000"/>
            <a:chOff x="-846043" y="3948343"/>
            <a:chExt cx="828000" cy="828000"/>
          </a:xfrm>
        </p:grpSpPr>
        <p:sp>
          <p:nvSpPr>
            <p:cNvPr id="3" name="Oval 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5" name="Group 4"/>
          <p:cNvGrpSpPr/>
          <p:nvPr/>
        </p:nvGrpSpPr>
        <p:grpSpPr>
          <a:xfrm>
            <a:off x="591151" y="2894675"/>
            <a:ext cx="828000" cy="828000"/>
            <a:chOff x="-846043" y="2989694"/>
            <a:chExt cx="828000" cy="828000"/>
          </a:xfrm>
        </p:grpSpPr>
        <p:sp>
          <p:nvSpPr>
            <p:cNvPr id="6" name="Oval 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8" name="Group 7"/>
          <p:cNvGrpSpPr/>
          <p:nvPr/>
        </p:nvGrpSpPr>
        <p:grpSpPr>
          <a:xfrm>
            <a:off x="-1390177" y="4921682"/>
            <a:ext cx="828000" cy="828000"/>
            <a:chOff x="-828000" y="4906992"/>
            <a:chExt cx="828000" cy="828000"/>
          </a:xfrm>
        </p:grpSpPr>
        <p:sp>
          <p:nvSpPr>
            <p:cNvPr id="9" name="Oval 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1" name="Group 10"/>
          <p:cNvGrpSpPr/>
          <p:nvPr/>
        </p:nvGrpSpPr>
        <p:grpSpPr>
          <a:xfrm>
            <a:off x="-1298334" y="1119907"/>
            <a:ext cx="828000" cy="828000"/>
            <a:chOff x="-846043" y="1075146"/>
            <a:chExt cx="828000" cy="828000"/>
          </a:xfrm>
        </p:grpSpPr>
        <p:sp>
          <p:nvSpPr>
            <p:cNvPr id="12" name="Oval 1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4" name="Group 13"/>
          <p:cNvGrpSpPr/>
          <p:nvPr/>
        </p:nvGrpSpPr>
        <p:grpSpPr>
          <a:xfrm>
            <a:off x="-1163117" y="75320"/>
            <a:ext cx="828000" cy="828000"/>
            <a:chOff x="-846043" y="136827"/>
            <a:chExt cx="828000" cy="828000"/>
          </a:xfrm>
        </p:grpSpPr>
        <p:sp>
          <p:nvSpPr>
            <p:cNvPr id="15" name="Oval 1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7" name="Group 16"/>
          <p:cNvGrpSpPr/>
          <p:nvPr/>
        </p:nvGrpSpPr>
        <p:grpSpPr>
          <a:xfrm>
            <a:off x="-1408220" y="5884325"/>
            <a:ext cx="828000" cy="828000"/>
            <a:chOff x="-828000" y="5845311"/>
            <a:chExt cx="828000" cy="828000"/>
          </a:xfrm>
        </p:grpSpPr>
        <p:sp>
          <p:nvSpPr>
            <p:cNvPr id="18" name="Oval 1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0" name="Group 19"/>
          <p:cNvGrpSpPr/>
          <p:nvPr/>
        </p:nvGrpSpPr>
        <p:grpSpPr>
          <a:xfrm>
            <a:off x="-1298333" y="2066675"/>
            <a:ext cx="828000" cy="828000"/>
            <a:chOff x="-846043" y="2028997"/>
            <a:chExt cx="828000" cy="828000"/>
          </a:xfrm>
          <a:solidFill>
            <a:schemeClr val="bg1"/>
          </a:solidFill>
        </p:grpSpPr>
        <p:sp>
          <p:nvSpPr>
            <p:cNvPr id="21" name="Oval 2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3" name="Freeform 22"/>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4" name="Rectangle 23"/>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pic>
        <p:nvPicPr>
          <p:cNvPr id="132" name="Picture 131" descr="image67">
            <a:extLst>
              <a:ext uri="{FF2B5EF4-FFF2-40B4-BE49-F238E27FC236}">
                <a16:creationId xmlns:a16="http://schemas.microsoft.com/office/drawing/2014/main" id="{F22CBE66-336B-4A13-BFF6-13965F9176E5}"/>
              </a:ext>
            </a:extLst>
          </p:cNvPr>
          <p:cNvPicPr/>
          <p:nvPr/>
        </p:nvPicPr>
        <p:blipFill>
          <a:blip r:embed="rId12"/>
          <a:stretch>
            <a:fillRect/>
          </a:stretch>
        </p:blipFill>
        <p:spPr>
          <a:xfrm>
            <a:off x="6812280" y="914400"/>
            <a:ext cx="4937760" cy="2331720"/>
          </a:xfrm>
          <a:prstGeom prst="rect">
            <a:avLst/>
          </a:prstGeom>
          <a:effectLst>
            <a:outerShdw blurRad="50800" dist="50800" dir="5400000" algn="ctr" rotWithShape="0">
              <a:srgbClr val="97D2FF"/>
            </a:outerShdw>
          </a:effectLst>
          <a:ln w="12700">
            <a:solidFill>
              <a:srgbClr val="BFBFBF"/>
            </a:solidFill>
          </a:ln>
        </p:spPr>
      </p:pic>
      <p:sp>
        <p:nvSpPr>
          <p:cNvPr id="133" name="TextBox 132"/>
          <p:cNvSpPr txBox="1"/>
          <p:nvPr/>
        </p:nvSpPr>
        <p:spPr>
          <a:xfrm>
            <a:off x="1463040" y="3977640"/>
            <a:ext cx="5394960" cy="461665"/>
          </a:xfrm>
          <a:prstGeom prst="rect">
            <a:avLst/>
          </a:prstGeom>
          <a:noFill/>
        </p:spPr>
        <p:txBody>
          <a:bodyPr wrap="square" rtlCol="0">
            <a:spAutoFit/>
          </a:bodyPr>
          <a:lstStyle/>
          <a:p>
            <a:r>
              <a:rPr lang="fr-FR" sz="2400">
                <a:latin typeface="Times New Roman" panose="02020603050405020304" pitchFamily="18" charset="0"/>
                <a:cs typeface="Times New Roman" panose="02020603050405020304" pitchFamily="18" charset="0"/>
              </a:rPr>
              <a:t>Architecture physique (déploiement)</a:t>
            </a:r>
          </a:p>
        </p:txBody>
      </p:sp>
      <p:sp>
        <p:nvSpPr>
          <p:cNvPr id="134" name="TextBox 133"/>
          <p:cNvSpPr txBox="1"/>
          <p:nvPr/>
        </p:nvSpPr>
        <p:spPr>
          <a:xfrm>
            <a:off x="6949440" y="3429000"/>
            <a:ext cx="4663440" cy="461665"/>
          </a:xfrm>
          <a:prstGeom prst="rect">
            <a:avLst/>
          </a:prstGeom>
          <a:noFill/>
        </p:spPr>
        <p:txBody>
          <a:bodyPr wrap="square" rtlCol="0">
            <a:spAutoFit/>
          </a:bodyPr>
          <a:lstStyle/>
          <a:p>
            <a:r>
              <a:rPr lang="fr-FR" sz="2400">
                <a:latin typeface="Times New Roman" panose="02020603050405020304" pitchFamily="18" charset="0"/>
                <a:cs typeface="Times New Roman" panose="02020603050405020304" pitchFamily="18" charset="0"/>
              </a:rPr>
              <a:t>Architecture logique (composants)</a:t>
            </a:r>
          </a:p>
        </p:txBody>
      </p:sp>
      <p:pic>
        <p:nvPicPr>
          <p:cNvPr id="26" name="Picture 25" descr="image63">
            <a:extLst>
              <a:ext uri="{FF2B5EF4-FFF2-40B4-BE49-F238E27FC236}">
                <a16:creationId xmlns:a16="http://schemas.microsoft.com/office/drawing/2014/main" id="{6C70954A-E0D5-9B80-1560-12EB055522BA}"/>
              </a:ext>
            </a:extLst>
          </p:cNvPr>
          <p:cNvPicPr>
            <a:picLocks noChangeAspect="1"/>
          </p:cNvPicPr>
          <p:nvPr/>
        </p:nvPicPr>
        <p:blipFill>
          <a:blip r:embed="rId11"/>
          <a:stretch>
            <a:fillRect/>
          </a:stretch>
        </p:blipFill>
        <p:spPr>
          <a:xfrm>
            <a:off x="2194560" y="457200"/>
            <a:ext cx="3886200" cy="3383280"/>
          </a:xfrm>
          <a:prstGeom prst="rect">
            <a:avLst/>
          </a:prstGeom>
          <a:ln w="12700">
            <a:solidFill>
              <a:srgbClr val="BFBFBF"/>
            </a:solidFill>
          </a:ln>
        </p:spPr>
      </p:pic>
      <p:sp>
        <p:nvSpPr>
          <p:cNvPr id="135" name="Couches 135"/>
          <p:cNvSpPr/>
          <p:nvPr/>
        </p:nvSpPr>
        <p:spPr>
          <a:xfrm>
            <a:off x="1737360" y="4800600"/>
            <a:ext cx="7863840" cy="1051560"/>
          </a:xfrm>
          <a:prstGeom prst="roundRect">
            <a:avLst>
              <a:gd name="adj" fmla="val 12000"/>
            </a:avLst>
          </a:prstGeom>
          <a:solidFill>
            <a:srgbClr val="FFFFFF"/>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ctr">
              <a:spcAft>
                <a:spcPts val="0"/>
              </a:spcAft>
              <a:buNone/>
            </a:pPr>
            <a:r>
              <a:rPr lang="fr-FR" sz="1600" b="1" i="0">
                <a:solidFill>
                  <a:srgbClr val="1F3864"/>
                </a:solidFill>
                <a:latin typeface="Calibri"/>
                <a:cs typeface="Calibri"/>
              </a:rPr>
              <a:t>Architecture en 3 couches</a:t>
            </a:r>
          </a:p>
          <a:p>
            <a:pPr algn="ctr">
              <a:spcAft>
                <a:spcPts val="0"/>
              </a:spcAft>
              <a:buNone/>
            </a:pPr>
            <a:r>
              <a:rPr lang="fr-FR" sz="1400" b="1" i="0">
                <a:solidFill>
                  <a:srgbClr val="1F3864"/>
                </a:solidFill>
                <a:latin typeface="Calibri"/>
                <a:cs typeface="Calibri"/>
              </a:rPr>
              <a:t>Présentation : </a:t>
            </a:r>
            <a:r>
              <a:rPr lang="fr-FR" sz="1400" b="0" i="0">
                <a:solidFill>
                  <a:srgbClr val="1F3864"/>
                </a:solidFill>
                <a:latin typeface="Calibri"/>
                <a:cs typeface="Calibri"/>
              </a:rPr>
              <a:t>React + TypeScript   •   </a:t>
            </a:r>
            <a:r>
              <a:rPr lang="fr-FR" sz="1400" b="1" i="0">
                <a:solidFill>
                  <a:srgbClr val="1F3864"/>
                </a:solidFill>
                <a:latin typeface="Calibri"/>
                <a:cs typeface="Calibri"/>
              </a:rPr>
              <a:t>Métier : </a:t>
            </a:r>
            <a:r>
              <a:rPr lang="fr-FR" sz="1400" b="0" i="0">
                <a:solidFill>
                  <a:srgbClr val="1F3864"/>
                </a:solidFill>
                <a:latin typeface="Calibri"/>
                <a:cs typeface="Calibri"/>
              </a:rPr>
              <a:t>Django REST + module IA   •   </a:t>
            </a:r>
            <a:r>
              <a:rPr lang="fr-FR" sz="1400" b="1" i="0">
                <a:solidFill>
                  <a:srgbClr val="1F3864"/>
                </a:solidFill>
                <a:latin typeface="Calibri"/>
                <a:cs typeface="Calibri"/>
              </a:rPr>
              <a:t>Données : </a:t>
            </a:r>
            <a:r>
              <a:rPr lang="fr-FR" sz="1400" b="0" i="0">
                <a:solidFill>
                  <a:srgbClr val="1F3864"/>
                </a:solidFill>
                <a:latin typeface="Calibri"/>
                <a:cs typeface="Calibri"/>
              </a:rPr>
              <a:t>PostgreSQL</a:t>
            </a:r>
          </a:p>
        </p:txBody>
      </p:sp>
    </p:spTree>
    <p:extLst>
      <p:ext uri="{BB962C8B-B14F-4D97-AF65-F5344CB8AC3E}">
        <p14:creationId xmlns:p14="http://schemas.microsoft.com/office/powerpoint/2010/main" val="10750646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anim calcmode="lin" valueType="num">
                                      <p:cBhvr>
                                        <p:cTn id="8" dur="1000" fill="hold"/>
                                        <p:tgtEl>
                                          <p:spTgt spid="132"/>
                                        </p:tgtEl>
                                        <p:attrNameLst>
                                          <p:attrName>ppt_x</p:attrName>
                                        </p:attrNameLst>
                                      </p:cBhvr>
                                      <p:tavLst>
                                        <p:tav tm="0">
                                          <p:val>
                                            <p:strVal val="#ppt_x"/>
                                          </p:val>
                                        </p:tav>
                                        <p:tav tm="100000">
                                          <p:val>
                                            <p:strVal val="#ppt_x"/>
                                          </p:val>
                                        </p:tav>
                                      </p:tavLst>
                                    </p:anim>
                                    <p:anim calcmode="lin" valueType="num">
                                      <p:cBhvr>
                                        <p:cTn id="9" dur="1000" fill="hold"/>
                                        <p:tgtEl>
                                          <p:spTgt spid="13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fade">
                                      <p:cBhvr>
                                        <p:cTn id="17" dur="1000"/>
                                        <p:tgtEl>
                                          <p:spTgt spid="133"/>
                                        </p:tgtEl>
                                      </p:cBhvr>
                                    </p:animEffect>
                                    <p:anim calcmode="lin" valueType="num">
                                      <p:cBhvr>
                                        <p:cTn id="18" dur="1000" fill="hold"/>
                                        <p:tgtEl>
                                          <p:spTgt spid="133"/>
                                        </p:tgtEl>
                                        <p:attrNameLst>
                                          <p:attrName>ppt_x</p:attrName>
                                        </p:attrNameLst>
                                      </p:cBhvr>
                                      <p:tavLst>
                                        <p:tav tm="0">
                                          <p:val>
                                            <p:strVal val="#ppt_x"/>
                                          </p:val>
                                        </p:tav>
                                        <p:tav tm="100000">
                                          <p:val>
                                            <p:strVal val="#ppt_x"/>
                                          </p:val>
                                        </p:tav>
                                      </p:tavLst>
                                    </p:anim>
                                    <p:anim calcmode="lin" valueType="num">
                                      <p:cBhvr>
                                        <p:cTn id="19" dur="1000" fill="hold"/>
                                        <p:tgtEl>
                                          <p:spTgt spid="13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fade">
                                      <p:cBhvr>
                                        <p:cTn id="22" dur="1000"/>
                                        <p:tgtEl>
                                          <p:spTgt spid="134"/>
                                        </p:tgtEl>
                                      </p:cBhvr>
                                    </p:animEffect>
                                    <p:anim calcmode="lin" valueType="num">
                                      <p:cBhvr>
                                        <p:cTn id="23" dur="1000" fill="hold"/>
                                        <p:tgtEl>
                                          <p:spTgt spid="134"/>
                                        </p:tgtEl>
                                        <p:attrNameLst>
                                          <p:attrName>ppt_x</p:attrName>
                                        </p:attrNameLst>
                                      </p:cBhvr>
                                      <p:tavLst>
                                        <p:tav tm="0">
                                          <p:val>
                                            <p:strVal val="#ppt_x"/>
                                          </p:val>
                                        </p:tav>
                                        <p:tav tm="100000">
                                          <p:val>
                                            <p:strVal val="#ppt_x"/>
                                          </p:val>
                                        </p:tav>
                                      </p:tavLst>
                                    </p:anim>
                                    <p:anim calcmode="lin" valueType="num">
                                      <p:cBhvr>
                                        <p:cTn id="24" dur="1000" fill="hold"/>
                                        <p:tgtEl>
                                          <p:spTgt spid="13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5"/>
                                        </p:tgtEl>
                                        <p:attrNameLst>
                                          <p:attrName>style.visibility</p:attrName>
                                        </p:attrNameLst>
                                      </p:cBhvr>
                                      <p:to>
                                        <p:strVal val="visible"/>
                                      </p:to>
                                    </p:set>
                                    <p:animEffect transition="in" filter="fade">
                                      <p:cBhvr>
                                        <p:cTn id="29" dur="6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P spid="13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1408220" y="3959039"/>
            <a:ext cx="828000" cy="828000"/>
            <a:chOff x="-846043" y="3948343"/>
            <a:chExt cx="828000" cy="828000"/>
          </a:xfrm>
        </p:grpSpPr>
        <p:sp>
          <p:nvSpPr>
            <p:cNvPr id="3" name="Oval 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5" name="Group 4"/>
          <p:cNvGrpSpPr/>
          <p:nvPr/>
        </p:nvGrpSpPr>
        <p:grpSpPr>
          <a:xfrm>
            <a:off x="558237" y="2782945"/>
            <a:ext cx="828000" cy="828000"/>
            <a:chOff x="-846043" y="2989694"/>
            <a:chExt cx="828000" cy="828000"/>
          </a:xfrm>
        </p:grpSpPr>
        <p:sp>
          <p:nvSpPr>
            <p:cNvPr id="6" name="Oval 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8" name="Group 7"/>
          <p:cNvGrpSpPr/>
          <p:nvPr/>
        </p:nvGrpSpPr>
        <p:grpSpPr>
          <a:xfrm>
            <a:off x="-1390177" y="4921682"/>
            <a:ext cx="828000" cy="828000"/>
            <a:chOff x="-828000" y="4906992"/>
            <a:chExt cx="828000" cy="828000"/>
          </a:xfrm>
        </p:grpSpPr>
        <p:sp>
          <p:nvSpPr>
            <p:cNvPr id="9" name="Oval 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11" name="Group 10"/>
          <p:cNvGrpSpPr/>
          <p:nvPr/>
        </p:nvGrpSpPr>
        <p:grpSpPr>
          <a:xfrm>
            <a:off x="-1298334" y="1119907"/>
            <a:ext cx="828000" cy="828000"/>
            <a:chOff x="-846043" y="1075146"/>
            <a:chExt cx="828000" cy="828000"/>
          </a:xfrm>
        </p:grpSpPr>
        <p:sp>
          <p:nvSpPr>
            <p:cNvPr id="12" name="Oval 1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14" name="Group 13"/>
          <p:cNvGrpSpPr/>
          <p:nvPr/>
        </p:nvGrpSpPr>
        <p:grpSpPr>
          <a:xfrm>
            <a:off x="-1163117" y="75320"/>
            <a:ext cx="828000" cy="828000"/>
            <a:chOff x="-846043" y="136827"/>
            <a:chExt cx="828000" cy="828000"/>
          </a:xfrm>
        </p:grpSpPr>
        <p:sp>
          <p:nvSpPr>
            <p:cNvPr id="15" name="Oval 1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17" name="Group 16"/>
          <p:cNvGrpSpPr/>
          <p:nvPr/>
        </p:nvGrpSpPr>
        <p:grpSpPr>
          <a:xfrm>
            <a:off x="-1408220" y="5884325"/>
            <a:ext cx="828000" cy="828000"/>
            <a:chOff x="-828000" y="5845311"/>
            <a:chExt cx="828000" cy="828000"/>
          </a:xfrm>
        </p:grpSpPr>
        <p:sp>
          <p:nvSpPr>
            <p:cNvPr id="18" name="Oval 1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20" name="Group 19"/>
          <p:cNvGrpSpPr/>
          <p:nvPr/>
        </p:nvGrpSpPr>
        <p:grpSpPr>
          <a:xfrm>
            <a:off x="-1298333" y="2066675"/>
            <a:ext cx="828000" cy="828000"/>
            <a:chOff x="-846043" y="2028997"/>
            <a:chExt cx="828000" cy="828000"/>
          </a:xfrm>
          <a:solidFill>
            <a:schemeClr val="bg1"/>
          </a:solidFill>
        </p:grpSpPr>
        <p:sp>
          <p:nvSpPr>
            <p:cNvPr id="21" name="Oval 2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23" name="Freeform 22"/>
          <p:cNvSpPr/>
          <p:nvPr/>
        </p:nvSpPr>
        <p:spPr>
          <a:xfrm>
            <a:off x="-73481" y="-7887559"/>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4" name="Rectangle 23"/>
          <p:cNvSpPr/>
          <p:nvPr/>
        </p:nvSpPr>
        <p:spPr>
          <a:xfrm rot="16200000">
            <a:off x="-310378" y="5074106"/>
            <a:ext cx="217239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METHODOLOGIE</a:t>
            </a:r>
          </a:p>
        </p:txBody>
      </p:sp>
      <p:sp>
        <p:nvSpPr>
          <p:cNvPr id="29" name="TextBox 28"/>
          <p:cNvSpPr txBox="1"/>
          <p:nvPr/>
        </p:nvSpPr>
        <p:spPr>
          <a:xfrm>
            <a:off x="4765729" y="375677"/>
            <a:ext cx="3257549" cy="523220"/>
          </a:xfrm>
          <a:prstGeom prst="rect">
            <a:avLst/>
          </a:prstGeom>
          <a:noFill/>
        </p:spPr>
        <p:txBody>
          <a:bodyPr wrap="square" rtlCol="0">
            <a:spAutoFit/>
          </a:bodyPr>
          <a:lstStyle/>
          <a:p>
            <a:r>
              <a:rPr lang="fr-FR" sz="2800" b="1">
                <a:latin typeface="Times New Roman" panose="02020603050405020304" pitchFamily="18" charset="0"/>
                <a:cs typeface="Times New Roman" panose="02020603050405020304" pitchFamily="18" charset="0"/>
              </a:rPr>
              <a:t>OUTILS UTILISÉS</a:t>
            </a:r>
          </a:p>
        </p:txBody>
      </p:sp>
      <p:pic>
        <p:nvPicPr>
          <p:cNvPr id="31" name="Image 3" descr="github">
            <a:extLst>
              <a:ext uri="{FF2B5EF4-FFF2-40B4-BE49-F238E27FC236}">
                <a16:creationId xmlns:a16="http://schemas.microsoft.com/office/drawing/2014/main" id="{4D8D2990-64ED-46CD-8A38-FBA98AD13B40}"/>
              </a:ext>
            </a:extLst>
          </p:cNvPr>
          <p:cNvPicPr>
            <a:picLocks noChangeAspect="1"/>
          </p:cNvPicPr>
          <p:nvPr/>
        </p:nvPicPr>
        <p:blipFill rotWithShape="1">
          <a:blip r:embed="rId26"/>
          <a:stretch/>
        </p:blipFill>
        <p:spPr>
          <a:xfrm>
            <a:off x="5715000" y="4526280"/>
            <a:ext cx="1463040" cy="1463040"/>
          </a:xfrm>
          <a:prstGeom prst="rect">
            <a:avLst/>
          </a:prstGeom>
        </p:spPr>
      </p:pic>
      <p:pic>
        <p:nvPicPr>
          <p:cNvPr id="35" name="Image 51" descr="react">
            <a:extLst>
              <a:ext uri="{FF2B5EF4-FFF2-40B4-BE49-F238E27FC236}">
                <a16:creationId xmlns:a16="http://schemas.microsoft.com/office/drawing/2014/main" id="{53DE23E7-ED28-4441-886B-257080FC55B7}"/>
              </a:ext>
            </a:extLst>
          </p:cNvPr>
          <p:cNvPicPr/>
          <p:nvPr/>
        </p:nvPicPr>
        <p:blipFill>
          <a:blip r:embed="rId18" cstate="print"/>
          <a:stretch>
            <a:fillRect/>
          </a:stretch>
        </p:blipFill>
        <p:spPr bwMode="auto">
          <a:xfrm>
            <a:off x="1965960" y="1143000"/>
            <a:ext cx="1463040" cy="1463040"/>
          </a:xfrm>
          <a:prstGeom prst="rect">
            <a:avLst/>
          </a:prstGeom>
          <a:noFill/>
        </p:spPr>
      </p:pic>
      <p:pic>
        <p:nvPicPr>
          <p:cNvPr id="36" name="Image 50" descr="typescript">
            <a:extLst>
              <a:ext uri="{FF2B5EF4-FFF2-40B4-BE49-F238E27FC236}">
                <a16:creationId xmlns:a16="http://schemas.microsoft.com/office/drawing/2014/main" id="{B11EEA47-9DE1-43C0-91A2-38AD00CDD191}"/>
              </a:ext>
            </a:extLst>
          </p:cNvPr>
          <p:cNvPicPr/>
          <p:nvPr/>
        </p:nvPicPr>
        <p:blipFill>
          <a:blip r:embed="rId19" cstate="print"/>
          <a:stretch>
            <a:fillRect/>
          </a:stretch>
        </p:blipFill>
        <p:spPr bwMode="auto">
          <a:xfrm>
            <a:off x="3840480" y="1143000"/>
            <a:ext cx="1463040" cy="1463040"/>
          </a:xfrm>
          <a:prstGeom prst="rect">
            <a:avLst/>
          </a:prstGeom>
          <a:noFill/>
        </p:spPr>
      </p:pic>
      <p:pic>
        <p:nvPicPr>
          <p:cNvPr id="37" name="Picture 18" descr="tailwindcss">
            <a:extLst>
              <a:ext uri="{FF2B5EF4-FFF2-40B4-BE49-F238E27FC236}">
                <a16:creationId xmlns:a16="http://schemas.microsoft.com/office/drawing/2014/main" id="{21EC9944-6F2A-4562-B145-8FC5C9EA37B5}"/>
              </a:ext>
            </a:extLst>
          </p:cNvPr>
          <p:cNvPicPr>
            <a:picLocks noChangeAspect="1" noChangeArrowheads="1"/>
          </p:cNvPicPr>
          <p:nvPr/>
        </p:nvPicPr>
        <p:blipFill>
          <a:blip r:embed="rId21"/>
          <a:stretch>
            <a:fillRect/>
          </a:stretch>
        </p:blipFill>
        <p:spPr bwMode="auto">
          <a:xfrm>
            <a:off x="1965960" y="2834640"/>
            <a:ext cx="1463040" cy="146304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python">
            <a:extLst>
              <a:ext uri="{FF2B5EF4-FFF2-40B4-BE49-F238E27FC236}">
                <a16:creationId xmlns:a16="http://schemas.microsoft.com/office/drawing/2014/main" id="{AD49976E-257E-49C6-B2F9-0EF03919D4C0}"/>
              </a:ext>
            </a:extLst>
          </p:cNvPr>
          <p:cNvPicPr/>
          <p:nvPr/>
        </p:nvPicPr>
        <p:blipFill>
          <a:blip r:embed="rId23"/>
          <a:stretch>
            <a:fillRect/>
          </a:stretch>
        </p:blipFill>
        <p:spPr>
          <a:xfrm>
            <a:off x="5715000" y="2834640"/>
            <a:ext cx="1463040" cy="1463040"/>
          </a:xfrm>
          <a:prstGeom prst="rect">
            <a:avLst/>
          </a:prstGeom>
        </p:spPr>
      </p:pic>
      <p:pic>
        <p:nvPicPr>
          <p:cNvPr id="40" name="Picture 39" descr="django">
            <a:extLst>
              <a:ext uri="{FF2B5EF4-FFF2-40B4-BE49-F238E27FC236}">
                <a16:creationId xmlns:a16="http://schemas.microsoft.com/office/drawing/2014/main" id="{9996F87F-65FF-4CD0-A2AD-B1FC62A37E5C}"/>
              </a:ext>
            </a:extLst>
          </p:cNvPr>
          <p:cNvPicPr/>
          <p:nvPr/>
        </p:nvPicPr>
        <p:blipFill>
          <a:blip r:embed="rId22"/>
          <a:stretch>
            <a:fillRect/>
          </a:stretch>
        </p:blipFill>
        <p:spPr>
          <a:xfrm>
            <a:off x="3840480" y="2834640"/>
            <a:ext cx="1463040" cy="1463040"/>
          </a:xfrm>
          <a:prstGeom prst="rect">
            <a:avLst/>
          </a:prstGeom>
        </p:spPr>
      </p:pic>
      <p:pic>
        <p:nvPicPr>
          <p:cNvPr id="3074" name="Picture 2" descr="Girl Showing GIF by Books Mandala"/>
          <p:cNvPicPr>
            <a:picLocks noChangeAspect="1" noChangeArrowheads="1" noCrop="1"/>
          </p:cNvPicPr>
          <p:nvPr/>
        </p:nvPicPr>
        <p:blipFill>
          <a:blip r:embed="rId15">
            <a:extLst>
              <a:ext uri="{28A0092B-C50C-407E-A947-70E740481C1C}">
                <a14:useLocalDpi xmlns:a14="http://schemas.microsoft.com/office/drawing/2010/main" val="0"/>
              </a:ext>
            </a:extLst>
          </a:blip>
          <a:srcRect/>
          <a:stretch>
            <a:fillRect/>
          </a:stretch>
        </p:blipFill>
        <p:spPr bwMode="auto">
          <a:xfrm>
            <a:off x="8189238" y="1324945"/>
            <a:ext cx="3257550" cy="45720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postgresql">
            <a:extLst>
              <a:ext uri="{FF2B5EF4-FFF2-40B4-BE49-F238E27FC236}">
                <a16:creationId xmlns:a16="http://schemas.microsoft.com/office/drawing/2014/main" id="{202CE961-4A80-3738-AB67-4FC9E5A222D8}"/>
              </a:ext>
            </a:extLst>
          </p:cNvPr>
          <p:cNvPicPr>
            <a:picLocks noChangeAspect="1"/>
          </p:cNvPicPr>
          <p:nvPr/>
        </p:nvPicPr>
        <p:blipFill>
          <a:blip r:embed="rId24" cstate="print"/>
          <a:stretch>
            <a:fillRect/>
          </a:stretch>
        </p:blipFill>
        <p:spPr>
          <a:xfrm>
            <a:off x="1965960" y="4526280"/>
            <a:ext cx="1463040" cy="1463040"/>
          </a:xfrm>
          <a:prstGeom prst="rect">
            <a:avLst/>
          </a:prstGeom>
        </p:spPr>
      </p:pic>
      <p:pic>
        <p:nvPicPr>
          <p:cNvPr id="43" name="Picture 42" descr="git">
            <a:extLst>
              <a:ext uri="{FF2B5EF4-FFF2-40B4-BE49-F238E27FC236}">
                <a16:creationId xmlns:a16="http://schemas.microsoft.com/office/drawing/2014/main" id="{4F6016B2-A515-0D11-74A2-F15C767EEDBE}"/>
              </a:ext>
            </a:extLst>
          </p:cNvPr>
          <p:cNvPicPr>
            <a:picLocks noChangeAspect="1"/>
          </p:cNvPicPr>
          <p:nvPr/>
        </p:nvPicPr>
        <p:blipFill>
          <a:blip r:embed="rId25" cstate="print"/>
          <a:stretch>
            <a:fillRect/>
          </a:stretch>
        </p:blipFill>
        <p:spPr>
          <a:xfrm>
            <a:off x="3840480" y="4526280"/>
            <a:ext cx="1463040" cy="1463040"/>
          </a:xfrm>
          <a:prstGeom prst="rect">
            <a:avLst/>
          </a:prstGeom>
        </p:spPr>
      </p:pic>
      <p:pic>
        <p:nvPicPr>
          <p:cNvPr id="3075" name="vite 3075" descr="vite"/>
          <p:cNvPicPr>
            <a:picLocks noChangeAspect="1"/>
          </p:cNvPicPr>
          <p:nvPr/>
        </p:nvPicPr>
        <p:blipFill>
          <a:blip r:embed="rId20"/>
          <a:stretch>
            <a:fillRect/>
          </a:stretch>
        </p:blipFill>
        <p:spPr>
          <a:xfrm>
            <a:off x="5715000" y="1143000"/>
            <a:ext cx="1463040" cy="1463040"/>
          </a:xfrm>
          <a:prstGeom prst="rect">
            <a:avLst/>
          </a:prstGeom>
        </p:spPr>
      </p:pic>
    </p:spTree>
    <p:extLst>
      <p:ext uri="{BB962C8B-B14F-4D97-AF65-F5344CB8AC3E}">
        <p14:creationId xmlns:p14="http://schemas.microsoft.com/office/powerpoint/2010/main" val="5564553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16" presetClass="entr" presetSubtype="21"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barn(inVertical)">
                                      <p:cBhvr>
                                        <p:cTn id="10" dur="500"/>
                                        <p:tgtEl>
                                          <p:spTgt spid="36"/>
                                        </p:tgtEl>
                                      </p:cBhvr>
                                    </p:animEffect>
                                  </p:childTnLst>
                                </p:cTn>
                              </p:par>
                              <p:par>
                                <p:cTn id="11" presetID="16" presetClass="entr" presetSubtype="21"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barn(inVertical)">
                                      <p:cBhvr>
                                        <p:cTn id="13" dur="500"/>
                                        <p:tgtEl>
                                          <p:spTgt spid="37"/>
                                        </p:tgtEl>
                                      </p:cBhvr>
                                    </p:animEffect>
                                  </p:childTnLst>
                                </p:cTn>
                              </p:par>
                              <p:par>
                                <p:cTn id="40" presetID="10" presetClass="entr" presetSubtype="0" fill="hold" nodeType="withEffect">
                                  <p:stCondLst>
                                    <p:cond delay="200"/>
                                  </p:stCondLst>
                                  <p:childTnLst>
                                    <p:set>
                                      <p:cBhvr>
                                        <p:cTn id="41" dur="1" fill="hold">
                                          <p:stCondLst>
                                            <p:cond delay="0"/>
                                          </p:stCondLst>
                                        </p:cTn>
                                        <p:tgtEl>
                                          <p:spTgt spid="3075"/>
                                        </p:tgtEl>
                                        <p:attrNameLst>
                                          <p:attrName>style.visibility</p:attrName>
                                        </p:attrNameLst>
                                      </p:cBhvr>
                                      <p:to>
                                        <p:strVal val="visible"/>
                                      </p:to>
                                    </p:set>
                                    <p:animEffect transition="in" filter="fade">
                                      <p:cBhvr>
                                        <p:cTn id="42" dur="600"/>
                                        <p:tgtEl>
                                          <p:spTgt spid="30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down)">
                                      <p:cBhvr>
                                        <p:cTn id="18" dur="500"/>
                                        <p:tgtEl>
                                          <p:spTgt spid="40"/>
                                        </p:tgtEl>
                                      </p:cBhvr>
                                    </p:animEffect>
                                  </p:childTnLst>
                                </p:cTn>
                              </p:par>
                              <p:par>
                                <p:cTn id="19" presetID="22" presetClass="entr" presetSubtype="4"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p:cTn id="26" dur="1000" fill="hold"/>
                                        <p:tgtEl>
                                          <p:spTgt spid="31"/>
                                        </p:tgtEl>
                                        <p:attrNameLst>
                                          <p:attrName>ppt_w</p:attrName>
                                        </p:attrNameLst>
                                      </p:cBhvr>
                                      <p:tavLst>
                                        <p:tav tm="0">
                                          <p:val>
                                            <p:fltVal val="0"/>
                                          </p:val>
                                        </p:tav>
                                        <p:tav tm="100000">
                                          <p:val>
                                            <p:strVal val="#ppt_w"/>
                                          </p:val>
                                        </p:tav>
                                      </p:tavLst>
                                    </p:anim>
                                    <p:anim calcmode="lin" valueType="num">
                                      <p:cBhvr>
                                        <p:cTn id="27" dur="1000" fill="hold"/>
                                        <p:tgtEl>
                                          <p:spTgt spid="31"/>
                                        </p:tgtEl>
                                        <p:attrNameLst>
                                          <p:attrName>ppt_h</p:attrName>
                                        </p:attrNameLst>
                                      </p:cBhvr>
                                      <p:tavLst>
                                        <p:tav tm="0">
                                          <p:val>
                                            <p:fltVal val="0"/>
                                          </p:val>
                                        </p:tav>
                                        <p:tav tm="100000">
                                          <p:val>
                                            <p:strVal val="#ppt_h"/>
                                          </p:val>
                                        </p:tav>
                                      </p:tavLst>
                                    </p:anim>
                                    <p:anim calcmode="lin" valueType="num">
                                      <p:cBhvr>
                                        <p:cTn id="28" dur="1000" fill="hold"/>
                                        <p:tgtEl>
                                          <p:spTgt spid="31"/>
                                        </p:tgtEl>
                                        <p:attrNameLst>
                                          <p:attrName>style.rotation</p:attrName>
                                        </p:attrNameLst>
                                      </p:cBhvr>
                                      <p:tavLst>
                                        <p:tav tm="0">
                                          <p:val>
                                            <p:fltVal val="90"/>
                                          </p:val>
                                        </p:tav>
                                        <p:tav tm="100000">
                                          <p:val>
                                            <p:fltVal val="0"/>
                                          </p:val>
                                        </p:tav>
                                      </p:tavLst>
                                    </p:anim>
                                    <p:animEffect transition="in" filter="fade">
                                      <p:cBhvr>
                                        <p:cTn id="29" dur="10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barn(inVertical)">
                                      <p:cBhvr>
                                        <p:cTn id="34" dur="500"/>
                                        <p:tgtEl>
                                          <p:spTgt spid="42"/>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circle(in)">
                                      <p:cBhvr>
                                        <p:cTn id="39"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p:cNvGrpSpPr/>
          <p:nvPr/>
        </p:nvGrpSpPr>
        <p:grpSpPr>
          <a:xfrm>
            <a:off x="589401" y="3959039"/>
            <a:ext cx="828000" cy="828000"/>
            <a:chOff x="-846043" y="3948343"/>
            <a:chExt cx="828000" cy="828000"/>
          </a:xfrm>
        </p:grpSpPr>
        <p:sp>
          <p:nvSpPr>
            <p:cNvPr id="36" name="Oval 3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7" name="Picture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8" name="Group 37"/>
          <p:cNvGrpSpPr/>
          <p:nvPr/>
        </p:nvGrpSpPr>
        <p:grpSpPr>
          <a:xfrm>
            <a:off x="-1329277" y="2996396"/>
            <a:ext cx="828000" cy="828000"/>
            <a:chOff x="-846043" y="2989694"/>
            <a:chExt cx="828000" cy="828000"/>
          </a:xfrm>
        </p:grpSpPr>
        <p:sp>
          <p:nvSpPr>
            <p:cNvPr id="39" name="Oval 3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1" name="Group 40"/>
          <p:cNvGrpSpPr/>
          <p:nvPr/>
        </p:nvGrpSpPr>
        <p:grpSpPr>
          <a:xfrm>
            <a:off x="-1137597" y="4787039"/>
            <a:ext cx="828000" cy="828000"/>
            <a:chOff x="-828000" y="4906992"/>
            <a:chExt cx="828000" cy="828000"/>
          </a:xfrm>
        </p:grpSpPr>
        <p:sp>
          <p:nvSpPr>
            <p:cNvPr id="42" name="Oval 4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3"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4" name="Group 43"/>
          <p:cNvGrpSpPr/>
          <p:nvPr/>
        </p:nvGrpSpPr>
        <p:grpSpPr>
          <a:xfrm>
            <a:off x="-1047437" y="1070997"/>
            <a:ext cx="828000" cy="828000"/>
            <a:chOff x="-846043" y="1075146"/>
            <a:chExt cx="828000" cy="828000"/>
          </a:xfrm>
        </p:grpSpPr>
        <p:sp>
          <p:nvSpPr>
            <p:cNvPr id="45" name="Oval 4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7" name="Group 46"/>
          <p:cNvGrpSpPr/>
          <p:nvPr/>
        </p:nvGrpSpPr>
        <p:grpSpPr>
          <a:xfrm>
            <a:off x="-1163117" y="75320"/>
            <a:ext cx="828000" cy="828000"/>
            <a:chOff x="-846043" y="136827"/>
            <a:chExt cx="828000" cy="828000"/>
          </a:xfrm>
        </p:grpSpPr>
        <p:sp>
          <p:nvSpPr>
            <p:cNvPr id="48" name="Oval 4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9" name="Picture 4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0" name="Group 49"/>
          <p:cNvGrpSpPr/>
          <p:nvPr/>
        </p:nvGrpSpPr>
        <p:grpSpPr>
          <a:xfrm>
            <a:off x="-1408220" y="5884325"/>
            <a:ext cx="828000" cy="828000"/>
            <a:chOff x="-828000" y="5845311"/>
            <a:chExt cx="828000" cy="828000"/>
          </a:xfrm>
        </p:grpSpPr>
        <p:sp>
          <p:nvSpPr>
            <p:cNvPr id="51" name="Oval 5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3" name="Group 52"/>
          <p:cNvGrpSpPr/>
          <p:nvPr/>
        </p:nvGrpSpPr>
        <p:grpSpPr>
          <a:xfrm>
            <a:off x="-1298333" y="2066675"/>
            <a:ext cx="828000" cy="828000"/>
            <a:chOff x="-846043" y="2028997"/>
            <a:chExt cx="828000" cy="828000"/>
          </a:xfrm>
          <a:solidFill>
            <a:schemeClr val="bg1"/>
          </a:solidFill>
        </p:grpSpPr>
        <p:sp>
          <p:nvSpPr>
            <p:cNvPr id="54" name="Oval 5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5" name="Picture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6" name="Freeform 55"/>
          <p:cNvSpPr/>
          <p:nvPr/>
        </p:nvSpPr>
        <p:spPr>
          <a:xfrm>
            <a:off x="-38975" y="-6835136"/>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507340" y="1873393"/>
            <a:ext cx="2512422" cy="369332"/>
          </a:xfrm>
          <a:prstGeom prst="rect">
            <a:avLst/>
          </a:prstGeom>
        </p:spPr>
        <p:txBody>
          <a:bodyPr wrap="square">
            <a:spAutoFit/>
          </a:bodyPr>
          <a:lstStyle/>
          <a:p>
            <a:r>
              <a:rPr lang="fr-FR" b="1">
                <a:latin typeface="Times New Roman" panose="02020603050405020304" pitchFamily="18" charset="0"/>
                <a:cs typeface="Times New Roman" panose="02020603050405020304" pitchFamily="18" charset="0"/>
              </a:rPr>
              <a:t>TESTS ET RÉSULTATS</a:t>
            </a:r>
          </a:p>
        </p:txBody>
      </p:sp>
      <p:sp>
        <p:nvSpPr>
          <p:cNvPr id="3" name="TextBox 2"/>
          <p:cNvSpPr txBox="1"/>
          <p:nvPr/>
        </p:nvSpPr>
        <p:spPr>
          <a:xfrm>
            <a:off x="3068661" y="1466510"/>
            <a:ext cx="6152829" cy="1200329"/>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DEMONSTRATION DE NOTRE APPLICATION</a:t>
            </a:r>
          </a:p>
        </p:txBody>
      </p:sp>
      <p:pic>
        <p:nvPicPr>
          <p:cNvPr id="4" name="Picture 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20418" y="3448382"/>
            <a:ext cx="1849313" cy="1849313"/>
          </a:xfrm>
          <a:prstGeom prst="rect">
            <a:avLst/>
          </a:prstGeom>
        </p:spPr>
      </p:pic>
    </p:spTree>
    <p:extLst>
      <p:ext uri="{BB962C8B-B14F-4D97-AF65-F5344CB8AC3E}">
        <p14:creationId xmlns:p14="http://schemas.microsoft.com/office/powerpoint/2010/main" val="41439818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p:cNvGrpSpPr/>
          <p:nvPr/>
        </p:nvGrpSpPr>
        <p:grpSpPr>
          <a:xfrm>
            <a:off x="589401" y="3959039"/>
            <a:ext cx="828000" cy="828000"/>
            <a:chOff x="-846043" y="3948343"/>
            <a:chExt cx="828000" cy="828000"/>
          </a:xfrm>
        </p:grpSpPr>
        <p:sp>
          <p:nvSpPr>
            <p:cNvPr id="36" name="Oval 3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7" name="Picture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8" name="Group 37"/>
          <p:cNvGrpSpPr/>
          <p:nvPr/>
        </p:nvGrpSpPr>
        <p:grpSpPr>
          <a:xfrm>
            <a:off x="-1329277" y="2996396"/>
            <a:ext cx="828000" cy="828000"/>
            <a:chOff x="-846043" y="2989694"/>
            <a:chExt cx="828000" cy="828000"/>
          </a:xfrm>
        </p:grpSpPr>
        <p:sp>
          <p:nvSpPr>
            <p:cNvPr id="39" name="Oval 3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1" name="Group 40"/>
          <p:cNvGrpSpPr/>
          <p:nvPr/>
        </p:nvGrpSpPr>
        <p:grpSpPr>
          <a:xfrm>
            <a:off x="-1137597" y="4787039"/>
            <a:ext cx="828000" cy="828000"/>
            <a:chOff x="-828000" y="4906992"/>
            <a:chExt cx="828000" cy="828000"/>
          </a:xfrm>
        </p:grpSpPr>
        <p:sp>
          <p:nvSpPr>
            <p:cNvPr id="42" name="Oval 4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3"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4" name="Group 43"/>
          <p:cNvGrpSpPr/>
          <p:nvPr/>
        </p:nvGrpSpPr>
        <p:grpSpPr>
          <a:xfrm>
            <a:off x="-1047437" y="1070997"/>
            <a:ext cx="828000" cy="828000"/>
            <a:chOff x="-846043" y="1075146"/>
            <a:chExt cx="828000" cy="828000"/>
          </a:xfrm>
        </p:grpSpPr>
        <p:sp>
          <p:nvSpPr>
            <p:cNvPr id="45" name="Oval 4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7" name="Group 46"/>
          <p:cNvGrpSpPr/>
          <p:nvPr/>
        </p:nvGrpSpPr>
        <p:grpSpPr>
          <a:xfrm>
            <a:off x="-1163117" y="75320"/>
            <a:ext cx="828000" cy="828000"/>
            <a:chOff x="-846043" y="136827"/>
            <a:chExt cx="828000" cy="828000"/>
          </a:xfrm>
        </p:grpSpPr>
        <p:sp>
          <p:nvSpPr>
            <p:cNvPr id="48" name="Oval 4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9" name="Picture 4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0" name="Group 49"/>
          <p:cNvGrpSpPr/>
          <p:nvPr/>
        </p:nvGrpSpPr>
        <p:grpSpPr>
          <a:xfrm>
            <a:off x="-1408220" y="5884325"/>
            <a:ext cx="828000" cy="828000"/>
            <a:chOff x="-828000" y="5845311"/>
            <a:chExt cx="828000" cy="828000"/>
          </a:xfrm>
        </p:grpSpPr>
        <p:sp>
          <p:nvSpPr>
            <p:cNvPr id="51" name="Oval 5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3" name="Group 52"/>
          <p:cNvGrpSpPr/>
          <p:nvPr/>
        </p:nvGrpSpPr>
        <p:grpSpPr>
          <a:xfrm>
            <a:off x="-1298333" y="2066675"/>
            <a:ext cx="828000" cy="828000"/>
            <a:chOff x="-846043" y="2028997"/>
            <a:chExt cx="828000" cy="828000"/>
          </a:xfrm>
          <a:solidFill>
            <a:schemeClr val="bg1"/>
          </a:solidFill>
        </p:grpSpPr>
        <p:sp>
          <p:nvSpPr>
            <p:cNvPr id="54" name="Oval 5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5" name="Picture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6" name="Freeform 55"/>
          <p:cNvSpPr/>
          <p:nvPr/>
        </p:nvSpPr>
        <p:spPr>
          <a:xfrm>
            <a:off x="-38975" y="-6835136"/>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507340" y="1873393"/>
            <a:ext cx="2512422" cy="369332"/>
          </a:xfrm>
          <a:prstGeom prst="rect">
            <a:avLst/>
          </a:prstGeom>
        </p:spPr>
        <p:txBody>
          <a:bodyPr wrap="square">
            <a:spAutoFit/>
          </a:bodyPr>
          <a:lstStyle/>
          <a:p>
            <a:r>
              <a:rPr lang="fr-FR" b="1">
                <a:latin typeface="Times New Roman" panose="02020603050405020304" pitchFamily="18" charset="0"/>
                <a:cs typeface="Times New Roman" panose="02020603050405020304" pitchFamily="18" charset="0"/>
              </a:rPr>
              <a:t>TESTS ET RÉSULTATS</a:t>
            </a:r>
          </a:p>
        </p:txBody>
      </p:sp>
      <p:sp>
        <p:nvSpPr>
          <p:cNvPr id="3" name="TextBox 2"/>
          <p:cNvSpPr txBox="1"/>
          <p:nvPr/>
        </p:nvSpPr>
        <p:spPr>
          <a:xfrm>
            <a:off x="3068661" y="228600"/>
            <a:ext cx="6152829" cy="822960"/>
          </a:xfrm>
          <a:prstGeom prst="rect">
            <a:avLst/>
          </a:prstGeom>
          <a:noFill/>
        </p:spPr>
        <p:txBody>
          <a:bodyPr wrap="square" rtlCol="0">
            <a:spAutoFit/>
          </a:bodyPr>
          <a:lstStyle/>
          <a:p>
            <a:pPr algn="ctr"/>
            <a:r>
              <a:rPr lang="fr-FR" sz="3600" b="1">
                <a:latin typeface="Times New Roman" panose="02020603050405020304" pitchFamily="18" charset="0"/>
                <a:cs typeface="Times New Roman" panose="02020603050405020304" pitchFamily="18" charset="0"/>
              </a:rPr>
              <a:t>RÉSULTATS DES TESTS</a:t>
            </a:r>
          </a:p>
        </p:txBody>
      </p:sp>
      <p:sp>
        <p:nvSpPr>
          <p:cNvPr id="57" name="Carte test 57"/>
          <p:cNvSpPr/>
          <p:nvPr/>
        </p:nvSpPr>
        <p:spPr>
          <a:xfrm>
            <a:off x="1828800" y="1325880"/>
            <a:ext cx="2377440" cy="1828800"/>
          </a:xfrm>
          <a:prstGeom prst="roundRect">
            <a:avLst>
              <a:gd name="adj" fmla="val 10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58" name="Texte 58"/>
          <p:cNvSpPr txBox="1"/>
          <p:nvPr/>
        </p:nvSpPr>
        <p:spPr>
          <a:xfrm>
            <a:off x="1920240" y="1463040"/>
            <a:ext cx="2194560" cy="1554480"/>
          </a:xfrm>
          <a:prstGeom prst="rect">
            <a:avLst/>
          </a:prstGeom>
          <a:noFill/>
        </p:spPr>
        <p:txBody>
          <a:bodyPr wrap="square" lIns="0" tIns="0" rIns="0" bIns="0" rtlCol="0" anchor="ctr">
            <a:noAutofit/>
          </a:bodyPr>
          <a:lstStyle/>
          <a:p>
            <a:pPr algn="ctr">
              <a:spcAft>
                <a:spcPts val="0"/>
              </a:spcAft>
              <a:buNone/>
            </a:pPr>
            <a:r>
              <a:rPr lang="fr-FR" sz="3000" b="1" i="0">
                <a:solidFill>
                  <a:srgbClr val="2E8B57"/>
                </a:solidFill>
                <a:latin typeface="Calibri"/>
                <a:cs typeface="Calibri"/>
              </a:rPr>
              <a:t>11 / 11</a:t>
            </a:r>
          </a:p>
          <a:p>
            <a:pPr algn="ctr">
              <a:spcAft>
                <a:spcPts val="0"/>
              </a:spcAft>
              <a:buNone/>
            </a:pPr>
            <a:r>
              <a:rPr lang="fr-FR" sz="1400" b="0" i="0">
                <a:solidFill>
                  <a:srgbClr val="1F3864"/>
                </a:solidFill>
                <a:latin typeface="Calibri"/>
                <a:cs typeface="Calibri"/>
              </a:rPr>
              <a:t>tests fonctionnels réussis</a:t>
            </a:r>
          </a:p>
        </p:txBody>
      </p:sp>
      <p:sp>
        <p:nvSpPr>
          <p:cNvPr id="59" name="Carte test 59"/>
          <p:cNvSpPr/>
          <p:nvPr/>
        </p:nvSpPr>
        <p:spPr>
          <a:xfrm>
            <a:off x="4434840" y="1325880"/>
            <a:ext cx="2377440" cy="1828800"/>
          </a:xfrm>
          <a:prstGeom prst="roundRect">
            <a:avLst>
              <a:gd name="adj" fmla="val 10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0" name="Texte 60"/>
          <p:cNvSpPr txBox="1"/>
          <p:nvPr/>
        </p:nvSpPr>
        <p:spPr>
          <a:xfrm>
            <a:off x="4526280" y="1463040"/>
            <a:ext cx="2194560" cy="1554480"/>
          </a:xfrm>
          <a:prstGeom prst="rect">
            <a:avLst/>
          </a:prstGeom>
          <a:noFill/>
        </p:spPr>
        <p:txBody>
          <a:bodyPr wrap="square" lIns="0" tIns="0" rIns="0" bIns="0" rtlCol="0" anchor="ctr">
            <a:noAutofit/>
          </a:bodyPr>
          <a:lstStyle/>
          <a:p>
            <a:pPr algn="ctr">
              <a:spcAft>
                <a:spcPts val="0"/>
              </a:spcAft>
              <a:buNone/>
            </a:pPr>
            <a:r>
              <a:rPr lang="fr-FR" sz="3000" b="1" i="0">
                <a:solidFill>
                  <a:srgbClr val="2E8B57"/>
                </a:solidFill>
                <a:latin typeface="Calibri"/>
                <a:cs typeface="Calibri"/>
              </a:rPr>
              <a:t>195 / 195</a:t>
            </a:r>
          </a:p>
          <a:p>
            <a:pPr algn="ctr">
              <a:spcAft>
                <a:spcPts val="0"/>
              </a:spcAft>
              <a:buNone/>
            </a:pPr>
            <a:r>
              <a:rPr lang="fr-FR" sz="1400" b="0" i="0">
                <a:solidFill>
                  <a:srgbClr val="1F3864"/>
                </a:solidFill>
                <a:latin typeface="Calibri"/>
                <a:cs typeface="Calibri"/>
              </a:rPr>
              <a:t>tests automatisés (pytest) réussis</a:t>
            </a:r>
          </a:p>
        </p:txBody>
      </p:sp>
      <p:sp>
        <p:nvSpPr>
          <p:cNvPr id="61" name="Carte test 61"/>
          <p:cNvSpPr/>
          <p:nvPr/>
        </p:nvSpPr>
        <p:spPr>
          <a:xfrm>
            <a:off x="7040880" y="1325880"/>
            <a:ext cx="2377440" cy="1828800"/>
          </a:xfrm>
          <a:prstGeom prst="roundRect">
            <a:avLst>
              <a:gd name="adj" fmla="val 10000"/>
            </a:avLst>
          </a:prstGeom>
          <a:solidFill>
            <a:srgbClr val="EAF3FB"/>
          </a:solidFill>
          <a:ln w="9525">
            <a:solidFill>
              <a:srgbClr val="BDD7EE"/>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sp>
        <p:nvSpPr>
          <p:cNvPr id="62" name="Texte 62"/>
          <p:cNvSpPr txBox="1"/>
          <p:nvPr/>
        </p:nvSpPr>
        <p:spPr>
          <a:xfrm>
            <a:off x="7132320" y="1463040"/>
            <a:ext cx="2194560" cy="1554480"/>
          </a:xfrm>
          <a:prstGeom prst="rect">
            <a:avLst/>
          </a:prstGeom>
          <a:noFill/>
        </p:spPr>
        <p:txBody>
          <a:bodyPr wrap="square" lIns="0" tIns="0" rIns="0" bIns="0" rtlCol="0" anchor="ctr">
            <a:noAutofit/>
          </a:bodyPr>
          <a:lstStyle/>
          <a:p>
            <a:pPr algn="ctr">
              <a:spcAft>
                <a:spcPts val="0"/>
              </a:spcAft>
              <a:buNone/>
            </a:pPr>
            <a:r>
              <a:rPr lang="fr-FR" sz="3000" b="1" i="0">
                <a:solidFill>
                  <a:srgbClr val="2E8B57"/>
                </a:solidFill>
                <a:latin typeface="Calibri"/>
                <a:cs typeface="Calibri"/>
              </a:rPr>
              <a:t>4 / 4</a:t>
            </a:r>
          </a:p>
          <a:p>
            <a:pPr algn="ctr">
              <a:spcAft>
                <a:spcPts val="0"/>
              </a:spcAft>
              <a:buNone/>
            </a:pPr>
            <a:r>
              <a:rPr lang="fr-FR" sz="1400" b="0" i="0">
                <a:solidFill>
                  <a:srgbClr val="1F3864"/>
                </a:solidFill>
                <a:latin typeface="Calibri"/>
                <a:cs typeface="Calibri"/>
              </a:rPr>
              <a:t>fonctions IA validées</a:t>
            </a:r>
          </a:p>
        </p:txBody>
      </p:sp>
      <p:sp>
        <p:nvSpPr>
          <p:cNvPr id="63" name="Puce test 63"/>
          <p:cNvSpPr/>
          <p:nvPr/>
        </p:nvSpPr>
        <p:spPr>
          <a:xfrm>
            <a:off x="1828800" y="352044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Création de compte</a:t>
            </a:r>
          </a:p>
        </p:txBody>
      </p:sp>
      <p:sp>
        <p:nvSpPr>
          <p:cNvPr id="64" name="Puce test 64"/>
          <p:cNvSpPr/>
          <p:nvPr/>
        </p:nvSpPr>
        <p:spPr>
          <a:xfrm>
            <a:off x="3794760" y="352044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Connexion</a:t>
            </a:r>
          </a:p>
        </p:txBody>
      </p:sp>
      <p:sp>
        <p:nvSpPr>
          <p:cNvPr id="65" name="Puce test 65"/>
          <p:cNvSpPr/>
          <p:nvPr/>
        </p:nvSpPr>
        <p:spPr>
          <a:xfrm>
            <a:off x="5760720" y="352044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Dépôt du CV</a:t>
            </a:r>
          </a:p>
        </p:txBody>
      </p:sp>
      <p:sp>
        <p:nvSpPr>
          <p:cNvPr id="66" name="Puce test 66"/>
          <p:cNvSpPr/>
          <p:nvPr/>
        </p:nvSpPr>
        <p:spPr>
          <a:xfrm>
            <a:off x="7726680" y="352044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Analyse du CV</a:t>
            </a:r>
          </a:p>
        </p:txBody>
      </p:sp>
      <p:sp>
        <p:nvSpPr>
          <p:cNvPr id="67" name="Puce test 67"/>
          <p:cNvSpPr/>
          <p:nvPr/>
        </p:nvSpPr>
        <p:spPr>
          <a:xfrm>
            <a:off x="1828800" y="406908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Recherche d'offres</a:t>
            </a:r>
          </a:p>
        </p:txBody>
      </p:sp>
      <p:sp>
        <p:nvSpPr>
          <p:cNvPr id="68" name="Puce test 68"/>
          <p:cNvSpPr/>
          <p:nvPr/>
        </p:nvSpPr>
        <p:spPr>
          <a:xfrm>
            <a:off x="3794760" y="406908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Calcul de compatibilité</a:t>
            </a:r>
          </a:p>
        </p:txBody>
      </p:sp>
      <p:sp>
        <p:nvSpPr>
          <p:cNvPr id="69" name="Puce test 69"/>
          <p:cNvSpPr/>
          <p:nvPr/>
        </p:nvSpPr>
        <p:spPr>
          <a:xfrm>
            <a:off x="5760720" y="406908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Lettre de motivation</a:t>
            </a:r>
          </a:p>
        </p:txBody>
      </p:sp>
      <p:sp>
        <p:nvSpPr>
          <p:cNvPr id="70" name="Puce test 70"/>
          <p:cNvSpPr/>
          <p:nvPr/>
        </p:nvSpPr>
        <p:spPr>
          <a:xfrm>
            <a:off x="7726680" y="406908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Simulation d'entretien</a:t>
            </a:r>
          </a:p>
        </p:txBody>
      </p:sp>
      <p:sp>
        <p:nvSpPr>
          <p:cNvPr id="71" name="Puce test 71"/>
          <p:cNvSpPr/>
          <p:nvPr/>
        </p:nvSpPr>
        <p:spPr>
          <a:xfrm>
            <a:off x="1828800" y="461772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Publication d'offre</a:t>
            </a:r>
          </a:p>
        </p:txBody>
      </p:sp>
      <p:sp>
        <p:nvSpPr>
          <p:cNvPr id="72" name="Puce test 72"/>
          <p:cNvSpPr/>
          <p:nvPr/>
        </p:nvSpPr>
        <p:spPr>
          <a:xfrm>
            <a:off x="3794760" y="461772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Candidatures reçues</a:t>
            </a:r>
          </a:p>
        </p:txBody>
      </p:sp>
      <p:sp>
        <p:nvSpPr>
          <p:cNvPr id="73" name="Puce test 73"/>
          <p:cNvSpPr/>
          <p:nvPr/>
        </p:nvSpPr>
        <p:spPr>
          <a:xfrm>
            <a:off x="5760720" y="4617720"/>
            <a:ext cx="1828800" cy="411480"/>
          </a:xfrm>
          <a:prstGeom prst="roundRect">
            <a:avLst>
              <a:gd name="adj" fmla="val 50000"/>
            </a:avLst>
          </a:prstGeom>
          <a:solidFill>
            <a:srgbClr val="E2F0D9"/>
          </a:solidFill>
          <a:ln w="9525">
            <a:solidFill>
              <a:srgbClr val="A9D18E"/>
            </a:solidFill>
          </a:ln>
        </p:spPr>
        <p:txBody>
          <a:bodyPr wrap="square" lIns="27432" tIns="27432" rIns="27432" bIns="27432" rtlCol="0" anchor="ctr">
            <a:normAutofit/>
          </a:bodyPr>
          <a:lstStyle/>
          <a:p>
            <a:pPr algn="ctr">
              <a:spcAft>
                <a:spcPts val="0"/>
              </a:spcAft>
              <a:buNone/>
            </a:pPr>
            <a:r>
              <a:rPr lang="fr-FR" sz="1200" b="1" i="0">
                <a:solidFill>
                  <a:srgbClr val="375623"/>
                </a:solidFill>
                <a:latin typeface="Calibri"/>
                <a:cs typeface="Calibri"/>
              </a:rPr>
              <a:t>✔ Déconnexion</a:t>
            </a:r>
          </a:p>
        </p:txBody>
      </p:sp>
    </p:spTree>
    <p:extLst>
      <p:ext uri="{BB962C8B-B14F-4D97-AF65-F5344CB8AC3E}">
        <p14:creationId xmlns:p14="http://schemas.microsoft.com/office/powerpoint/2010/main" val="41439818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600"/>
                                        <p:tgtEl>
                                          <p:spTgt spid="57"/>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600"/>
                                        <p:tgtEl>
                                          <p:spTgt spid="58"/>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600"/>
                                        <p:tgtEl>
                                          <p:spTgt spid="59"/>
                                        </p:tgtEl>
                                      </p:cBhvr>
                                    </p:animEffect>
                                  </p:childTnLst>
                                </p:cTn>
                              </p:par>
                              <p:par>
                                <p:cTn id="14" presetID="10" presetClass="entr" presetSubtype="0" fill="hold" grpId="0" nodeType="withEffect">
                                  <p:stCondLst>
                                    <p:cond delay="90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600"/>
                                        <p:tgtEl>
                                          <p:spTgt spid="60"/>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600"/>
                                        <p:tgtEl>
                                          <p:spTgt spid="61"/>
                                        </p:tgtEl>
                                      </p:cBhvr>
                                    </p:animEffect>
                                  </p:childTnLst>
                                </p:cTn>
                              </p:par>
                              <p:par>
                                <p:cTn id="20" presetID="10" presetClass="entr" presetSubtype="0" fill="hold" grpId="0" nodeType="withEffect">
                                  <p:stCondLst>
                                    <p:cond delay="150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6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600"/>
                                        <p:tgtEl>
                                          <p:spTgt spid="63"/>
                                        </p:tgtEl>
                                      </p:cBhvr>
                                    </p:animEffect>
                                  </p:childTnLst>
                                </p:cTn>
                              </p:par>
                              <p:par>
                                <p:cTn id="28" presetID="10" presetClass="entr" presetSubtype="0" fill="hold" grpId="0" nodeType="withEffect">
                                  <p:stCondLst>
                                    <p:cond delay="120"/>
                                  </p:stCondLst>
                                  <p:childTnLst>
                                    <p:set>
                                      <p:cBhvr>
                                        <p:cTn id="29" dur="1" fill="hold">
                                          <p:stCondLst>
                                            <p:cond delay="0"/>
                                          </p:stCondLst>
                                        </p:cTn>
                                        <p:tgtEl>
                                          <p:spTgt spid="64"/>
                                        </p:tgtEl>
                                        <p:attrNameLst>
                                          <p:attrName>style.visibility</p:attrName>
                                        </p:attrNameLst>
                                      </p:cBhvr>
                                      <p:to>
                                        <p:strVal val="visible"/>
                                      </p:to>
                                    </p:set>
                                    <p:animEffect transition="in" filter="fade">
                                      <p:cBhvr>
                                        <p:cTn id="30" dur="600"/>
                                        <p:tgtEl>
                                          <p:spTgt spid="64"/>
                                        </p:tgtEl>
                                      </p:cBhvr>
                                    </p:animEffect>
                                  </p:childTnLst>
                                </p:cTn>
                              </p:par>
                              <p:par>
                                <p:cTn id="31" presetID="10" presetClass="entr" presetSubtype="0" fill="hold" grpId="0" nodeType="withEffect">
                                  <p:stCondLst>
                                    <p:cond delay="240"/>
                                  </p:stCondLst>
                                  <p:childTnLst>
                                    <p:set>
                                      <p:cBhvr>
                                        <p:cTn id="32" dur="1" fill="hold">
                                          <p:stCondLst>
                                            <p:cond delay="0"/>
                                          </p:stCondLst>
                                        </p:cTn>
                                        <p:tgtEl>
                                          <p:spTgt spid="65"/>
                                        </p:tgtEl>
                                        <p:attrNameLst>
                                          <p:attrName>style.visibility</p:attrName>
                                        </p:attrNameLst>
                                      </p:cBhvr>
                                      <p:to>
                                        <p:strVal val="visible"/>
                                      </p:to>
                                    </p:set>
                                    <p:animEffect transition="in" filter="fade">
                                      <p:cBhvr>
                                        <p:cTn id="33" dur="600"/>
                                        <p:tgtEl>
                                          <p:spTgt spid="65"/>
                                        </p:tgtEl>
                                      </p:cBhvr>
                                    </p:animEffect>
                                  </p:childTnLst>
                                </p:cTn>
                              </p:par>
                              <p:par>
                                <p:cTn id="34" presetID="10" presetClass="entr" presetSubtype="0" fill="hold" grpId="0" nodeType="withEffect">
                                  <p:stCondLst>
                                    <p:cond delay="360"/>
                                  </p:stCondLst>
                                  <p:childTnLst>
                                    <p:set>
                                      <p:cBhvr>
                                        <p:cTn id="35" dur="1" fill="hold">
                                          <p:stCondLst>
                                            <p:cond delay="0"/>
                                          </p:stCondLst>
                                        </p:cTn>
                                        <p:tgtEl>
                                          <p:spTgt spid="66"/>
                                        </p:tgtEl>
                                        <p:attrNameLst>
                                          <p:attrName>style.visibility</p:attrName>
                                        </p:attrNameLst>
                                      </p:cBhvr>
                                      <p:to>
                                        <p:strVal val="visible"/>
                                      </p:to>
                                    </p:set>
                                    <p:animEffect transition="in" filter="fade">
                                      <p:cBhvr>
                                        <p:cTn id="36" dur="600"/>
                                        <p:tgtEl>
                                          <p:spTgt spid="66"/>
                                        </p:tgtEl>
                                      </p:cBhvr>
                                    </p:animEffect>
                                  </p:childTnLst>
                                </p:cTn>
                              </p:par>
                              <p:par>
                                <p:cTn id="37" presetID="10" presetClass="entr" presetSubtype="0" fill="hold" grpId="0" nodeType="withEffect">
                                  <p:stCondLst>
                                    <p:cond delay="480"/>
                                  </p:stCondLst>
                                  <p:childTnLst>
                                    <p:set>
                                      <p:cBhvr>
                                        <p:cTn id="38" dur="1" fill="hold">
                                          <p:stCondLst>
                                            <p:cond delay="0"/>
                                          </p:stCondLst>
                                        </p:cTn>
                                        <p:tgtEl>
                                          <p:spTgt spid="67"/>
                                        </p:tgtEl>
                                        <p:attrNameLst>
                                          <p:attrName>style.visibility</p:attrName>
                                        </p:attrNameLst>
                                      </p:cBhvr>
                                      <p:to>
                                        <p:strVal val="visible"/>
                                      </p:to>
                                    </p:set>
                                    <p:animEffect transition="in" filter="fade">
                                      <p:cBhvr>
                                        <p:cTn id="39" dur="600"/>
                                        <p:tgtEl>
                                          <p:spTgt spid="67"/>
                                        </p:tgtEl>
                                      </p:cBhvr>
                                    </p:animEffect>
                                  </p:childTnLst>
                                </p:cTn>
                              </p:par>
                              <p:par>
                                <p:cTn id="40" presetID="10" presetClass="entr" presetSubtype="0" fill="hold" grpId="0" nodeType="withEffect">
                                  <p:stCondLst>
                                    <p:cond delay="600"/>
                                  </p:stCondLst>
                                  <p:childTnLst>
                                    <p:set>
                                      <p:cBhvr>
                                        <p:cTn id="41" dur="1" fill="hold">
                                          <p:stCondLst>
                                            <p:cond delay="0"/>
                                          </p:stCondLst>
                                        </p:cTn>
                                        <p:tgtEl>
                                          <p:spTgt spid="68"/>
                                        </p:tgtEl>
                                        <p:attrNameLst>
                                          <p:attrName>style.visibility</p:attrName>
                                        </p:attrNameLst>
                                      </p:cBhvr>
                                      <p:to>
                                        <p:strVal val="visible"/>
                                      </p:to>
                                    </p:set>
                                    <p:animEffect transition="in" filter="fade">
                                      <p:cBhvr>
                                        <p:cTn id="42" dur="600"/>
                                        <p:tgtEl>
                                          <p:spTgt spid="68"/>
                                        </p:tgtEl>
                                      </p:cBhvr>
                                    </p:animEffect>
                                  </p:childTnLst>
                                </p:cTn>
                              </p:par>
                              <p:par>
                                <p:cTn id="43" presetID="10" presetClass="entr" presetSubtype="0" fill="hold" grpId="0" nodeType="withEffect">
                                  <p:stCondLst>
                                    <p:cond delay="720"/>
                                  </p:stCondLst>
                                  <p:childTnLst>
                                    <p:set>
                                      <p:cBhvr>
                                        <p:cTn id="44" dur="1" fill="hold">
                                          <p:stCondLst>
                                            <p:cond delay="0"/>
                                          </p:stCondLst>
                                        </p:cTn>
                                        <p:tgtEl>
                                          <p:spTgt spid="69"/>
                                        </p:tgtEl>
                                        <p:attrNameLst>
                                          <p:attrName>style.visibility</p:attrName>
                                        </p:attrNameLst>
                                      </p:cBhvr>
                                      <p:to>
                                        <p:strVal val="visible"/>
                                      </p:to>
                                    </p:set>
                                    <p:animEffect transition="in" filter="fade">
                                      <p:cBhvr>
                                        <p:cTn id="45" dur="600"/>
                                        <p:tgtEl>
                                          <p:spTgt spid="69"/>
                                        </p:tgtEl>
                                      </p:cBhvr>
                                    </p:animEffect>
                                  </p:childTnLst>
                                </p:cTn>
                              </p:par>
                              <p:par>
                                <p:cTn id="46" presetID="10" presetClass="entr" presetSubtype="0" fill="hold" grpId="0" nodeType="withEffect">
                                  <p:stCondLst>
                                    <p:cond delay="840"/>
                                  </p:stCondLst>
                                  <p:childTnLst>
                                    <p:set>
                                      <p:cBhvr>
                                        <p:cTn id="47" dur="1" fill="hold">
                                          <p:stCondLst>
                                            <p:cond delay="0"/>
                                          </p:stCondLst>
                                        </p:cTn>
                                        <p:tgtEl>
                                          <p:spTgt spid="70"/>
                                        </p:tgtEl>
                                        <p:attrNameLst>
                                          <p:attrName>style.visibility</p:attrName>
                                        </p:attrNameLst>
                                      </p:cBhvr>
                                      <p:to>
                                        <p:strVal val="visible"/>
                                      </p:to>
                                    </p:set>
                                    <p:animEffect transition="in" filter="fade">
                                      <p:cBhvr>
                                        <p:cTn id="48" dur="600"/>
                                        <p:tgtEl>
                                          <p:spTgt spid="70"/>
                                        </p:tgtEl>
                                      </p:cBhvr>
                                    </p:animEffect>
                                  </p:childTnLst>
                                </p:cTn>
                              </p:par>
                              <p:par>
                                <p:cTn id="49" presetID="10" presetClass="entr" presetSubtype="0" fill="hold" grpId="0" nodeType="withEffect">
                                  <p:stCondLst>
                                    <p:cond delay="960"/>
                                  </p:stCondLst>
                                  <p:childTnLst>
                                    <p:set>
                                      <p:cBhvr>
                                        <p:cTn id="50" dur="1" fill="hold">
                                          <p:stCondLst>
                                            <p:cond delay="0"/>
                                          </p:stCondLst>
                                        </p:cTn>
                                        <p:tgtEl>
                                          <p:spTgt spid="71"/>
                                        </p:tgtEl>
                                        <p:attrNameLst>
                                          <p:attrName>style.visibility</p:attrName>
                                        </p:attrNameLst>
                                      </p:cBhvr>
                                      <p:to>
                                        <p:strVal val="visible"/>
                                      </p:to>
                                    </p:set>
                                    <p:animEffect transition="in" filter="fade">
                                      <p:cBhvr>
                                        <p:cTn id="51" dur="600"/>
                                        <p:tgtEl>
                                          <p:spTgt spid="71"/>
                                        </p:tgtEl>
                                      </p:cBhvr>
                                    </p:animEffect>
                                  </p:childTnLst>
                                </p:cTn>
                              </p:par>
                              <p:par>
                                <p:cTn id="52" presetID="10" presetClass="entr" presetSubtype="0" fill="hold" grpId="0" nodeType="withEffect">
                                  <p:stCondLst>
                                    <p:cond delay="1080"/>
                                  </p:stCondLst>
                                  <p:childTnLst>
                                    <p:set>
                                      <p:cBhvr>
                                        <p:cTn id="53" dur="1" fill="hold">
                                          <p:stCondLst>
                                            <p:cond delay="0"/>
                                          </p:stCondLst>
                                        </p:cTn>
                                        <p:tgtEl>
                                          <p:spTgt spid="72"/>
                                        </p:tgtEl>
                                        <p:attrNameLst>
                                          <p:attrName>style.visibility</p:attrName>
                                        </p:attrNameLst>
                                      </p:cBhvr>
                                      <p:to>
                                        <p:strVal val="visible"/>
                                      </p:to>
                                    </p:set>
                                    <p:animEffect transition="in" filter="fade">
                                      <p:cBhvr>
                                        <p:cTn id="54" dur="600"/>
                                        <p:tgtEl>
                                          <p:spTgt spid="72"/>
                                        </p:tgtEl>
                                      </p:cBhvr>
                                    </p:animEffect>
                                  </p:childTnLst>
                                </p:cTn>
                              </p:par>
                              <p:par>
                                <p:cTn id="55" presetID="10" presetClass="entr" presetSubtype="0" fill="hold" grpId="0" nodeType="withEffect">
                                  <p:stCondLst>
                                    <p:cond delay="1200"/>
                                  </p:stCondLst>
                                  <p:childTnLst>
                                    <p:set>
                                      <p:cBhvr>
                                        <p:cTn id="56" dur="1" fill="hold">
                                          <p:stCondLst>
                                            <p:cond delay="0"/>
                                          </p:stCondLst>
                                        </p:cTn>
                                        <p:tgtEl>
                                          <p:spTgt spid="73"/>
                                        </p:tgtEl>
                                        <p:attrNameLst>
                                          <p:attrName>style.visibility</p:attrName>
                                        </p:attrNameLst>
                                      </p:cBhvr>
                                      <p:to>
                                        <p:strVal val="visible"/>
                                      </p:to>
                                    </p:set>
                                    <p:animEffect transition="in" filter="fade">
                                      <p:cBhvr>
                                        <p:cTn id="57" dur="6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34"/>
          <p:cNvGrpSpPr/>
          <p:nvPr/>
        </p:nvGrpSpPr>
        <p:grpSpPr>
          <a:xfrm>
            <a:off x="589401" y="3959039"/>
            <a:ext cx="828000" cy="828000"/>
            <a:chOff x="-846043" y="3948343"/>
            <a:chExt cx="828000" cy="828000"/>
          </a:xfrm>
        </p:grpSpPr>
        <p:sp>
          <p:nvSpPr>
            <p:cNvPr id="36" name="Oval 35"/>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7" name="Picture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8" name="Group 37"/>
          <p:cNvGrpSpPr/>
          <p:nvPr/>
        </p:nvGrpSpPr>
        <p:grpSpPr>
          <a:xfrm>
            <a:off x="-1329277" y="2996396"/>
            <a:ext cx="828000" cy="828000"/>
            <a:chOff x="-846043" y="2989694"/>
            <a:chExt cx="828000" cy="828000"/>
          </a:xfrm>
        </p:grpSpPr>
        <p:sp>
          <p:nvSpPr>
            <p:cNvPr id="39" name="Oval 38"/>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41" name="Group 40"/>
          <p:cNvGrpSpPr/>
          <p:nvPr/>
        </p:nvGrpSpPr>
        <p:grpSpPr>
          <a:xfrm>
            <a:off x="-1137597" y="4787039"/>
            <a:ext cx="828000" cy="828000"/>
            <a:chOff x="-828000" y="4906992"/>
            <a:chExt cx="828000" cy="828000"/>
          </a:xfrm>
        </p:grpSpPr>
        <p:sp>
          <p:nvSpPr>
            <p:cNvPr id="42" name="Oval 41"/>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3"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4" name="Group 43"/>
          <p:cNvGrpSpPr/>
          <p:nvPr/>
        </p:nvGrpSpPr>
        <p:grpSpPr>
          <a:xfrm>
            <a:off x="-1047437" y="1070997"/>
            <a:ext cx="828000" cy="828000"/>
            <a:chOff x="-846043" y="1075146"/>
            <a:chExt cx="828000" cy="828000"/>
          </a:xfrm>
        </p:grpSpPr>
        <p:sp>
          <p:nvSpPr>
            <p:cNvPr id="45" name="Oval 44"/>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7" name="Group 46"/>
          <p:cNvGrpSpPr/>
          <p:nvPr/>
        </p:nvGrpSpPr>
        <p:grpSpPr>
          <a:xfrm>
            <a:off x="-1163117" y="75320"/>
            <a:ext cx="828000" cy="828000"/>
            <a:chOff x="-846043" y="136827"/>
            <a:chExt cx="828000" cy="828000"/>
          </a:xfrm>
        </p:grpSpPr>
        <p:sp>
          <p:nvSpPr>
            <p:cNvPr id="48" name="Oval 47"/>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9" name="Picture 4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50" name="Group 49"/>
          <p:cNvGrpSpPr/>
          <p:nvPr/>
        </p:nvGrpSpPr>
        <p:grpSpPr>
          <a:xfrm>
            <a:off x="-1408220" y="5884325"/>
            <a:ext cx="828000" cy="828000"/>
            <a:chOff x="-828000" y="5845311"/>
            <a:chExt cx="828000" cy="828000"/>
          </a:xfrm>
        </p:grpSpPr>
        <p:sp>
          <p:nvSpPr>
            <p:cNvPr id="51" name="Oval 50"/>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3" name="Group 52"/>
          <p:cNvGrpSpPr/>
          <p:nvPr/>
        </p:nvGrpSpPr>
        <p:grpSpPr>
          <a:xfrm>
            <a:off x="-1298333" y="2066675"/>
            <a:ext cx="828000" cy="828000"/>
            <a:chOff x="-846043" y="2028997"/>
            <a:chExt cx="828000" cy="828000"/>
          </a:xfrm>
          <a:solidFill>
            <a:schemeClr val="bg1"/>
          </a:solidFill>
        </p:grpSpPr>
        <p:sp>
          <p:nvSpPr>
            <p:cNvPr id="54" name="Oval 53"/>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5" name="Picture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6" name="Freeform 55"/>
          <p:cNvSpPr/>
          <p:nvPr/>
        </p:nvSpPr>
        <p:spPr>
          <a:xfrm>
            <a:off x="-38975" y="-6835136"/>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 name="Rectangle 1"/>
          <p:cNvSpPr/>
          <p:nvPr/>
        </p:nvSpPr>
        <p:spPr>
          <a:xfrm rot="16200000">
            <a:off x="-507340" y="1873393"/>
            <a:ext cx="2512422" cy="369332"/>
          </a:xfrm>
          <a:prstGeom prst="rect">
            <a:avLst/>
          </a:prstGeom>
        </p:spPr>
        <p:txBody>
          <a:bodyPr wrap="square">
            <a:spAutoFit/>
          </a:bodyPr>
          <a:lstStyle/>
          <a:p>
            <a:r>
              <a:rPr lang="fr-FR" b="1">
                <a:latin typeface="Times New Roman" panose="02020603050405020304" pitchFamily="18" charset="0"/>
                <a:cs typeface="Times New Roman" panose="02020603050405020304" pitchFamily="18" charset="0"/>
              </a:rPr>
              <a:t>TESTS ET RÉSULTATS</a:t>
            </a:r>
          </a:p>
        </p:txBody>
      </p:sp>
      <p:sp>
        <p:nvSpPr>
          <p:cNvPr id="3" name="TextBox 2"/>
          <p:cNvSpPr txBox="1"/>
          <p:nvPr/>
        </p:nvSpPr>
        <p:spPr>
          <a:xfrm>
            <a:off x="2103120" y="182880"/>
            <a:ext cx="7315200" cy="731520"/>
          </a:xfrm>
          <a:prstGeom prst="rect">
            <a:avLst/>
          </a:prstGeom>
          <a:noFill/>
        </p:spPr>
        <p:txBody>
          <a:bodyPr wrap="square" rtlCol="0">
            <a:spAutoFit/>
          </a:bodyPr>
          <a:lstStyle/>
          <a:p>
            <a:pPr algn="ctr"/>
            <a:r>
              <a:rPr lang="fr-FR" sz="3000" b="1">
                <a:latin typeface="Times New Roman" panose="02020603050405020304" pitchFamily="18" charset="0"/>
                <a:cs typeface="Times New Roman" panose="02020603050405020304" pitchFamily="18" charset="0"/>
              </a:rPr>
              <a:t>APERÇU DE L'APPLICATION</a:t>
            </a:r>
          </a:p>
        </p:txBody>
      </p:sp>
      <p:sp>
        <p:nvSpPr>
          <p:cNvPr id="57" name="Cadre 57"/>
          <p:cNvSpPr/>
          <p:nvPr/>
        </p:nvSpPr>
        <p:spPr>
          <a:xfrm>
            <a:off x="1618488" y="1024128"/>
            <a:ext cx="4261104" cy="2715768"/>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58" name="Tableau de bord candidat 58" descr="Tableau de bord candidat"/>
          <p:cNvPicPr>
            <a:picLocks noChangeAspect="1"/>
          </p:cNvPicPr>
          <p:nvPr/>
        </p:nvPicPr>
        <p:blipFill>
          <a:blip r:embed="rId10"/>
          <a:stretch>
            <a:fillRect/>
          </a:stretch>
        </p:blipFill>
        <p:spPr>
          <a:xfrm>
            <a:off x="1691640" y="1097280"/>
            <a:ext cx="4114800" cy="2569464"/>
          </a:xfrm>
          <a:prstGeom prst="rect">
            <a:avLst/>
          </a:prstGeom>
        </p:spPr>
      </p:pic>
      <p:sp>
        <p:nvSpPr>
          <p:cNvPr id="59" name="Légende 59"/>
          <p:cNvSpPr/>
          <p:nvPr/>
        </p:nvSpPr>
        <p:spPr>
          <a:xfrm>
            <a:off x="1801368" y="3209544"/>
            <a:ext cx="2834640" cy="347472"/>
          </a:xfrm>
          <a:prstGeom prst="roundRect">
            <a:avLst>
              <a:gd name="adj" fmla="val 50000"/>
            </a:avLst>
          </a:prstGeom>
          <a:solidFill>
            <a:srgbClr val="1F3864"/>
          </a:solidFill>
          <a:ln>
            <a:noFill/>
          </a:ln>
        </p:spPr>
        <p:txBody>
          <a:bodyPr wrap="square" lIns="27432" tIns="27432" rIns="27432" bIns="27432" rtlCol="0" anchor="ctr">
            <a:normAutofit/>
          </a:bodyPr>
          <a:lstStyle/>
          <a:p>
            <a:pPr algn="ctr">
              <a:spcAft>
                <a:spcPts val="0"/>
              </a:spcAft>
              <a:buNone/>
            </a:pPr>
            <a:r>
              <a:rPr lang="fr-FR" sz="1200" b="1" i="0">
                <a:solidFill>
                  <a:srgbClr val="FFFFFF"/>
                </a:solidFill>
                <a:latin typeface="Calibri"/>
                <a:cs typeface="Calibri"/>
              </a:rPr>
              <a:t>Tableau de bord candidat</a:t>
            </a:r>
          </a:p>
        </p:txBody>
      </p:sp>
      <p:sp>
        <p:nvSpPr>
          <p:cNvPr id="60" name="Cadre 60"/>
          <p:cNvSpPr/>
          <p:nvPr/>
        </p:nvSpPr>
        <p:spPr>
          <a:xfrm>
            <a:off x="6053328" y="1024128"/>
            <a:ext cx="4261104" cy="2715768"/>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61" name="Analyse du CV par l'IA 61" descr="Analyse du CV par l'IA"/>
          <p:cNvPicPr>
            <a:picLocks noChangeAspect="1"/>
          </p:cNvPicPr>
          <p:nvPr/>
        </p:nvPicPr>
        <p:blipFill>
          <a:blip r:embed="rId11"/>
          <a:stretch>
            <a:fillRect/>
          </a:stretch>
        </p:blipFill>
        <p:spPr>
          <a:xfrm>
            <a:off x="6126480" y="1097280"/>
            <a:ext cx="4114800" cy="2569464"/>
          </a:xfrm>
          <a:prstGeom prst="rect">
            <a:avLst/>
          </a:prstGeom>
        </p:spPr>
      </p:pic>
      <p:sp>
        <p:nvSpPr>
          <p:cNvPr id="62" name="Légende 62"/>
          <p:cNvSpPr/>
          <p:nvPr/>
        </p:nvSpPr>
        <p:spPr>
          <a:xfrm>
            <a:off x="6236208" y="3209544"/>
            <a:ext cx="2834640" cy="347472"/>
          </a:xfrm>
          <a:prstGeom prst="roundRect">
            <a:avLst>
              <a:gd name="adj" fmla="val 50000"/>
            </a:avLst>
          </a:prstGeom>
          <a:solidFill>
            <a:srgbClr val="1F3864"/>
          </a:solidFill>
          <a:ln>
            <a:noFill/>
          </a:ln>
        </p:spPr>
        <p:txBody>
          <a:bodyPr wrap="square" lIns="27432" tIns="27432" rIns="27432" bIns="27432" rtlCol="0" anchor="ctr">
            <a:normAutofit/>
          </a:bodyPr>
          <a:lstStyle/>
          <a:p>
            <a:pPr algn="ctr">
              <a:spcAft>
                <a:spcPts val="0"/>
              </a:spcAft>
              <a:buNone/>
            </a:pPr>
            <a:r>
              <a:rPr lang="fr-FR" sz="1200" b="1" i="0">
                <a:solidFill>
                  <a:srgbClr val="FFFFFF"/>
                </a:solidFill>
                <a:latin typeface="Calibri"/>
                <a:cs typeface="Calibri"/>
              </a:rPr>
              <a:t>Analyse du CV par l'IA</a:t>
            </a:r>
          </a:p>
        </p:txBody>
      </p:sp>
      <p:sp>
        <p:nvSpPr>
          <p:cNvPr id="63" name="Cadre 63"/>
          <p:cNvSpPr/>
          <p:nvPr/>
        </p:nvSpPr>
        <p:spPr>
          <a:xfrm>
            <a:off x="1618488" y="3858768"/>
            <a:ext cx="4261104" cy="2715768"/>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64" name="Résultat de l'entretien simulé 64" descr="Résultat de l'entretien simulé"/>
          <p:cNvPicPr>
            <a:picLocks noChangeAspect="1"/>
          </p:cNvPicPr>
          <p:nvPr/>
        </p:nvPicPr>
        <p:blipFill>
          <a:blip r:embed="rId12"/>
          <a:stretch>
            <a:fillRect/>
          </a:stretch>
        </p:blipFill>
        <p:spPr>
          <a:xfrm>
            <a:off x="1691640" y="3931920"/>
            <a:ext cx="4114800" cy="2569464"/>
          </a:xfrm>
          <a:prstGeom prst="rect">
            <a:avLst/>
          </a:prstGeom>
        </p:spPr>
      </p:pic>
      <p:sp>
        <p:nvSpPr>
          <p:cNvPr id="65" name="Légende 65"/>
          <p:cNvSpPr/>
          <p:nvPr/>
        </p:nvSpPr>
        <p:spPr>
          <a:xfrm>
            <a:off x="1801368" y="6044184"/>
            <a:ext cx="2834640" cy="347472"/>
          </a:xfrm>
          <a:prstGeom prst="roundRect">
            <a:avLst>
              <a:gd name="adj" fmla="val 50000"/>
            </a:avLst>
          </a:prstGeom>
          <a:solidFill>
            <a:srgbClr val="1F3864"/>
          </a:solidFill>
          <a:ln>
            <a:noFill/>
          </a:ln>
        </p:spPr>
        <p:txBody>
          <a:bodyPr wrap="square" lIns="27432" tIns="27432" rIns="27432" bIns="27432" rtlCol="0" anchor="ctr">
            <a:normAutofit/>
          </a:bodyPr>
          <a:lstStyle/>
          <a:p>
            <a:pPr algn="ctr">
              <a:spcAft>
                <a:spcPts val="0"/>
              </a:spcAft>
              <a:buNone/>
            </a:pPr>
            <a:r>
              <a:rPr lang="fr-FR" sz="1200" b="1" i="0">
                <a:solidFill>
                  <a:srgbClr val="FFFFFF"/>
                </a:solidFill>
                <a:latin typeface="Calibri"/>
                <a:cs typeface="Calibri"/>
              </a:rPr>
              <a:t>Résultat de l'entretien simulé</a:t>
            </a:r>
          </a:p>
        </p:txBody>
      </p:sp>
      <p:sp>
        <p:nvSpPr>
          <p:cNvPr id="66" name="Cadre 66"/>
          <p:cNvSpPr/>
          <p:nvPr/>
        </p:nvSpPr>
        <p:spPr>
          <a:xfrm>
            <a:off x="6053328" y="3858768"/>
            <a:ext cx="4261104" cy="2715768"/>
          </a:xfrm>
          <a:prstGeom prst="roundRect">
            <a:avLst>
              <a:gd name="adj" fmla="val 4000"/>
            </a:avLst>
          </a:prstGeom>
          <a:solidFill>
            <a:srgbClr val="FFFFFF"/>
          </a:solidFill>
          <a:ln w="9525">
            <a:solidFill>
              <a:srgbClr val="BFBFBF"/>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l">
              <a:spcAft>
                <a:spcPts val="0"/>
              </a:spcAft>
              <a:buNone/>
            </a:pPr>
            <a:r>
              <a:rPr lang="fr-FR" sz="1400" b="0" i="0">
                <a:solidFill>
                  <a:srgbClr val="1F3864"/>
                </a:solidFill>
                <a:latin typeface="Calibri"/>
                <a:cs typeface="Calibri"/>
              </a:rPr>
              <a:t/>
            </a:r>
          </a:p>
        </p:txBody>
      </p:sp>
      <p:pic>
        <p:nvPicPr>
          <p:cNvPr id="67" name="Candidatures reçues (entreprise) 67" descr="Candidatures reçues (entreprise)"/>
          <p:cNvPicPr>
            <a:picLocks noChangeAspect="1"/>
          </p:cNvPicPr>
          <p:nvPr/>
        </p:nvPicPr>
        <p:blipFill>
          <a:blip r:embed="rId13"/>
          <a:stretch>
            <a:fillRect/>
          </a:stretch>
        </p:blipFill>
        <p:spPr>
          <a:xfrm>
            <a:off x="6126480" y="3931920"/>
            <a:ext cx="4114800" cy="2569464"/>
          </a:xfrm>
          <a:prstGeom prst="rect">
            <a:avLst/>
          </a:prstGeom>
        </p:spPr>
      </p:pic>
      <p:sp>
        <p:nvSpPr>
          <p:cNvPr id="68" name="Légende 68"/>
          <p:cNvSpPr/>
          <p:nvPr/>
        </p:nvSpPr>
        <p:spPr>
          <a:xfrm>
            <a:off x="6236208" y="6044184"/>
            <a:ext cx="2834640" cy="347472"/>
          </a:xfrm>
          <a:prstGeom prst="roundRect">
            <a:avLst>
              <a:gd name="adj" fmla="val 50000"/>
            </a:avLst>
          </a:prstGeom>
          <a:solidFill>
            <a:srgbClr val="1F3864"/>
          </a:solidFill>
          <a:ln>
            <a:noFill/>
          </a:ln>
        </p:spPr>
        <p:txBody>
          <a:bodyPr wrap="square" lIns="27432" tIns="27432" rIns="27432" bIns="27432" rtlCol="0" anchor="ctr">
            <a:normAutofit/>
          </a:bodyPr>
          <a:lstStyle/>
          <a:p>
            <a:pPr algn="ctr">
              <a:spcAft>
                <a:spcPts val="0"/>
              </a:spcAft>
              <a:buNone/>
            </a:pPr>
            <a:r>
              <a:rPr lang="fr-FR" sz="1200" b="1" i="0">
                <a:solidFill>
                  <a:srgbClr val="FFFFFF"/>
                </a:solidFill>
                <a:latin typeface="Calibri"/>
                <a:cs typeface="Calibri"/>
              </a:rPr>
              <a:t>Candidatures reçues (entreprise)</a:t>
            </a:r>
          </a:p>
        </p:txBody>
      </p:sp>
    </p:spTree>
    <p:extLst>
      <p:ext uri="{BB962C8B-B14F-4D97-AF65-F5344CB8AC3E}">
        <p14:creationId xmlns:p14="http://schemas.microsoft.com/office/powerpoint/2010/main" val="41439818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600"/>
                                        <p:tgtEl>
                                          <p:spTgt spid="57"/>
                                        </p:tgtEl>
                                      </p:cBhvr>
                                    </p:animEffect>
                                  </p:childTnLst>
                                </p:cTn>
                              </p:par>
                              <p:par>
                                <p:cTn id="8" presetID="10" presetClass="entr" presetSubtype="0" fill="hold" nodeType="withEffect">
                                  <p:stCondLst>
                                    <p:cond delay="30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600"/>
                                        <p:tgtEl>
                                          <p:spTgt spid="58"/>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6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600"/>
                                        <p:tgtEl>
                                          <p:spTgt spid="60"/>
                                        </p:tgtEl>
                                      </p:cBhvr>
                                    </p:animEffect>
                                  </p:childTnLst>
                                </p:cTn>
                              </p:par>
                              <p:par>
                                <p:cTn id="19" presetID="10" presetClass="entr" presetSubtype="0" fill="hold" nodeType="withEffect">
                                  <p:stCondLst>
                                    <p:cond delay="30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600"/>
                                        <p:tgtEl>
                                          <p:spTgt spid="61"/>
                                        </p:tgtEl>
                                      </p:cBhvr>
                                    </p:animEffect>
                                  </p:childTnLst>
                                </p:cTn>
                              </p:par>
                              <p:par>
                                <p:cTn id="22" presetID="10" presetClass="entr" presetSubtype="0" fill="hold" grpId="0" nodeType="withEffect">
                                  <p:stCondLst>
                                    <p:cond delay="600"/>
                                  </p:stCondLst>
                                  <p:childTnLst>
                                    <p:set>
                                      <p:cBhvr>
                                        <p:cTn id="23" dur="1" fill="hold">
                                          <p:stCondLst>
                                            <p:cond delay="0"/>
                                          </p:stCondLst>
                                        </p:cTn>
                                        <p:tgtEl>
                                          <p:spTgt spid="62"/>
                                        </p:tgtEl>
                                        <p:attrNameLst>
                                          <p:attrName>style.visibility</p:attrName>
                                        </p:attrNameLst>
                                      </p:cBhvr>
                                      <p:to>
                                        <p:strVal val="visible"/>
                                      </p:to>
                                    </p:set>
                                    <p:animEffect transition="in" filter="fade">
                                      <p:cBhvr>
                                        <p:cTn id="24" dur="600"/>
                                        <p:tgtEl>
                                          <p:spTgt spid="6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600"/>
                                        <p:tgtEl>
                                          <p:spTgt spid="63"/>
                                        </p:tgtEl>
                                      </p:cBhvr>
                                    </p:animEffect>
                                  </p:childTnLst>
                                </p:cTn>
                              </p:par>
                              <p:par>
                                <p:cTn id="30" presetID="10" presetClass="entr" presetSubtype="0" fill="hold" nodeType="withEffect">
                                  <p:stCondLst>
                                    <p:cond delay="30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600"/>
                                        <p:tgtEl>
                                          <p:spTgt spid="64"/>
                                        </p:tgtEl>
                                      </p:cBhvr>
                                    </p:animEffect>
                                  </p:childTnLst>
                                </p:cTn>
                              </p:par>
                              <p:par>
                                <p:cTn id="33" presetID="10" presetClass="entr" presetSubtype="0" fill="hold" grpId="0" nodeType="withEffect">
                                  <p:stCondLst>
                                    <p:cond delay="600"/>
                                  </p:stCondLst>
                                  <p:childTnLst>
                                    <p:set>
                                      <p:cBhvr>
                                        <p:cTn id="34" dur="1" fill="hold">
                                          <p:stCondLst>
                                            <p:cond delay="0"/>
                                          </p:stCondLst>
                                        </p:cTn>
                                        <p:tgtEl>
                                          <p:spTgt spid="65"/>
                                        </p:tgtEl>
                                        <p:attrNameLst>
                                          <p:attrName>style.visibility</p:attrName>
                                        </p:attrNameLst>
                                      </p:cBhvr>
                                      <p:to>
                                        <p:strVal val="visible"/>
                                      </p:to>
                                    </p:set>
                                    <p:animEffect transition="in" filter="fade">
                                      <p:cBhvr>
                                        <p:cTn id="35" dur="600"/>
                                        <p:tgtEl>
                                          <p:spTgt spid="6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600"/>
                                        <p:tgtEl>
                                          <p:spTgt spid="66"/>
                                        </p:tgtEl>
                                      </p:cBhvr>
                                    </p:animEffect>
                                  </p:childTnLst>
                                </p:cTn>
                              </p:par>
                              <p:par>
                                <p:cTn id="41" presetID="10" presetClass="entr" presetSubtype="0" fill="hold" nodeType="withEffect">
                                  <p:stCondLst>
                                    <p:cond delay="300"/>
                                  </p:stCondLst>
                                  <p:childTnLst>
                                    <p:set>
                                      <p:cBhvr>
                                        <p:cTn id="42" dur="1" fill="hold">
                                          <p:stCondLst>
                                            <p:cond delay="0"/>
                                          </p:stCondLst>
                                        </p:cTn>
                                        <p:tgtEl>
                                          <p:spTgt spid="67"/>
                                        </p:tgtEl>
                                        <p:attrNameLst>
                                          <p:attrName>style.visibility</p:attrName>
                                        </p:attrNameLst>
                                      </p:cBhvr>
                                      <p:to>
                                        <p:strVal val="visible"/>
                                      </p:to>
                                    </p:set>
                                    <p:animEffect transition="in" filter="fade">
                                      <p:cBhvr>
                                        <p:cTn id="43" dur="600"/>
                                        <p:tgtEl>
                                          <p:spTgt spid="67"/>
                                        </p:tgtEl>
                                      </p:cBhvr>
                                    </p:animEffect>
                                  </p:childTnLst>
                                </p:cTn>
                              </p:par>
                              <p:par>
                                <p:cTn id="44" presetID="10" presetClass="entr" presetSubtype="0" fill="hold" grpId="0" nodeType="withEffect">
                                  <p:stCondLst>
                                    <p:cond delay="600"/>
                                  </p:stCondLst>
                                  <p:childTnLst>
                                    <p:set>
                                      <p:cBhvr>
                                        <p:cTn id="45" dur="1" fill="hold">
                                          <p:stCondLst>
                                            <p:cond delay="0"/>
                                          </p:stCondLst>
                                        </p:cTn>
                                        <p:tgtEl>
                                          <p:spTgt spid="68"/>
                                        </p:tgtEl>
                                        <p:attrNameLst>
                                          <p:attrName>style.visibility</p:attrName>
                                        </p:attrNameLst>
                                      </p:cBhvr>
                                      <p:to>
                                        <p:strVal val="visible"/>
                                      </p:to>
                                    </p:set>
                                    <p:animEffect transition="in" filter="fade">
                                      <p:cBhvr>
                                        <p:cTn id="46" dur="6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9" grpId="0"/>
      <p:bldP spid="60" grpId="0"/>
      <p:bldP spid="62" grpId="0"/>
      <p:bldP spid="63" grpId="0"/>
      <p:bldP spid="65" grpId="0"/>
      <p:bldP spid="66" grpId="0"/>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Group 60"/>
          <p:cNvGrpSpPr/>
          <p:nvPr/>
        </p:nvGrpSpPr>
        <p:grpSpPr>
          <a:xfrm>
            <a:off x="-1408220" y="3959039"/>
            <a:ext cx="828000" cy="828000"/>
            <a:chOff x="-846043" y="3948343"/>
            <a:chExt cx="828000" cy="828000"/>
          </a:xfrm>
        </p:grpSpPr>
        <p:sp>
          <p:nvSpPr>
            <p:cNvPr id="62" name="Oval 61"/>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63" name="Picture 6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64" name="Group 63"/>
          <p:cNvGrpSpPr/>
          <p:nvPr/>
        </p:nvGrpSpPr>
        <p:grpSpPr>
          <a:xfrm>
            <a:off x="-1329277" y="2996396"/>
            <a:ext cx="828000" cy="828000"/>
            <a:chOff x="-846043" y="2989694"/>
            <a:chExt cx="828000" cy="828000"/>
          </a:xfrm>
        </p:grpSpPr>
        <p:sp>
          <p:nvSpPr>
            <p:cNvPr id="65" name="Oval 64"/>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67" name="Group 66"/>
          <p:cNvGrpSpPr/>
          <p:nvPr/>
        </p:nvGrpSpPr>
        <p:grpSpPr>
          <a:xfrm>
            <a:off x="625398" y="4804292"/>
            <a:ext cx="828000" cy="828000"/>
            <a:chOff x="-828000" y="4906992"/>
            <a:chExt cx="828000" cy="828000"/>
          </a:xfrm>
        </p:grpSpPr>
        <p:sp>
          <p:nvSpPr>
            <p:cNvPr id="68" name="Oval 67"/>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69" name="Picture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70" name="Group 69"/>
          <p:cNvGrpSpPr/>
          <p:nvPr/>
        </p:nvGrpSpPr>
        <p:grpSpPr>
          <a:xfrm>
            <a:off x="-1233620" y="1238675"/>
            <a:ext cx="828000" cy="828000"/>
            <a:chOff x="-846043" y="1075146"/>
            <a:chExt cx="828000" cy="828000"/>
          </a:xfrm>
        </p:grpSpPr>
        <p:sp>
          <p:nvSpPr>
            <p:cNvPr id="71" name="Oval 70"/>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2" name="Picture 7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73" name="Group 72"/>
          <p:cNvGrpSpPr/>
          <p:nvPr/>
        </p:nvGrpSpPr>
        <p:grpSpPr>
          <a:xfrm>
            <a:off x="-1215821" y="67301"/>
            <a:ext cx="828000" cy="828000"/>
            <a:chOff x="-846043" y="136827"/>
            <a:chExt cx="828000" cy="828000"/>
          </a:xfrm>
        </p:grpSpPr>
        <p:sp>
          <p:nvSpPr>
            <p:cNvPr id="74" name="Oval 73"/>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5" name="Picture 7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76" name="Group 75"/>
          <p:cNvGrpSpPr/>
          <p:nvPr/>
        </p:nvGrpSpPr>
        <p:grpSpPr>
          <a:xfrm>
            <a:off x="-1408220" y="5884325"/>
            <a:ext cx="828000" cy="828000"/>
            <a:chOff x="-828000" y="5845311"/>
            <a:chExt cx="828000" cy="828000"/>
          </a:xfrm>
        </p:grpSpPr>
        <p:sp>
          <p:nvSpPr>
            <p:cNvPr id="77" name="Oval 76"/>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78" name="Picture 7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79" name="Group 78"/>
          <p:cNvGrpSpPr/>
          <p:nvPr/>
        </p:nvGrpSpPr>
        <p:grpSpPr>
          <a:xfrm>
            <a:off x="-1298333" y="2066675"/>
            <a:ext cx="828000" cy="828000"/>
            <a:chOff x="-846043" y="2028997"/>
            <a:chExt cx="828000" cy="828000"/>
          </a:xfrm>
          <a:solidFill>
            <a:schemeClr val="bg1"/>
          </a:solidFill>
        </p:grpSpPr>
        <p:sp>
          <p:nvSpPr>
            <p:cNvPr id="80" name="Oval 79"/>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81" name="Picture 8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82" name="Freeform 81"/>
          <p:cNvSpPr/>
          <p:nvPr/>
        </p:nvSpPr>
        <p:spPr>
          <a:xfrm>
            <a:off x="-56228" y="-5989748"/>
            <a:ext cx="1160234"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01" h="21170348">
                <a:moveTo>
                  <a:pt x="1039091" y="0"/>
                </a:moveTo>
                <a:lnTo>
                  <a:pt x="1039091" y="10113331"/>
                </a:lnTo>
                <a:cubicBezTo>
                  <a:pt x="1001140" y="10750537"/>
                  <a:pt x="417361" y="10591613"/>
                  <a:pt x="439546" y="11220906"/>
                </a:cubicBezTo>
                <a:cubicBezTo>
                  <a:pt x="461731"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 name="Rectangle 2"/>
          <p:cNvSpPr/>
          <p:nvPr/>
        </p:nvSpPr>
        <p:spPr>
          <a:xfrm rot="16200000">
            <a:off x="-169572" y="3265131"/>
            <a:ext cx="1826150"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CONCLUSION </a:t>
            </a:r>
          </a:p>
        </p:txBody>
      </p:sp>
      <p:sp>
        <p:nvSpPr>
          <p:cNvPr id="4" name="TextBox 3"/>
          <p:cNvSpPr txBox="1"/>
          <p:nvPr/>
        </p:nvSpPr>
        <p:spPr>
          <a:xfrm>
            <a:off x="3124201" y="3611880"/>
            <a:ext cx="5943598" cy="923330"/>
          </a:xfrm>
          <a:prstGeom prst="rect">
            <a:avLst/>
          </a:prstGeom>
          <a:noFill/>
        </p:spPr>
        <p:txBody>
          <a:bodyPr wrap="square" rtlCol="0">
            <a:spAutoFit/>
          </a:bodyPr>
          <a:lstStyle/>
          <a:p>
            <a:r>
              <a:rPr lang="en-US" sz="5400" dirty="0">
                <a:latin typeface="Times New Roman" panose="02020603050405020304" pitchFamily="18" charset="0"/>
                <a:cs typeface="Times New Roman" panose="02020603050405020304" pitchFamily="18" charset="0"/>
              </a:rPr>
              <a:t> CONCLUSION</a:t>
            </a:r>
          </a:p>
        </p:txBody>
      </p:sp>
      <p:sp>
        <p:nvSpPr>
          <p:cNvPr id="5" name="5-Point Star 4"/>
          <p:cNvSpPr/>
          <p:nvPr/>
        </p:nvSpPr>
        <p:spPr>
          <a:xfrm>
            <a:off x="2054943" y="3840480"/>
            <a:ext cx="442451" cy="414000"/>
          </a:xfrm>
          <a:prstGeom prst="star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5-Point Star 27"/>
          <p:cNvSpPr/>
          <p:nvPr/>
        </p:nvSpPr>
        <p:spPr>
          <a:xfrm>
            <a:off x="9067799" y="3840480"/>
            <a:ext cx="442451" cy="414000"/>
          </a:xfrm>
          <a:prstGeom prst="star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0E8255E-A92D-89E9-B509-0C6797E968AF}"/>
              </a:ext>
            </a:extLst>
          </p:cNvPr>
          <p:cNvSpPr txBox="1"/>
          <p:nvPr/>
        </p:nvSpPr>
        <p:spPr>
          <a:xfrm>
            <a:off x="3345426" y="347303"/>
            <a:ext cx="5943598" cy="923330"/>
          </a:xfrm>
          <a:prstGeom prst="rect">
            <a:avLst/>
          </a:prstGeom>
          <a:noFill/>
        </p:spPr>
        <p:txBody>
          <a:bodyPr wrap="square" rtlCol="0">
            <a:spAutoFit/>
          </a:bodyPr>
          <a:lstStyle/>
          <a:p>
            <a:r>
              <a:rPr lang="fr-FR" sz="5400">
                <a:latin typeface="Times New Roman" panose="02020603050405020304" pitchFamily="18" charset="0"/>
                <a:cs typeface="Times New Roman" panose="02020603050405020304" pitchFamily="18" charset="0"/>
              </a:rPr>
              <a:t>PERSPECTIVES</a:t>
            </a:r>
          </a:p>
        </p:txBody>
      </p:sp>
      <p:sp>
        <p:nvSpPr>
          <p:cNvPr id="29" name="TextBox 3"/>
          <p:cNvSpPr txBox="1"/>
          <p:nvPr/>
        </p:nvSpPr>
        <p:spPr>
          <a:xfrm>
            <a:off x="2194560" y="4709160"/>
            <a:ext cx="7863840" cy="1188720"/>
          </a:xfrm>
          <a:prstGeom prst="rect">
            <a:avLst/>
          </a:prstGeom>
          <a:noFill/>
        </p:spPr>
        <p:txBody>
          <a:bodyPr wrap="square" rtlCol="0">
            <a:spAutoFit/>
          </a:bodyPr>
          <a:lstStyle/>
          <a:p>
            <a:pPr algn="ctr"/>
            <a:r>
              <a:rPr lang="fr-FR" sz="1800">
                <a:latin typeface="Times New Roman" panose="02020603050405020304" pitchFamily="18" charset="0"/>
                <a:cs typeface="Times New Roman" panose="02020603050405020304" pitchFamily="18" charset="0"/>
              </a:rPr>
              <a:t>TafLocal AI rapproche les jeunes diplômés des recruteurs grâce à une IA 100 % interne : une solution fonctionnelle, testée et prête à évoluer.</a:t>
            </a:r>
          </a:p>
        </p:txBody>
      </p:sp>
      <p:sp>
        <p:nvSpPr>
          <p:cNvPr id="83" name="Perspective 83"/>
          <p:cNvSpPr/>
          <p:nvPr/>
        </p:nvSpPr>
        <p:spPr>
          <a:xfrm>
            <a:off x="1737360" y="1508760"/>
            <a:ext cx="3840480" cy="685800"/>
          </a:xfrm>
          <a:prstGeom prst="roundRect">
            <a:avLst>
              <a:gd name="adj" fmla="val 30000"/>
            </a:avLst>
          </a:prstGeom>
          <a:solidFill>
            <a:srgbClr val="EAF3FB"/>
          </a:solidFill>
          <a:ln w="9525">
            <a:solidFill>
              <a:srgbClr val="9DC3E6"/>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ctr">
              <a:spcAft>
                <a:spcPts val="0"/>
              </a:spcAft>
              <a:buNone/>
            </a:pPr>
            <a:r>
              <a:rPr lang="fr-FR" sz="1500" b="1" i="0">
                <a:solidFill>
                  <a:srgbClr val="1F3864"/>
                </a:solidFill>
                <a:latin typeface="Calibri"/>
                <a:cs typeface="Calibri"/>
              </a:rPr>
              <a:t>➜ Entretiens à distance (visioconférence)</a:t>
            </a:r>
          </a:p>
        </p:txBody>
      </p:sp>
      <p:sp>
        <p:nvSpPr>
          <p:cNvPr id="84" name="Perspective 84"/>
          <p:cNvSpPr/>
          <p:nvPr/>
        </p:nvSpPr>
        <p:spPr>
          <a:xfrm>
            <a:off x="5806440" y="1508760"/>
            <a:ext cx="3840480" cy="685800"/>
          </a:xfrm>
          <a:prstGeom prst="roundRect">
            <a:avLst>
              <a:gd name="adj" fmla="val 30000"/>
            </a:avLst>
          </a:prstGeom>
          <a:solidFill>
            <a:srgbClr val="EAF3FB"/>
          </a:solidFill>
          <a:ln w="9525">
            <a:solidFill>
              <a:srgbClr val="9DC3E6"/>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ctr">
              <a:spcAft>
                <a:spcPts val="0"/>
              </a:spcAft>
              <a:buNone/>
            </a:pPr>
            <a:r>
              <a:rPr lang="fr-FR" sz="1500" b="1" i="0">
                <a:solidFill>
                  <a:srgbClr val="1F3864"/>
                </a:solidFill>
                <a:latin typeface="Calibri"/>
                <a:cs typeface="Calibri"/>
              </a:rPr>
              <a:t>➜ Recommandations par apprentissage automatique</a:t>
            </a:r>
          </a:p>
        </p:txBody>
      </p:sp>
      <p:sp>
        <p:nvSpPr>
          <p:cNvPr id="85" name="Perspective 85"/>
          <p:cNvSpPr/>
          <p:nvPr/>
        </p:nvSpPr>
        <p:spPr>
          <a:xfrm>
            <a:off x="1737360" y="2423160"/>
            <a:ext cx="3840480" cy="685800"/>
          </a:xfrm>
          <a:prstGeom prst="roundRect">
            <a:avLst>
              <a:gd name="adj" fmla="val 30000"/>
            </a:avLst>
          </a:prstGeom>
          <a:solidFill>
            <a:srgbClr val="EAF3FB"/>
          </a:solidFill>
          <a:ln w="9525">
            <a:solidFill>
              <a:srgbClr val="9DC3E6"/>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ctr">
              <a:spcAft>
                <a:spcPts val="0"/>
              </a:spcAft>
              <a:buNone/>
            </a:pPr>
            <a:r>
              <a:rPr lang="fr-FR" sz="1500" b="1" i="0">
                <a:solidFill>
                  <a:srgbClr val="1F3864"/>
                </a:solidFill>
                <a:latin typeface="Calibri"/>
                <a:cs typeface="Calibri"/>
              </a:rPr>
              <a:t>➜ Application mobile</a:t>
            </a:r>
          </a:p>
        </p:txBody>
      </p:sp>
      <p:sp>
        <p:nvSpPr>
          <p:cNvPr id="86" name="Perspective 86"/>
          <p:cNvSpPr/>
          <p:nvPr/>
        </p:nvSpPr>
        <p:spPr>
          <a:xfrm>
            <a:off x="5806440" y="2423160"/>
            <a:ext cx="3840480" cy="685800"/>
          </a:xfrm>
          <a:prstGeom prst="roundRect">
            <a:avLst>
              <a:gd name="adj" fmla="val 30000"/>
            </a:avLst>
          </a:prstGeom>
          <a:solidFill>
            <a:srgbClr val="EAF3FB"/>
          </a:solidFill>
          <a:ln w="9525">
            <a:solidFill>
              <a:srgbClr val="9DC3E6"/>
            </a:solidFill>
          </a:ln>
          <a:effectLst>
            <a:outerShdw blurRad="63500" dist="19050" dir="5400000" algn="t" rotWithShape="0">
              <a:srgbClr val="000000">
                <a:alpha val="25000"/>
              </a:srgbClr>
            </a:outerShdw>
          </a:effectLst>
        </p:spPr>
        <p:txBody>
          <a:bodyPr wrap="square" lIns="73152" tIns="73152" rIns="73152" bIns="73152" rtlCol="0" anchor="ctr">
            <a:normAutofit/>
          </a:bodyPr>
          <a:lstStyle/>
          <a:p>
            <a:pPr algn="ctr">
              <a:spcAft>
                <a:spcPts val="0"/>
              </a:spcAft>
              <a:buNone/>
            </a:pPr>
            <a:r>
              <a:rPr lang="fr-FR" sz="1500" b="1" i="0">
                <a:solidFill>
                  <a:srgbClr val="1F3864"/>
                </a:solidFill>
                <a:latin typeface="Calibri"/>
                <a:cs typeface="Calibri"/>
              </a:rPr>
              <a:t>➜ Tableaux de bord analytiques avancés</a:t>
            </a:r>
          </a:p>
        </p:txBody>
      </p:sp>
    </p:spTree>
    <p:extLst>
      <p:ext uri="{BB962C8B-B14F-4D97-AF65-F5344CB8AC3E}">
        <p14:creationId xmlns:p14="http://schemas.microsoft.com/office/powerpoint/2010/main" val="27249325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600"/>
                                        <p:tgtEl>
                                          <p:spTgt spid="30"/>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3"/>
                                        </p:tgtEl>
                                        <p:attrNameLst>
                                          <p:attrName>style.visibility</p:attrName>
                                        </p:attrNameLst>
                                      </p:cBhvr>
                                      <p:to>
                                        <p:strVal val="visible"/>
                                      </p:to>
                                    </p:set>
                                    <p:animEffect transition="in" filter="fade">
                                      <p:cBhvr>
                                        <p:cTn id="10" dur="600"/>
                                        <p:tgtEl>
                                          <p:spTgt spid="83"/>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600"/>
                                        <p:tgtEl>
                                          <p:spTgt spid="84"/>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600"/>
                                        <p:tgtEl>
                                          <p:spTgt spid="85"/>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86"/>
                                        </p:tgtEl>
                                        <p:attrNameLst>
                                          <p:attrName>style.visibility</p:attrName>
                                        </p:attrNameLst>
                                      </p:cBhvr>
                                      <p:to>
                                        <p:strVal val="visible"/>
                                      </p:to>
                                    </p:set>
                                    <p:animEffect transition="in" filter="fade">
                                      <p:cBhvr>
                                        <p:cTn id="19" dur="600"/>
                                        <p:tgtEl>
                                          <p:spTgt spid="8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childTnLst>
                                </p:cTn>
                              </p:par>
                              <p:par>
                                <p:cTn id="25" presetID="10" presetClass="entr" presetSubtype="0" fill="hold" grpId="0" nodeType="withEffect">
                                  <p:stCondLst>
                                    <p:cond delay="15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600"/>
                                        <p:tgtEl>
                                          <p:spTgt spid="28"/>
                                        </p:tgtEl>
                                      </p:cBhvr>
                                    </p:animEffect>
                                  </p:childTnLst>
                                </p:cTn>
                              </p:par>
                              <p:par>
                                <p:cTn id="28" presetID="53" presetClass="entr" presetSubtype="16" fill="hold" grpId="0" nodeType="withEffect">
                                  <p:stCondLst>
                                    <p:cond delay="300"/>
                                  </p:stCondLst>
                                  <p:childTnLst>
                                    <p:set>
                                      <p:cBhvr>
                                        <p:cTn id="29" dur="1" fill="hold">
                                          <p:stCondLst>
                                            <p:cond delay="0"/>
                                          </p:stCondLst>
                                        </p:cTn>
                                        <p:tgtEl>
                                          <p:spTgt spid="4"/>
                                        </p:tgtEl>
                                        <p:attrNameLst>
                                          <p:attrName>style.visibility</p:attrName>
                                        </p:attrNameLst>
                                      </p:cBhvr>
                                      <p:to>
                                        <p:strVal val="visible"/>
                                      </p:to>
                                    </p:set>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fltVal val="0"/>
                                          </p:val>
                                        </p:tav>
                                        <p:tav tm="100000">
                                          <p:val>
                                            <p:strVal val="#ppt_h"/>
                                          </p:val>
                                        </p:tav>
                                      </p:tavLst>
                                    </p:anim>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3" grpId="0"/>
      <p:bldP spid="84" grpId="0"/>
      <p:bldP spid="85" grpId="0"/>
      <p:bldP spid="86" grpId="0"/>
      <p:bldP spid="5" grpId="0"/>
      <p:bldP spid="28" grpId="0"/>
      <p:bldP spid="4"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2" name="Group 31"/>
          <p:cNvGrpSpPr/>
          <p:nvPr/>
        </p:nvGrpSpPr>
        <p:grpSpPr>
          <a:xfrm>
            <a:off x="-1408220" y="3959039"/>
            <a:ext cx="828000" cy="828000"/>
            <a:chOff x="-846043" y="3948343"/>
            <a:chExt cx="828000" cy="828000"/>
          </a:xfrm>
        </p:grpSpPr>
        <p:sp>
          <p:nvSpPr>
            <p:cNvPr id="33" name="Oval 32"/>
            <p:cNvSpPr/>
            <p:nvPr/>
          </p:nvSpPr>
          <p:spPr>
            <a:xfrm>
              <a:off x="-846043" y="3948343"/>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378" y="4017799"/>
              <a:ext cx="668757" cy="668757"/>
            </a:xfrm>
            <a:prstGeom prst="rect">
              <a:avLst/>
            </a:prstGeom>
          </p:spPr>
        </p:pic>
      </p:grpSp>
      <p:grpSp>
        <p:nvGrpSpPr>
          <p:cNvPr id="35" name="Group 34"/>
          <p:cNvGrpSpPr/>
          <p:nvPr/>
        </p:nvGrpSpPr>
        <p:grpSpPr>
          <a:xfrm>
            <a:off x="-1329277" y="2996396"/>
            <a:ext cx="828000" cy="828000"/>
            <a:chOff x="-846043" y="2989694"/>
            <a:chExt cx="828000" cy="828000"/>
          </a:xfrm>
        </p:grpSpPr>
        <p:sp>
          <p:nvSpPr>
            <p:cNvPr id="36" name="Oval 35"/>
            <p:cNvSpPr/>
            <p:nvPr/>
          </p:nvSpPr>
          <p:spPr>
            <a:xfrm>
              <a:off x="-846043" y="2989694"/>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37" name="Picture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895" y="3126284"/>
              <a:ext cx="559692" cy="559692"/>
            </a:xfrm>
            <a:prstGeom prst="rect">
              <a:avLst/>
            </a:prstGeom>
          </p:spPr>
        </p:pic>
      </p:grpSp>
      <p:grpSp>
        <p:nvGrpSpPr>
          <p:cNvPr id="38" name="Group 37"/>
          <p:cNvGrpSpPr/>
          <p:nvPr/>
        </p:nvGrpSpPr>
        <p:grpSpPr>
          <a:xfrm>
            <a:off x="-1390177" y="4921682"/>
            <a:ext cx="828000" cy="828000"/>
            <a:chOff x="-828000" y="4906992"/>
            <a:chExt cx="828000" cy="828000"/>
          </a:xfrm>
        </p:grpSpPr>
        <p:sp>
          <p:nvSpPr>
            <p:cNvPr id="39" name="Oval 38"/>
            <p:cNvSpPr/>
            <p:nvPr/>
          </p:nvSpPr>
          <p:spPr>
            <a:xfrm>
              <a:off x="-828000" y="4906992"/>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0" name="Picture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895" y="5018228"/>
              <a:ext cx="621349" cy="621349"/>
            </a:xfrm>
            <a:prstGeom prst="rect">
              <a:avLst/>
            </a:prstGeom>
          </p:spPr>
        </p:pic>
      </p:grpSp>
      <p:grpSp>
        <p:nvGrpSpPr>
          <p:cNvPr id="41" name="Group 40"/>
          <p:cNvGrpSpPr/>
          <p:nvPr/>
        </p:nvGrpSpPr>
        <p:grpSpPr>
          <a:xfrm>
            <a:off x="-1210557" y="1104032"/>
            <a:ext cx="828000" cy="828000"/>
            <a:chOff x="-846043" y="1075146"/>
            <a:chExt cx="828000" cy="828000"/>
          </a:xfrm>
        </p:grpSpPr>
        <p:sp>
          <p:nvSpPr>
            <p:cNvPr id="42" name="Oval 41"/>
            <p:cNvSpPr/>
            <p:nvPr/>
          </p:nvSpPr>
          <p:spPr>
            <a:xfrm>
              <a:off x="-846043" y="1075146"/>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3" name="Picture 4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8377" y="1180500"/>
              <a:ext cx="628744" cy="628744"/>
            </a:xfrm>
            <a:prstGeom prst="rect">
              <a:avLst/>
            </a:prstGeom>
          </p:spPr>
        </p:pic>
      </p:grpSp>
      <p:grpSp>
        <p:nvGrpSpPr>
          <p:cNvPr id="44" name="Group 43"/>
          <p:cNvGrpSpPr/>
          <p:nvPr/>
        </p:nvGrpSpPr>
        <p:grpSpPr>
          <a:xfrm>
            <a:off x="-1163117" y="75320"/>
            <a:ext cx="828000" cy="828000"/>
            <a:chOff x="-846043" y="136827"/>
            <a:chExt cx="828000" cy="828000"/>
          </a:xfrm>
        </p:grpSpPr>
        <p:sp>
          <p:nvSpPr>
            <p:cNvPr id="45" name="Oval 44"/>
            <p:cNvSpPr/>
            <p:nvPr/>
          </p:nvSpPr>
          <p:spPr>
            <a:xfrm>
              <a:off x="-846043" y="136827"/>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6" name="Picture 4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136" y="213904"/>
              <a:ext cx="664590" cy="664590"/>
            </a:xfrm>
            <a:prstGeom prst="rect">
              <a:avLst/>
            </a:prstGeom>
          </p:spPr>
        </p:pic>
      </p:grpSp>
      <p:grpSp>
        <p:nvGrpSpPr>
          <p:cNvPr id="47" name="Group 46"/>
          <p:cNvGrpSpPr/>
          <p:nvPr/>
        </p:nvGrpSpPr>
        <p:grpSpPr>
          <a:xfrm>
            <a:off x="605332" y="5749682"/>
            <a:ext cx="828000" cy="828000"/>
            <a:chOff x="-828000" y="5845311"/>
            <a:chExt cx="828000" cy="828000"/>
          </a:xfrm>
        </p:grpSpPr>
        <p:sp>
          <p:nvSpPr>
            <p:cNvPr id="48" name="Oval 47"/>
            <p:cNvSpPr/>
            <p:nvPr/>
          </p:nvSpPr>
          <p:spPr>
            <a:xfrm>
              <a:off x="-828000" y="5845311"/>
              <a:ext cx="828000" cy="82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49" name="Picture 4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4014" y="5965291"/>
              <a:ext cx="604381" cy="604381"/>
            </a:xfrm>
            <a:prstGeom prst="rect">
              <a:avLst/>
            </a:prstGeom>
          </p:spPr>
        </p:pic>
      </p:grpSp>
      <p:grpSp>
        <p:nvGrpSpPr>
          <p:cNvPr id="50" name="Group 49"/>
          <p:cNvGrpSpPr/>
          <p:nvPr/>
        </p:nvGrpSpPr>
        <p:grpSpPr>
          <a:xfrm>
            <a:off x="-1298333" y="2066675"/>
            <a:ext cx="828000" cy="828000"/>
            <a:chOff x="-846043" y="2028997"/>
            <a:chExt cx="828000" cy="828000"/>
          </a:xfrm>
          <a:solidFill>
            <a:schemeClr val="bg1"/>
          </a:solidFill>
        </p:grpSpPr>
        <p:sp>
          <p:nvSpPr>
            <p:cNvPr id="51" name="Oval 50"/>
            <p:cNvSpPr/>
            <p:nvPr/>
          </p:nvSpPr>
          <p:spPr>
            <a:xfrm>
              <a:off x="-846043" y="2028997"/>
              <a:ext cx="828000" cy="828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endParaRPr>
            </a:p>
          </p:txBody>
        </p:sp>
        <p:pic>
          <p:nvPicPr>
            <p:cNvPr id="52" name="Picture 5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6157" y="2154633"/>
              <a:ext cx="608227" cy="608227"/>
            </a:xfrm>
            <a:prstGeom prst="rect">
              <a:avLst/>
            </a:prstGeom>
            <a:grpFill/>
            <a:ln>
              <a:noFill/>
            </a:ln>
          </p:spPr>
        </p:pic>
      </p:grpSp>
      <p:sp>
        <p:nvSpPr>
          <p:cNvPr id="53" name="Freeform 52"/>
          <p:cNvSpPr/>
          <p:nvPr/>
        </p:nvSpPr>
        <p:spPr>
          <a:xfrm>
            <a:off x="-237450" y="-5023594"/>
            <a:ext cx="1256782" cy="21170348"/>
          </a:xfrm>
          <a:custGeom>
            <a:avLst/>
            <a:gdLst>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0" fmla="*/ 1039091 w 1039091"/>
              <a:gd name="connsiteY0" fmla="*/ 0 h 21170348"/>
              <a:gd name="connsiteX1" fmla="*/ 1039091 w 1039091"/>
              <a:gd name="connsiteY1" fmla="*/ 10113331 h 21170348"/>
              <a:gd name="connsiteX2" fmla="*/ 263084 w 1039091"/>
              <a:gd name="connsiteY2" fmla="*/ 11220906 h 21170348"/>
              <a:gd name="connsiteX3" fmla="*/ 1039091 w 1039091"/>
              <a:gd name="connsiteY3" fmla="*/ 12352032 h 21170348"/>
              <a:gd name="connsiteX4" fmla="*/ 1039091 w 1039091"/>
              <a:gd name="connsiteY4" fmla="*/ 21170348 h 21170348"/>
              <a:gd name="connsiteX5" fmla="*/ 0 w 1039091"/>
              <a:gd name="connsiteY5" fmla="*/ 21170348 h 21170348"/>
              <a:gd name="connsiteX6" fmla="*/ 0 w 1039091"/>
              <a:gd name="connsiteY6" fmla="*/ 0 h 21170348"/>
              <a:gd name="connsiteX7" fmla="*/ 1039091 w 1039091"/>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4"/>
              <a:gd name="connsiteY0" fmla="*/ 0 h 21170348"/>
              <a:gd name="connsiteX1" fmla="*/ 1039091 w 1039174"/>
              <a:gd name="connsiteY1" fmla="*/ 10113331 h 21170348"/>
              <a:gd name="connsiteX2" fmla="*/ 263084 w 1039174"/>
              <a:gd name="connsiteY2" fmla="*/ 11220906 h 21170348"/>
              <a:gd name="connsiteX3" fmla="*/ 1039091 w 1039174"/>
              <a:gd name="connsiteY3" fmla="*/ 12352032 h 21170348"/>
              <a:gd name="connsiteX4" fmla="*/ 1039091 w 1039174"/>
              <a:gd name="connsiteY4" fmla="*/ 21170348 h 21170348"/>
              <a:gd name="connsiteX5" fmla="*/ 0 w 1039174"/>
              <a:gd name="connsiteY5" fmla="*/ 21170348 h 21170348"/>
              <a:gd name="connsiteX6" fmla="*/ 0 w 1039174"/>
              <a:gd name="connsiteY6" fmla="*/ 0 h 21170348"/>
              <a:gd name="connsiteX7" fmla="*/ 1039091 w 1039174"/>
              <a:gd name="connsiteY7" fmla="*/ 0 h 21170348"/>
              <a:gd name="connsiteX0" fmla="*/ 1039091 w 1039176"/>
              <a:gd name="connsiteY0" fmla="*/ 0 h 21170348"/>
              <a:gd name="connsiteX1" fmla="*/ 1039091 w 1039176"/>
              <a:gd name="connsiteY1" fmla="*/ 10113331 h 21170348"/>
              <a:gd name="connsiteX2" fmla="*/ 263084 w 1039176"/>
              <a:gd name="connsiteY2" fmla="*/ 11220906 h 21170348"/>
              <a:gd name="connsiteX3" fmla="*/ 1039091 w 1039176"/>
              <a:gd name="connsiteY3" fmla="*/ 12352032 h 21170348"/>
              <a:gd name="connsiteX4" fmla="*/ 1039091 w 1039176"/>
              <a:gd name="connsiteY4" fmla="*/ 21170348 h 21170348"/>
              <a:gd name="connsiteX5" fmla="*/ 0 w 1039176"/>
              <a:gd name="connsiteY5" fmla="*/ 21170348 h 21170348"/>
              <a:gd name="connsiteX6" fmla="*/ 0 w 1039176"/>
              <a:gd name="connsiteY6" fmla="*/ 0 h 21170348"/>
              <a:gd name="connsiteX7" fmla="*/ 1039091 w 1039176"/>
              <a:gd name="connsiteY7" fmla="*/ 0 h 21170348"/>
              <a:gd name="connsiteX0" fmla="*/ 1039091 w 1039201"/>
              <a:gd name="connsiteY0" fmla="*/ 0 h 21170348"/>
              <a:gd name="connsiteX1" fmla="*/ 1039091 w 1039201"/>
              <a:gd name="connsiteY1" fmla="*/ 10113331 h 21170348"/>
              <a:gd name="connsiteX2" fmla="*/ 439546 w 1039201"/>
              <a:gd name="connsiteY2" fmla="*/ 11220906 h 21170348"/>
              <a:gd name="connsiteX3" fmla="*/ 1039091 w 1039201"/>
              <a:gd name="connsiteY3" fmla="*/ 12352032 h 21170348"/>
              <a:gd name="connsiteX4" fmla="*/ 1039091 w 1039201"/>
              <a:gd name="connsiteY4" fmla="*/ 21170348 h 21170348"/>
              <a:gd name="connsiteX5" fmla="*/ 0 w 1039201"/>
              <a:gd name="connsiteY5" fmla="*/ 21170348 h 21170348"/>
              <a:gd name="connsiteX6" fmla="*/ 0 w 1039201"/>
              <a:gd name="connsiteY6" fmla="*/ 0 h 21170348"/>
              <a:gd name="connsiteX7" fmla="*/ 1039091 w 1039201"/>
              <a:gd name="connsiteY7" fmla="*/ 0 h 21170348"/>
              <a:gd name="connsiteX0" fmla="*/ 1039091 w 1039225"/>
              <a:gd name="connsiteY0" fmla="*/ 0 h 21170348"/>
              <a:gd name="connsiteX1" fmla="*/ 1039091 w 1039225"/>
              <a:gd name="connsiteY1" fmla="*/ 10113331 h 21170348"/>
              <a:gd name="connsiteX2" fmla="*/ 543789 w 1039225"/>
              <a:gd name="connsiteY2" fmla="*/ 11220906 h 21170348"/>
              <a:gd name="connsiteX3" fmla="*/ 1039091 w 1039225"/>
              <a:gd name="connsiteY3" fmla="*/ 12352032 h 21170348"/>
              <a:gd name="connsiteX4" fmla="*/ 1039091 w 1039225"/>
              <a:gd name="connsiteY4" fmla="*/ 21170348 h 21170348"/>
              <a:gd name="connsiteX5" fmla="*/ 0 w 1039225"/>
              <a:gd name="connsiteY5" fmla="*/ 21170348 h 21170348"/>
              <a:gd name="connsiteX6" fmla="*/ 0 w 1039225"/>
              <a:gd name="connsiteY6" fmla="*/ 0 h 21170348"/>
              <a:gd name="connsiteX7" fmla="*/ 1039091 w 1039225"/>
              <a:gd name="connsiteY7" fmla="*/ 0 h 2117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225" h="21170348">
                <a:moveTo>
                  <a:pt x="1039091" y="0"/>
                </a:moveTo>
                <a:lnTo>
                  <a:pt x="1039091" y="10113331"/>
                </a:lnTo>
                <a:cubicBezTo>
                  <a:pt x="1001140" y="10750537"/>
                  <a:pt x="521604" y="10591613"/>
                  <a:pt x="543789" y="11220906"/>
                </a:cubicBezTo>
                <a:cubicBezTo>
                  <a:pt x="565974" y="11850199"/>
                  <a:pt x="1048438" y="11738510"/>
                  <a:pt x="1039091" y="12352032"/>
                </a:cubicBezTo>
                <a:lnTo>
                  <a:pt x="1039091" y="21170348"/>
                </a:lnTo>
                <a:lnTo>
                  <a:pt x="0" y="21170348"/>
                </a:lnTo>
                <a:lnTo>
                  <a:pt x="0" y="0"/>
                </a:lnTo>
                <a:lnTo>
                  <a:pt x="103909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pic>
        <p:nvPicPr>
          <p:cNvPr id="1030" name="Picture 6" descr="ending the end GIF by hoppip"/>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3523126" y="591983"/>
            <a:ext cx="3104987" cy="24922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360B0FBB-D841-C6FD-54A6-821E8122B0E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895269" y="2944884"/>
            <a:ext cx="4360700" cy="2616696"/>
          </a:xfrm>
          <a:prstGeom prst="rect">
            <a:avLst/>
          </a:prstGeom>
        </p:spPr>
      </p:pic>
    </p:spTree>
    <p:extLst>
      <p:ext uri="{BB962C8B-B14F-4D97-AF65-F5344CB8AC3E}">
        <p14:creationId xmlns:p14="http://schemas.microsoft.com/office/powerpoint/2010/main" val="30361946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1000"/>
                                        <p:tgtEl>
                                          <p:spTgt spid="38"/>
                                        </p:tgtEl>
                                      </p:cBhvr>
                                    </p:animEffect>
                                    <p:anim calcmode="lin" valueType="num">
                                      <p:cBhvr>
                                        <p:cTn id="18" dur="1000" fill="hold"/>
                                        <p:tgtEl>
                                          <p:spTgt spid="38"/>
                                        </p:tgtEl>
                                        <p:attrNameLst>
                                          <p:attrName>ppt_x</p:attrName>
                                        </p:attrNameLst>
                                      </p:cBhvr>
                                      <p:tavLst>
                                        <p:tav tm="0">
                                          <p:val>
                                            <p:strVal val="#ppt_x"/>
                                          </p:val>
                                        </p:tav>
                                        <p:tav tm="100000">
                                          <p:val>
                                            <p:strVal val="#ppt_x"/>
                                          </p:val>
                                        </p:tav>
                                      </p:tavLst>
                                    </p:anim>
                                    <p:anim calcmode="lin" valueType="num">
                                      <p:cBhvr>
                                        <p:cTn id="19" dur="1000" fill="hold"/>
                                        <p:tgtEl>
                                          <p:spTgt spid="3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1000"/>
                                        <p:tgtEl>
                                          <p:spTgt spid="41"/>
                                        </p:tgtEl>
                                      </p:cBhvr>
                                    </p:animEffect>
                                    <p:anim calcmode="lin" valueType="num">
                                      <p:cBhvr>
                                        <p:cTn id="23" dur="1000" fill="hold"/>
                                        <p:tgtEl>
                                          <p:spTgt spid="41"/>
                                        </p:tgtEl>
                                        <p:attrNameLst>
                                          <p:attrName>ppt_x</p:attrName>
                                        </p:attrNameLst>
                                      </p:cBhvr>
                                      <p:tavLst>
                                        <p:tav tm="0">
                                          <p:val>
                                            <p:strVal val="#ppt_x"/>
                                          </p:val>
                                        </p:tav>
                                        <p:tav tm="100000">
                                          <p:val>
                                            <p:strVal val="#ppt_x"/>
                                          </p:val>
                                        </p:tav>
                                      </p:tavLst>
                                    </p:anim>
                                    <p:anim calcmode="lin" valueType="num">
                                      <p:cBhvr>
                                        <p:cTn id="24" dur="1000" fill="hold"/>
                                        <p:tgtEl>
                                          <p:spTgt spid="4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1000"/>
                                        <p:tgtEl>
                                          <p:spTgt spid="44"/>
                                        </p:tgtEl>
                                      </p:cBhvr>
                                    </p:animEffect>
                                    <p:anim calcmode="lin" valueType="num">
                                      <p:cBhvr>
                                        <p:cTn id="28" dur="1000" fill="hold"/>
                                        <p:tgtEl>
                                          <p:spTgt spid="44"/>
                                        </p:tgtEl>
                                        <p:attrNameLst>
                                          <p:attrName>ppt_x</p:attrName>
                                        </p:attrNameLst>
                                      </p:cBhvr>
                                      <p:tavLst>
                                        <p:tav tm="0">
                                          <p:val>
                                            <p:strVal val="#ppt_x"/>
                                          </p:val>
                                        </p:tav>
                                        <p:tav tm="100000">
                                          <p:val>
                                            <p:strVal val="#ppt_x"/>
                                          </p:val>
                                        </p:tav>
                                      </p:tavLst>
                                    </p:anim>
                                    <p:anim calcmode="lin" valueType="num">
                                      <p:cBhvr>
                                        <p:cTn id="29" dur="1000" fill="hold"/>
                                        <p:tgtEl>
                                          <p:spTgt spid="4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1000"/>
                                        <p:tgtEl>
                                          <p:spTgt spid="47"/>
                                        </p:tgtEl>
                                      </p:cBhvr>
                                    </p:animEffect>
                                    <p:anim calcmode="lin" valueType="num">
                                      <p:cBhvr>
                                        <p:cTn id="33" dur="1000" fill="hold"/>
                                        <p:tgtEl>
                                          <p:spTgt spid="47"/>
                                        </p:tgtEl>
                                        <p:attrNameLst>
                                          <p:attrName>ppt_x</p:attrName>
                                        </p:attrNameLst>
                                      </p:cBhvr>
                                      <p:tavLst>
                                        <p:tav tm="0">
                                          <p:val>
                                            <p:strVal val="#ppt_x"/>
                                          </p:val>
                                        </p:tav>
                                        <p:tav tm="100000">
                                          <p:val>
                                            <p:strVal val="#ppt_x"/>
                                          </p:val>
                                        </p:tav>
                                      </p:tavLst>
                                    </p:anim>
                                    <p:anim calcmode="lin" valueType="num">
                                      <p:cBhvr>
                                        <p:cTn id="34" dur="1000" fill="hold"/>
                                        <p:tgtEl>
                                          <p:spTgt spid="4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1000"/>
                                        <p:tgtEl>
                                          <p:spTgt spid="50"/>
                                        </p:tgtEl>
                                      </p:cBhvr>
                                    </p:animEffect>
                                    <p:anim calcmode="lin" valueType="num">
                                      <p:cBhvr>
                                        <p:cTn id="38" dur="1000" fill="hold"/>
                                        <p:tgtEl>
                                          <p:spTgt spid="50"/>
                                        </p:tgtEl>
                                        <p:attrNameLst>
                                          <p:attrName>ppt_x</p:attrName>
                                        </p:attrNameLst>
                                      </p:cBhvr>
                                      <p:tavLst>
                                        <p:tav tm="0">
                                          <p:val>
                                            <p:strVal val="#ppt_x"/>
                                          </p:val>
                                        </p:tav>
                                        <p:tav tm="100000">
                                          <p:val>
                                            <p:strVal val="#ppt_x"/>
                                          </p:val>
                                        </p:tav>
                                      </p:tavLst>
                                    </p:anim>
                                    <p:anim calcmode="lin" valueType="num">
                                      <p:cBhvr>
                                        <p:cTn id="39" dur="1000" fill="hold"/>
                                        <p:tgtEl>
                                          <p:spTgt spid="5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1000"/>
                                        <p:tgtEl>
                                          <p:spTgt spid="53"/>
                                        </p:tgtEl>
                                      </p:cBhvr>
                                    </p:animEffect>
                                    <p:anim calcmode="lin" valueType="num">
                                      <p:cBhvr>
                                        <p:cTn id="43" dur="1000" fill="hold"/>
                                        <p:tgtEl>
                                          <p:spTgt spid="53"/>
                                        </p:tgtEl>
                                        <p:attrNameLst>
                                          <p:attrName>ppt_x</p:attrName>
                                        </p:attrNameLst>
                                      </p:cBhvr>
                                      <p:tavLst>
                                        <p:tav tm="0">
                                          <p:val>
                                            <p:strVal val="#ppt_x"/>
                                          </p:val>
                                        </p:tav>
                                        <p:tav tm="100000">
                                          <p:val>
                                            <p:strVal val="#ppt_x"/>
                                          </p:val>
                                        </p:tav>
                                      </p:tavLst>
                                    </p:anim>
                                    <p:anim calcmode="lin" valueType="num">
                                      <p:cBhvr>
                                        <p:cTn id="44" dur="1000" fill="hold"/>
                                        <p:tgtEl>
                                          <p:spTgt spid="5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030"/>
                                        </p:tgtEl>
                                        <p:attrNameLst>
                                          <p:attrName>style.visibility</p:attrName>
                                        </p:attrNameLst>
                                      </p:cBhvr>
                                      <p:to>
                                        <p:strVal val="visible"/>
                                      </p:to>
                                    </p:set>
                                    <p:animEffect transition="in" filter="fade">
                                      <p:cBhvr>
                                        <p:cTn id="47" dur="1000"/>
                                        <p:tgtEl>
                                          <p:spTgt spid="1030"/>
                                        </p:tgtEl>
                                      </p:cBhvr>
                                    </p:animEffect>
                                    <p:anim calcmode="lin" valueType="num">
                                      <p:cBhvr>
                                        <p:cTn id="48" dur="1000" fill="hold"/>
                                        <p:tgtEl>
                                          <p:spTgt spid="1030"/>
                                        </p:tgtEl>
                                        <p:attrNameLst>
                                          <p:attrName>ppt_x</p:attrName>
                                        </p:attrNameLst>
                                      </p:cBhvr>
                                      <p:tavLst>
                                        <p:tav tm="0">
                                          <p:val>
                                            <p:strVal val="#ppt_x"/>
                                          </p:val>
                                        </p:tav>
                                        <p:tav tm="100000">
                                          <p:val>
                                            <p:strVal val="#ppt_x"/>
                                          </p:val>
                                        </p:tav>
                                      </p:tavLst>
                                    </p:anim>
                                    <p:anim calcmode="lin" valueType="num">
                                      <p:cBhvr>
                                        <p:cTn id="49" dur="1000" fill="hold"/>
                                        <p:tgtEl>
                                          <p:spTgt spid="103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1000"/>
                                        <p:tgtEl>
                                          <p:spTgt spid="25"/>
                                        </p:tgtEl>
                                      </p:cBhvr>
                                    </p:animEffect>
                                    <p:anim calcmode="lin" valueType="num">
                                      <p:cBhvr>
                                        <p:cTn id="53" dur="1000" fill="hold"/>
                                        <p:tgtEl>
                                          <p:spTgt spid="25"/>
                                        </p:tgtEl>
                                        <p:attrNameLst>
                                          <p:attrName>ppt_x</p:attrName>
                                        </p:attrNameLst>
                                      </p:cBhvr>
                                      <p:tavLst>
                                        <p:tav tm="0">
                                          <p:val>
                                            <p:strVal val="#ppt_x"/>
                                          </p:val>
                                        </p:tav>
                                        <p:tav tm="100000">
                                          <p:val>
                                            <p:strVal val="#ppt_x"/>
                                          </p:val>
                                        </p:tav>
                                      </p:tavLst>
                                    </p:anim>
                                    <p:anim calcmode="lin" valueType="num">
                                      <p:cBhvr>
                                        <p:cTn id="5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13939</TotalTime>
  <Words>304</Words>
  <Application>Microsoft Office PowerPoint</Application>
  <PresentationFormat>Grand écran</PresentationFormat>
  <Paragraphs>125</Paragraphs>
  <Slides>17</Slides>
  <Notes>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17</vt:i4>
      </vt:variant>
    </vt:vector>
  </HeadingPairs>
  <TitlesOfParts>
    <vt:vector size="25" baseType="lpstr">
      <vt:lpstr>Arial</vt:lpstr>
      <vt:lpstr>Calibri</vt:lpstr>
      <vt:lpstr>Segoe UI Black</vt:lpstr>
      <vt:lpstr>Times New Roman</vt:lpstr>
      <vt:lpstr>Trebuchet MS</vt:lpstr>
      <vt:lpstr>Wingdings</vt:lpstr>
      <vt:lpstr>Wingdings 3</vt:lpstr>
      <vt:lpstr>Facet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Enwe Caleb</dc:creator>
  <cp:lastModifiedBy>Edson Kanou</cp:lastModifiedBy>
  <cp:revision>160</cp:revision>
  <dcterms:created xsi:type="dcterms:W3CDTF">2021-09-29T12:04:30Z</dcterms:created>
  <dcterms:modified xsi:type="dcterms:W3CDTF">2023-09-23T18:08:32Z</dcterms:modified>
</cp:coreProperties>
</file>